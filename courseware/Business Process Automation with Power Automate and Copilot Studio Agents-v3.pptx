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8" r:id="rId2"/>
    <p:sldId id="352" r:id="rId100"/>
    <p:sldId id="353" r:id="rId101"/>
    <p:sldId id="354" r:id="rId102"/>
    <p:sldId id="355" r:id="rId103"/>
    <p:sldId id="356" r:id="rId104"/>
    <p:sldId id="259" r:id="rId3"/>
    <p:sldId id="260" r:id="rId4"/>
    <p:sldId id="261" r:id="rId5"/>
    <p:sldId id="357" r:id="rId105"/>
    <p:sldId id="358" r:id="rId106"/>
    <p:sldId id="359" r:id="rId107"/>
    <p:sldId id="360" r:id="rId108"/>
    <p:sldId id="361" r:id="rId109"/>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345" r:id="rId93"/>
    <p:sldId id="346" r:id="rId94"/>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8" r:id="rId52"/>
    <p:sldId id="309" r:id="rId53"/>
    <p:sldId id="310" r:id="rId54"/>
    <p:sldId id="347" r:id="rId95"/>
    <p:sldId id="348" r:id="rId96"/>
    <p:sldId id="349" r:id="rId97"/>
    <p:sldId id="311" r:id="rId55"/>
    <p:sldId id="312" r:id="rId56"/>
    <p:sldId id="313" r:id="rId57"/>
    <p:sldId id="314" r:id="rId58"/>
    <p:sldId id="315" r:id="rId59"/>
    <p:sldId id="337" r:id="rId81"/>
    <p:sldId id="338" r:id="rId82"/>
    <p:sldId id="351" r:id="rId99"/>
    <p:sldId id="339" r:id="rId83"/>
    <p:sldId id="340" r:id="rId84"/>
    <p:sldId id="341" r:id="rId85"/>
    <p:sldId id="342" r:id="rId86"/>
    <p:sldId id="343" r:id="rId87"/>
    <p:sldId id="362" r:id="rId110"/>
    <p:sldId id="363" r:id="rId111"/>
    <p:sldId id="364" r:id="rId112"/>
    <p:sldId id="365" r:id="rId113"/>
    <p:sldId id="344"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51"/>
  </p:normalViewPr>
  <p:slideViewPr>
    <p:cSldViewPr snapToGrid="0">
      <p:cViewPr varScale="1">
        <p:scale>
          <a:sx n="90" d="100"/>
          <a:sy n="90" d="100"/>
        </p:scale>
        <p:origin x="216" y="7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7.xml"/><Relationship Id="rId4" Type="http://schemas.openxmlformats.org/officeDocument/2006/relationships/slide" Target="slides/slide8.xml"/><Relationship Id="rId5" Type="http://schemas.openxmlformats.org/officeDocument/2006/relationships/slide" Target="slides/slide9.xml"/><Relationship Id="rId6" Type="http://schemas.openxmlformats.org/officeDocument/2006/relationships/slide" Target="slides/slide15.xml"/><Relationship Id="rId7" Type="http://schemas.openxmlformats.org/officeDocument/2006/relationships/slide" Target="slides/slide16.xml"/><Relationship Id="rId8" Type="http://schemas.openxmlformats.org/officeDocument/2006/relationships/slide" Target="slides/slide17.xml"/><Relationship Id="rId9" Type="http://schemas.openxmlformats.org/officeDocument/2006/relationships/slide" Target="slides/slide18.xml"/><Relationship Id="rId10" Type="http://schemas.openxmlformats.org/officeDocument/2006/relationships/slide" Target="slides/slide19.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slide" Target="slides/slide22.xml"/><Relationship Id="rId14" Type="http://schemas.openxmlformats.org/officeDocument/2006/relationships/slide" Target="slides/slide23.xml"/><Relationship Id="rId15" Type="http://schemas.openxmlformats.org/officeDocument/2006/relationships/slide" Target="slides/slide24.xml"/><Relationship Id="rId16" Type="http://schemas.openxmlformats.org/officeDocument/2006/relationships/slide" Target="slides/slide25.xml"/><Relationship Id="rId17" Type="http://schemas.openxmlformats.org/officeDocument/2006/relationships/slide" Target="slides/slide26.xml"/><Relationship Id="rId18" Type="http://schemas.openxmlformats.org/officeDocument/2006/relationships/slide" Target="slides/slide27.xml"/><Relationship Id="rId19" Type="http://schemas.openxmlformats.org/officeDocument/2006/relationships/slide" Target="slides/slide28.xml"/><Relationship Id="rId20" Type="http://schemas.openxmlformats.org/officeDocument/2006/relationships/slide" Target="slides/slide29.xml"/><Relationship Id="rId21" Type="http://schemas.openxmlformats.org/officeDocument/2006/relationships/slide" Target="slides/slide30.xml"/><Relationship Id="rId22" Type="http://schemas.openxmlformats.org/officeDocument/2006/relationships/slide" Target="slides/slide31.xml"/><Relationship Id="rId23" Type="http://schemas.openxmlformats.org/officeDocument/2006/relationships/slide" Target="slides/slide32.xml"/><Relationship Id="rId24" Type="http://schemas.openxmlformats.org/officeDocument/2006/relationships/slide" Target="slides/slide33.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37.xml"/><Relationship Id="rId29" Type="http://schemas.openxmlformats.org/officeDocument/2006/relationships/slide" Target="slides/slide38.xml"/><Relationship Id="rId30" Type="http://schemas.openxmlformats.org/officeDocument/2006/relationships/slide" Target="slides/slide39.xml"/><Relationship Id="rId31" Type="http://schemas.openxmlformats.org/officeDocument/2006/relationships/slide" Target="slides/slide40.xml"/><Relationship Id="rId32" Type="http://schemas.openxmlformats.org/officeDocument/2006/relationships/slide" Target="slides/slide41.xml"/><Relationship Id="rId33" Type="http://schemas.openxmlformats.org/officeDocument/2006/relationships/slide" Target="slides/slide42.xml"/><Relationship Id="rId34" Type="http://schemas.openxmlformats.org/officeDocument/2006/relationships/slide" Target="slides/slide43.xml"/><Relationship Id="rId35" Type="http://schemas.openxmlformats.org/officeDocument/2006/relationships/slide" Target="slides/slide44.xml"/><Relationship Id="rId36" Type="http://schemas.openxmlformats.org/officeDocument/2006/relationships/slide" Target="slides/slide47.xml"/><Relationship Id="rId37" Type="http://schemas.openxmlformats.org/officeDocument/2006/relationships/slide" Target="slides/slide48.xml"/><Relationship Id="rId38" Type="http://schemas.openxmlformats.org/officeDocument/2006/relationships/slide" Target="slides/slide49.xml"/><Relationship Id="rId39" Type="http://schemas.openxmlformats.org/officeDocument/2006/relationships/slide" Target="slides/slide50.xml"/><Relationship Id="rId40" Type="http://schemas.openxmlformats.org/officeDocument/2006/relationships/slide" Target="slides/slide51.xml"/><Relationship Id="rId41" Type="http://schemas.openxmlformats.org/officeDocument/2006/relationships/slide" Target="slides/slide52.xml"/><Relationship Id="rId42" Type="http://schemas.openxmlformats.org/officeDocument/2006/relationships/slide" Target="slides/slide53.xml"/><Relationship Id="rId43" Type="http://schemas.openxmlformats.org/officeDocument/2006/relationships/slide" Target="slides/slide54.xml"/><Relationship Id="rId44" Type="http://schemas.openxmlformats.org/officeDocument/2006/relationships/slide" Target="slides/slide55.xml"/><Relationship Id="rId45" Type="http://schemas.openxmlformats.org/officeDocument/2006/relationships/slide" Target="slides/slide56.xml"/><Relationship Id="rId46" Type="http://schemas.openxmlformats.org/officeDocument/2006/relationships/slide" Target="slides/slide57.xml"/><Relationship Id="rId47" Type="http://schemas.openxmlformats.org/officeDocument/2006/relationships/slide" Target="slides/slide58.xml"/><Relationship Id="rId48" Type="http://schemas.openxmlformats.org/officeDocument/2006/relationships/slide" Target="slides/slide59.xml"/><Relationship Id="rId49" Type="http://schemas.openxmlformats.org/officeDocument/2006/relationships/slide" Target="slides/slide60.xml"/><Relationship Id="rId50" Type="http://schemas.openxmlformats.org/officeDocument/2006/relationships/slide" Target="slides/slide61.xml"/><Relationship Id="rId51" Type="http://schemas.openxmlformats.org/officeDocument/2006/relationships/slide" Target="slides/slide62.xml"/><Relationship Id="rId52" Type="http://schemas.openxmlformats.org/officeDocument/2006/relationships/slide" Target="slides/slide63.xml"/><Relationship Id="rId53" Type="http://schemas.openxmlformats.org/officeDocument/2006/relationships/slide" Target="slides/slide64.xml"/><Relationship Id="rId54" Type="http://schemas.openxmlformats.org/officeDocument/2006/relationships/slide" Target="slides/slide65.xml"/><Relationship Id="rId55" Type="http://schemas.openxmlformats.org/officeDocument/2006/relationships/slide" Target="slides/slide69.xml"/><Relationship Id="rId56" Type="http://schemas.openxmlformats.org/officeDocument/2006/relationships/slide" Target="slides/slide70.xml"/><Relationship Id="rId57" Type="http://schemas.openxmlformats.org/officeDocument/2006/relationships/slide" Target="slides/slide71.xml"/><Relationship Id="rId58" Type="http://schemas.openxmlformats.org/officeDocument/2006/relationships/slide" Target="slides/slide72.xml"/><Relationship Id="rId59"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6.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openxmlformats.org/officeDocument/2006/relationships/slide" Target="slides/slide45.xml"/><Relationship Id="rId94" Type="http://schemas.openxmlformats.org/officeDocument/2006/relationships/slide" Target="slides/slide46.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 Id="rId99" Type="http://schemas.openxmlformats.org/officeDocument/2006/relationships/slide" Target="slides/slide76.xml"/><Relationship Id="rId100" Type="http://schemas.openxmlformats.org/officeDocument/2006/relationships/slide" Target="slides/slide2.xml"/><Relationship Id="rId101" Type="http://schemas.openxmlformats.org/officeDocument/2006/relationships/slide" Target="slides/slide3.xml"/><Relationship Id="rId102" Type="http://schemas.openxmlformats.org/officeDocument/2006/relationships/slide" Target="slides/slide4.xml"/><Relationship Id="rId103" Type="http://schemas.openxmlformats.org/officeDocument/2006/relationships/slide" Target="slides/slide5.xml"/><Relationship Id="rId104" Type="http://schemas.openxmlformats.org/officeDocument/2006/relationships/slide" Target="slides/slide6.xml"/><Relationship Id="rId105" Type="http://schemas.openxmlformats.org/officeDocument/2006/relationships/slide" Target="slides/slide10.xml"/><Relationship Id="rId106" Type="http://schemas.openxmlformats.org/officeDocument/2006/relationships/slide" Target="slides/slide11.xml"/><Relationship Id="rId107" Type="http://schemas.openxmlformats.org/officeDocument/2006/relationships/slide" Target="slides/slide12.xml"/><Relationship Id="rId108" Type="http://schemas.openxmlformats.org/officeDocument/2006/relationships/slide" Target="slides/slide13.xml"/><Relationship Id="rId109" Type="http://schemas.openxmlformats.org/officeDocument/2006/relationships/slide" Target="slides/slide14.xml"/><Relationship Id="rId110" Type="http://schemas.openxmlformats.org/officeDocument/2006/relationships/slide" Target="slides/slide82.xml"/><Relationship Id="rId111" Type="http://schemas.openxmlformats.org/officeDocument/2006/relationships/slide" Target="slides/slide83.xml"/><Relationship Id="rId112" Type="http://schemas.openxmlformats.org/officeDocument/2006/relationships/slide" Target="slides/slide84.xml"/><Relationship Id="rId113" Type="http://schemas.openxmlformats.org/officeDocument/2006/relationships/slide" Target="slides/slide8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46D94-6626-3BFF-0A17-61948D6E3E7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7B82959-52E1-24EA-654D-899B4BD852B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CDCEC601-C670-DE5C-B4B0-7A9A0C1D1642}"/>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5" name="Footer Placeholder 4">
            <a:extLst>
              <a:ext uri="{FF2B5EF4-FFF2-40B4-BE49-F238E27FC236}">
                <a16:creationId xmlns:a16="http://schemas.microsoft.com/office/drawing/2014/main" id="{108A4546-02A5-E0E4-1B88-DDD5C23286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49858-4AC1-6BEE-F28D-B259566E420C}"/>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22960632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708F2-2494-FD25-40BA-7A458F90F929}"/>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F4D68CF-139A-1485-F8C3-1135EBA75DA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C795C4C-F738-AC92-997B-00880EDFFFB1}"/>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5" name="Footer Placeholder 4">
            <a:extLst>
              <a:ext uri="{FF2B5EF4-FFF2-40B4-BE49-F238E27FC236}">
                <a16:creationId xmlns:a16="http://schemas.microsoft.com/office/drawing/2014/main" id="{29EB43F1-EC25-F65B-2464-2BB178DDEA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8E87FA-9C49-DA04-2AEC-CE02D08448E7}"/>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38243251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621AD-FA2B-E962-1895-0B829208A4E2}"/>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8E0FC836-5AF6-11F1-ABDC-F6A1CD43882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6EFEB5A-83F2-D22F-1013-D078D5F9884D}"/>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5" name="Footer Placeholder 4">
            <a:extLst>
              <a:ext uri="{FF2B5EF4-FFF2-40B4-BE49-F238E27FC236}">
                <a16:creationId xmlns:a16="http://schemas.microsoft.com/office/drawing/2014/main" id="{59D6E6E4-9057-95F7-57F5-42B4228D00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35C075-54A9-7B26-2083-EAEF01DE4751}"/>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42901512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CEEAB-96C8-B417-18FB-A71942AA246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DED5E33-F4BD-5B41-65F4-A233430D459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4D030329-B6CA-2C59-7CE7-8211A389709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B89AF930-D68C-D4BB-D655-76183CA60C31}"/>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6" name="Footer Placeholder 5">
            <a:extLst>
              <a:ext uri="{FF2B5EF4-FFF2-40B4-BE49-F238E27FC236}">
                <a16:creationId xmlns:a16="http://schemas.microsoft.com/office/drawing/2014/main" id="{33ED846B-938E-E072-48D2-C7D94D9591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ACB0EE-912C-A444-3339-E1B54EF3B27B}"/>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22515280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72965-DF3B-ED3E-7532-71CC7BC907B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90DB5A2-A181-E7B2-6ED3-6A3E56EE46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67B1024-7DAF-4B66-9FB5-FC3C33D7311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08D5716D-854D-ACD7-D87B-1AF011AEDF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8AD5961B-F921-8CBD-BC63-8FE4505D574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D8E2C8CF-7AD9-FDC8-5CD5-04645E926AB1}"/>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8" name="Footer Placeholder 7">
            <a:extLst>
              <a:ext uri="{FF2B5EF4-FFF2-40B4-BE49-F238E27FC236}">
                <a16:creationId xmlns:a16="http://schemas.microsoft.com/office/drawing/2014/main" id="{DC47C7EC-D94D-F23D-3AD7-F978DC38F0B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C0BC93F-DE87-5D34-711A-0A7C96BC89B2}"/>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19343493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85314-FF69-9488-55AA-609B6D6C4545}"/>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0D0D748-7526-E5B4-882B-CD1974BE7A5D}"/>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4" name="Footer Placeholder 3">
            <a:extLst>
              <a:ext uri="{FF2B5EF4-FFF2-40B4-BE49-F238E27FC236}">
                <a16:creationId xmlns:a16="http://schemas.microsoft.com/office/drawing/2014/main" id="{A51BB65D-3C7C-330F-F2E4-68BE6A78C36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B33AB25-A9B3-E208-BB21-C2850A87C7B5}"/>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35821783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CC9D19-4C72-6EBE-BEBB-990F367C8E26}"/>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3" name="Footer Placeholder 2">
            <a:extLst>
              <a:ext uri="{FF2B5EF4-FFF2-40B4-BE49-F238E27FC236}">
                <a16:creationId xmlns:a16="http://schemas.microsoft.com/office/drawing/2014/main" id="{9C7E9465-1D86-3400-70F7-6C14221D641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04DA129-7B6B-7A0C-6CD8-225A88BC4943}"/>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1291663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C83D7A-3E00-B6C8-FC83-37E63C7A337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D8F536C-DEC8-9406-DD9A-A159888086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D01E554-74F9-4F2B-DACA-7437D1FAD9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25B9C74-1F4A-2756-20E0-3A30ED8FDF6A}"/>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6" name="Footer Placeholder 5">
            <a:extLst>
              <a:ext uri="{FF2B5EF4-FFF2-40B4-BE49-F238E27FC236}">
                <a16:creationId xmlns:a16="http://schemas.microsoft.com/office/drawing/2014/main" id="{AFB6718F-0AFB-B05B-56DD-676CA42EC65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C6564F-EB95-772B-629C-CA39D04B3662}"/>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31996015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F3D48-84A0-3F37-1AE1-A5DA0976C0A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0D64D8CE-7D33-3A1C-0B10-C0B372A0E3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8818348-DD38-2ED9-AC93-F0E0BC5AFE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1CF0CDE-79A3-51A3-3B3F-A9FD15F51633}"/>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6" name="Footer Placeholder 5">
            <a:extLst>
              <a:ext uri="{FF2B5EF4-FFF2-40B4-BE49-F238E27FC236}">
                <a16:creationId xmlns:a16="http://schemas.microsoft.com/office/drawing/2014/main" id="{4FD91F49-8EAB-7B01-7B0F-F33734242F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3271A9-A83C-0006-00BD-C17BB3DE7C5A}"/>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21948946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BBB60-560A-1F72-035E-D28F19A92A87}"/>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EC3B78FD-69CC-9F5B-3C11-CA323EC93BBD}"/>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736BB40-F65B-5299-E32D-CB9858A5948A}"/>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5" name="Footer Placeholder 4">
            <a:extLst>
              <a:ext uri="{FF2B5EF4-FFF2-40B4-BE49-F238E27FC236}">
                <a16:creationId xmlns:a16="http://schemas.microsoft.com/office/drawing/2014/main" id="{A8487E16-F02D-E203-D4E9-10D833FCA5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882DCF-D6B7-31C6-D936-E12073FA200F}"/>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14908634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BFF187E-5DCA-9F88-B1CD-F03AB7AF3A1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2412709-B093-275F-2926-9D91A5824F6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56667EC-5ABA-1D42-42D4-EC9393BBC3FE}"/>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5" name="Footer Placeholder 4">
            <a:extLst>
              <a:ext uri="{FF2B5EF4-FFF2-40B4-BE49-F238E27FC236}">
                <a16:creationId xmlns:a16="http://schemas.microsoft.com/office/drawing/2014/main" id="{D46A2F67-6755-C1B8-DF06-6E0417CD32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80EB6B-719C-9679-CCF7-F153C3A2B752}"/>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315367043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EE80EE1-0B02-5C56-7378-94DD6DA0555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5AE5EFC-134F-BED3-F8A7-9FE56534CD2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1F202C69-0810-50C4-85CE-437D064ED2E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07F4EC-F5FE-2D4B-BE07-2A0946F33E8D}" type="datetimeFigureOut">
              <a:rPr lang="en-US" smtClean="0"/>
              <a:t>6/23/26</a:t>
            </a:fld>
            <a:endParaRPr lang="en-US"/>
          </a:p>
        </p:txBody>
      </p:sp>
      <p:sp>
        <p:nvSpPr>
          <p:cNvPr id="5" name="Footer Placeholder 4">
            <a:extLst>
              <a:ext uri="{FF2B5EF4-FFF2-40B4-BE49-F238E27FC236}">
                <a16:creationId xmlns:a16="http://schemas.microsoft.com/office/drawing/2014/main" id="{A70AED32-ED41-42FF-749B-D7F0BB6346E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98D752B-E364-D67C-7654-6A11A46BA23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B6755A7-B2F0-374C-BC3B-9231083D8773}" type="slidenum">
              <a:rPr lang="en-US" smtClean="0"/>
              <a:t>‹#›</a:t>
            </a:fld>
            <a:endParaRPr lang="en-US"/>
          </a:p>
        </p:txBody>
      </p:sp>
      <p:sp>
        <p:nvSpPr>
          <p:cNvPr id="900" name="AccentBar"/>
          <p:cNvSpPr/>
          <p:nvPr/>
        </p:nvSpPr>
        <p:spPr>
          <a:xfrm>
            <a:off x="0" y="6784848"/>
            <a:ext cx="12192000" cy="73152"/>
          </a:xfrm>
          <a:prstGeom prst="rect">
            <a:avLst/>
          </a:prstGeom>
          <a:gradFill>
            <a:gsLst>
              <a:gs pos="0">
                <a:srgbClr val="2563EB"/>
              </a:gs>
              <a:gs pos="50000">
                <a:srgbClr val="7C3AED"/>
              </a:gs>
              <a:gs pos="100000">
                <a:srgbClr val="06B6D4"/>
              </a:gs>
            </a:gsLst>
            <a:lin ang="0" scaled="1"/>
          </a:gradFill>
          <a:ln>
            <a:noFill/>
          </a:ln>
        </p:spPr>
        <p:txBody>
          <a:bodyPr/>
          <a:lstStyle/>
          <a:p>
            <a:endParaRPr/>
          </a:p>
        </p:txBody>
      </p:sp>
    </p:spTree>
    <p:extLst>
      <p:ext uri="{BB962C8B-B14F-4D97-AF65-F5344CB8AC3E}">
        <p14:creationId xmlns:p14="http://schemas.microsoft.com/office/powerpoint/2010/main" val="32214053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1B1B2F"/>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B2B40"/>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2017524---Business-Process-Automation-with-Power-Automate-and-Copilot-Studio-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2EDD3-BAC6-2E59-FAA8-908301B11942}"/>
              </a:ext>
            </a:extLst>
          </p:cNvPr>
          <p:cNvSpPr>
            <a:spLocks noGrp="1"/>
          </p:cNvSpPr>
          <p:nvPr>
            <p:ph type="ctrTitle"/>
          </p:nvPr>
        </p:nvSpPr>
        <p:spPr/>
        <p:txBody>
          <a:bodyPr/>
          <a:lstStyle/>
          <a:p>
            <a:pPr algn="ctr"/>
            <a:r>
              <a:rPr lang="en-US" sz="4000" b="1" dirty="0"/>
              <a:t>Business Process Automation</a:t>
            </a:r>
          </a:p>
        </p:txBody>
      </p:sp>
      <p:sp>
        <p:nvSpPr>
          <p:cNvPr id="3" name="Subtitle 2">
            <a:extLst>
              <a:ext uri="{FF2B5EF4-FFF2-40B4-BE49-F238E27FC236}">
                <a16:creationId xmlns:a16="http://schemas.microsoft.com/office/drawing/2014/main" id="{2C0574B3-66A5-8402-1E67-380A6A832EEC}"/>
              </a:ext>
            </a:extLst>
          </p:cNvPr>
          <p:cNvSpPr>
            <a:spLocks noGrp="1"/>
          </p:cNvSpPr>
          <p:nvPr>
            <p:ph type="subTitle" idx="1"/>
          </p:nvPr>
        </p:nvSpPr>
        <p:spPr/>
        <p:txBody>
          <a:bodyPr/>
          <a:lstStyle/>
          <a:p>
            <a:pPr algn="ctr"/>
            <a:r>
              <a:rPr lang="en-US" sz="2400" b="1" dirty="0">
                <a:solidFill>
                  <a:schemeClr val="accent2"/>
                </a:solidFill>
              </a:rPr>
              <a:t>with Power Automate and Copilot Studio Agents</a:t>
            </a:r>
          </a:p>
          <a:p>
            <a:pPr algn="ctr"/>
            <a:r>
              <a:rPr lang="en-US" sz="1600" dirty="0">
                <a:solidFill>
                  <a:schemeClr val="dk2"/>
                </a:solidFill>
              </a:rPr>
              <a:t>WSQ Course Code: TGS-2022017524  ·  2-Day Hands-On Training  ·  Modules 1–3</a:t>
            </a:r>
          </a:p>
        </p:txBody>
      </p:sp>
      <p:sp>
        <p:nvSpPr>
          <p:cNvPr id="4" name="TextBox 3"/>
          <p:cNvSpPr txBox="1"/>
          <p:nvPr/>
        </p:nvSpPr>
        <p:spPr>
          <a:xfrm>
            <a:off x="1527048" y="5623560"/>
            <a:ext cx="9144000" cy="777240"/>
          </a:xfrm>
          <a:prstGeom prst="rect">
            <a:avLst/>
          </a:prstGeom>
          <a:noFill/>
        </p:spPr>
        <p:txBody>
          <a:bodyPr wrap="square" anchor="t">
            <a:spAutoFit/>
          </a:bodyPr>
          <a:lstStyle/>
          <a:p>
            <a:pPr algn="ctr">
              <a:spcAft>
                <a:spcPts val="400"/>
              </a:spcAft>
            </a:pPr>
            <a:r>
              <a:rPr sz="1400" b="0">
                <a:solidFill>
                  <a:srgbClr val="5B6372"/>
                </a:solidFill>
                <a:latin typeface="Arial"/>
              </a:rPr>
              <a:t>Conducted by Tertiary Infotech Academy Pte Ltd  ·  UEN 201200696W</a:t>
            </a:r>
          </a:p>
          <a:p>
            <a:pPr algn="ctr">
              <a:spcAft>
                <a:spcPts val="400"/>
              </a:spcAft>
            </a:pPr>
            <a:r>
              <a:rPr sz="1100" b="0">
                <a:solidFill>
                  <a:srgbClr val="5B6372"/>
                </a:solidFill>
                <a:latin typeface="Arial"/>
              </a:rPr>
              <a:t>Version 3.0 (3 Jul 2026)  ·  www.tertiarycourses.com.sg  ·  https://lms-tms.tertiaryinfotech.com/</a:t>
            </a:r>
          </a:p>
        </p:txBody>
      </p:sp>
      <p:sp>
        <p:nvSpPr>
          <p:cNvPr id="5" name="TextBox 4"/>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6" name="TextBox 5"/>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extLst>
      <p:ext uri="{BB962C8B-B14F-4D97-AF65-F5344CB8AC3E}">
        <p14:creationId xmlns:p14="http://schemas.microsoft.com/office/powerpoint/2010/main" val="288028645"/>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a:solidFill>
                  <a:srgbClr val="161B26"/>
                </a:solidFill>
                <a:latin typeface="Arial"/>
              </a:rPr>
              <a:t>•  It is mandatory to take the AM, PM and Assessment digital attendance for WSQ-funded courses.</a:t>
            </a:r>
          </a:p>
          <a:p>
            <a:pPr>
              <a:spcAft>
                <a:spcPts val="1000"/>
              </a:spcAft>
            </a:pPr>
            <a:r>
              <a:rPr sz="1800">
                <a:solidFill>
                  <a:srgbClr val="161B26"/>
                </a:solidFill>
                <a:latin typeface="Arial"/>
              </a:rPr>
              <a:t>•  The trainer/administrator displays the digital attendance QR code from the SSG portal.</a:t>
            </a:r>
          </a:p>
          <a:p>
            <a:pPr>
              <a:spcAft>
                <a:spcPts val="1000"/>
              </a:spcAft>
            </a:pPr>
            <a:r>
              <a:rPr sz="1800">
                <a:solidFill>
                  <a:srgbClr val="161B26"/>
                </a:solidFill>
                <a:latin typeface="Arial"/>
              </a:rPr>
              <a:t>•  Scan the QR code with your mobile phone camera and submit your attendance.</a:t>
            </a:r>
          </a:p>
          <a:p>
            <a:pPr>
              <a:spcAft>
                <a:spcPts val="1000"/>
              </a:spcAft>
            </a:pPr>
            <a:r>
              <a:rPr sz="1800">
                <a:solidFill>
                  <a:srgbClr val="161B26"/>
                </a:solidFill>
                <a:latin typeface="Arial"/>
              </a:rPr>
              <a:t>•  A minimum of 75% attendance is required to be eligible for assessment and funding.</a:t>
            </a:r>
          </a:p>
        </p:txBody>
      </p:sp>
      <p:sp>
        <p:nvSpPr>
          <p:cNvPr id="8" name="TextBox 7"/>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9" name="TextBox 8"/>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32" name="TextBox 31"/>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161B26"/>
                </a:solidFill>
                <a:latin typeface="Arial"/>
              </a:rPr>
              <a:t>Microsoft Power Platform, AI and data analytics — 20+ years of training experience.</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AI, business automation, data science and software engineering.</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26" name="TextBox 25"/>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a:solidFill>
                  <a:srgbClr val="161B26"/>
                </a:solidFill>
                <a:latin typeface="Arial"/>
              </a:rPr>
              <a:t>•  Your name and organisation / role.</a:t>
            </a:r>
          </a:p>
          <a:p>
            <a:pPr>
              <a:spcAft>
                <a:spcPts val="1000"/>
              </a:spcAft>
            </a:pPr>
            <a:r>
              <a:rPr sz="1800">
                <a:solidFill>
                  <a:srgbClr val="161B26"/>
                </a:solidFill>
                <a:latin typeface="Arial"/>
              </a:rPr>
              <a:t>•  Your experience with Power Automate, Copilot Studio or other automation tools (if any).</a:t>
            </a:r>
          </a:p>
          <a:p>
            <a:pPr>
              <a:spcAft>
                <a:spcPts val="1000"/>
              </a:spcAft>
            </a:pPr>
            <a:r>
              <a:rPr sz="1800">
                <a:solidFill>
                  <a:srgbClr val="161B26"/>
                </a:solidFill>
                <a:latin typeface="Arial"/>
              </a:rPr>
              <a:t>•  One repetitive business process you would love to automate after this course.</a:t>
            </a:r>
          </a:p>
        </p:txBody>
      </p:sp>
      <p:sp>
        <p:nvSpPr>
          <p:cNvPr id="8" name="TextBox 7"/>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9" name="TextBox 8"/>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38" name="TextBox 37"/>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COURSE OUTCOMES</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What You’ll Learn</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874519"/>
            <a:ext cx="2393441" cy="123444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47672"/>
            <a:ext cx="2247137" cy="1088136"/>
          </a:xfrm>
          <a:prstGeom prst="rect">
            <a:avLst/>
          </a:prstGeom>
          <a:noFill/>
        </p:spPr>
        <p:txBody>
          <a:bodyPr wrap="square" anchor="ctr" lIns="73152" rIns="73152" tIns="73152" bIns="73152">
            <a:spAutoFit/>
          </a:bodyPr>
          <a:lstStyle/>
          <a:p>
            <a:pPr algn="ctr"/>
            <a:r>
              <a:rPr sz="1300" b="1">
                <a:solidFill>
                  <a:srgbClr val="161B26"/>
                </a:solidFill>
                <a:latin typeface="Arial"/>
              </a:rPr>
              <a:t>Power Automate
flows</a:t>
            </a:r>
          </a:p>
        </p:txBody>
      </p:sp>
      <p:sp>
        <p:nvSpPr>
          <p:cNvPr id="8" name="Chevron 7"/>
          <p:cNvSpPr/>
          <p:nvPr/>
        </p:nvSpPr>
        <p:spPr>
          <a:xfrm>
            <a:off x="3106674" y="2336291"/>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42081"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add AI</a:t>
            </a:r>
          </a:p>
        </p:txBody>
      </p:sp>
      <p:sp>
        <p:nvSpPr>
          <p:cNvPr id="10" name="Rounded Rectangle 9"/>
          <p:cNvSpPr/>
          <p:nvPr/>
        </p:nvSpPr>
        <p:spPr>
          <a:xfrm>
            <a:off x="3472433" y="1874519"/>
            <a:ext cx="2393441" cy="123444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5585" y="1947672"/>
            <a:ext cx="2247137" cy="1088136"/>
          </a:xfrm>
          <a:prstGeom prst="rect">
            <a:avLst/>
          </a:prstGeom>
          <a:noFill/>
        </p:spPr>
        <p:txBody>
          <a:bodyPr wrap="square" anchor="ctr" lIns="73152" rIns="73152" tIns="73152" bIns="73152">
            <a:spAutoFit/>
          </a:bodyPr>
          <a:lstStyle/>
          <a:p>
            <a:pPr algn="ctr"/>
            <a:r>
              <a:rPr sz="1300" b="1">
                <a:solidFill>
                  <a:srgbClr val="161B26"/>
                </a:solidFill>
                <a:latin typeface="Arial"/>
              </a:rPr>
              <a:t>Copilot Studio
agent</a:t>
            </a:r>
          </a:p>
        </p:txBody>
      </p:sp>
      <p:sp>
        <p:nvSpPr>
          <p:cNvPr id="12" name="Chevron 11"/>
          <p:cNvSpPr/>
          <p:nvPr/>
        </p:nvSpPr>
        <p:spPr>
          <a:xfrm>
            <a:off x="5920739" y="2336291"/>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56146"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publish</a:t>
            </a:r>
          </a:p>
        </p:txBody>
      </p:sp>
      <p:sp>
        <p:nvSpPr>
          <p:cNvPr id="14" name="Rounded Rectangle 13"/>
          <p:cNvSpPr/>
          <p:nvPr/>
        </p:nvSpPr>
        <p:spPr>
          <a:xfrm>
            <a:off x="6286499" y="1874519"/>
            <a:ext cx="2393441" cy="123444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1947672"/>
            <a:ext cx="2247137" cy="1088136"/>
          </a:xfrm>
          <a:prstGeom prst="rect">
            <a:avLst/>
          </a:prstGeom>
          <a:noFill/>
        </p:spPr>
        <p:txBody>
          <a:bodyPr wrap="square" anchor="ctr" lIns="73152" rIns="73152" tIns="73152" bIns="73152">
            <a:spAutoFit/>
          </a:bodyPr>
          <a:lstStyle/>
          <a:p>
            <a:pPr algn="ctr"/>
            <a:r>
              <a:rPr sz="1300" b="1">
                <a:solidFill>
                  <a:srgbClr val="161B26"/>
                </a:solidFill>
                <a:latin typeface="Arial"/>
              </a:rPr>
              <a:t>Teams + website
channels</a:t>
            </a:r>
          </a:p>
        </p:txBody>
      </p:sp>
      <p:sp>
        <p:nvSpPr>
          <p:cNvPr id="16" name="Chevron 15"/>
          <p:cNvSpPr/>
          <p:nvPr/>
        </p:nvSpPr>
        <p:spPr>
          <a:xfrm>
            <a:off x="8734805" y="2336291"/>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70212"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take action</a:t>
            </a:r>
          </a:p>
        </p:txBody>
      </p:sp>
      <p:sp>
        <p:nvSpPr>
          <p:cNvPr id="18" name="Rounded Rectangle 17"/>
          <p:cNvSpPr/>
          <p:nvPr/>
        </p:nvSpPr>
        <p:spPr>
          <a:xfrm>
            <a:off x="9100565" y="1874519"/>
            <a:ext cx="2393441" cy="123444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73717" y="1947672"/>
            <a:ext cx="2247137" cy="1088136"/>
          </a:xfrm>
          <a:prstGeom prst="rect">
            <a:avLst/>
          </a:prstGeom>
          <a:noFill/>
        </p:spPr>
        <p:txBody>
          <a:bodyPr wrap="square" anchor="ctr" lIns="73152" rIns="73152" tIns="73152" bIns="73152">
            <a:spAutoFit/>
          </a:bodyPr>
          <a:lstStyle/>
          <a:p>
            <a:pPr algn="ctr"/>
            <a:r>
              <a:rPr sz="1300" b="1">
                <a:solidFill>
                  <a:srgbClr val="161B26"/>
                </a:solidFill>
                <a:latin typeface="Arial"/>
              </a:rPr>
              <a:t>Agent tools
and prompts</a:t>
            </a:r>
          </a:p>
        </p:txBody>
      </p:sp>
      <p:sp>
        <p:nvSpPr>
          <p:cNvPr id="20" name="Rounded Rectangle 19"/>
          <p:cNvSpPr/>
          <p:nvPr/>
        </p:nvSpPr>
        <p:spPr>
          <a:xfrm>
            <a:off x="658368" y="3703320"/>
            <a:ext cx="3337560" cy="164592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3703320"/>
            <a:ext cx="82296" cy="164592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849624"/>
            <a:ext cx="2862072" cy="411480"/>
          </a:xfrm>
          <a:prstGeom prst="rect">
            <a:avLst/>
          </a:prstGeom>
          <a:noFill/>
        </p:spPr>
        <p:txBody>
          <a:bodyPr wrap="square" anchor="ctr" lIns="73152" rIns="73152" tIns="73152" bIns="73152">
            <a:spAutoFit/>
          </a:bodyPr>
          <a:lstStyle/>
          <a:p>
            <a:pPr algn="l"/>
            <a:r>
              <a:rPr sz="1700" b="1">
                <a:solidFill>
                  <a:srgbClr val="1F6FEB"/>
                </a:solidFill>
                <a:latin typeface="Arial"/>
              </a:rPr>
              <a:t>Day 1 — automate</a:t>
            </a:r>
          </a:p>
        </p:txBody>
      </p:sp>
      <p:sp>
        <p:nvSpPr>
          <p:cNvPr id="23" name="TextBox 22"/>
          <p:cNvSpPr txBox="1"/>
          <p:nvPr/>
        </p:nvSpPr>
        <p:spPr>
          <a:xfrm>
            <a:off x="914400" y="4343400"/>
            <a:ext cx="2862072" cy="896112"/>
          </a:xfrm>
          <a:prstGeom prst="rect">
            <a:avLst/>
          </a:prstGeom>
          <a:noFill/>
        </p:spPr>
        <p:txBody>
          <a:bodyPr wrap="square" anchor="ctr" lIns="73152" rIns="73152" tIns="73152" bIns="73152">
            <a:spAutoFit/>
          </a:bodyPr>
          <a:lstStyle/>
          <a:p>
            <a:pPr algn="l"/>
            <a:r>
              <a:rPr sz="1400" b="0">
                <a:solidFill>
                  <a:srgbClr val="5B6372"/>
                </a:solidFill>
                <a:latin typeface="Arial"/>
              </a:rPr>
              <a:t>Build reliable trigger → action flows without an AI agent.</a:t>
            </a:r>
          </a:p>
        </p:txBody>
      </p:sp>
      <p:sp>
        <p:nvSpPr>
          <p:cNvPr id="24" name="Rounded Rectangle 23"/>
          <p:cNvSpPr/>
          <p:nvPr/>
        </p:nvSpPr>
        <p:spPr>
          <a:xfrm>
            <a:off x="4251960" y="3703320"/>
            <a:ext cx="3337560" cy="164592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51960" y="3703320"/>
            <a:ext cx="82296" cy="1645920"/>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3849624"/>
            <a:ext cx="2862072" cy="411480"/>
          </a:xfrm>
          <a:prstGeom prst="rect">
            <a:avLst/>
          </a:prstGeom>
          <a:noFill/>
        </p:spPr>
        <p:txBody>
          <a:bodyPr wrap="square" anchor="ctr" lIns="73152" rIns="73152" tIns="73152" bIns="73152">
            <a:spAutoFit/>
          </a:bodyPr>
          <a:lstStyle/>
          <a:p>
            <a:pPr algn="l"/>
            <a:r>
              <a:rPr sz="1700" b="1">
                <a:solidFill>
                  <a:srgbClr val="6D3FD2"/>
                </a:solidFill>
                <a:latin typeface="Arial"/>
              </a:rPr>
              <a:t>Day 2 — converse</a:t>
            </a:r>
          </a:p>
        </p:txBody>
      </p:sp>
      <p:sp>
        <p:nvSpPr>
          <p:cNvPr id="27" name="TextBox 26"/>
          <p:cNvSpPr txBox="1"/>
          <p:nvPr/>
        </p:nvSpPr>
        <p:spPr>
          <a:xfrm>
            <a:off x="4507992" y="4343400"/>
            <a:ext cx="2862072" cy="896112"/>
          </a:xfrm>
          <a:prstGeom prst="rect">
            <a:avLst/>
          </a:prstGeom>
          <a:noFill/>
        </p:spPr>
        <p:txBody>
          <a:bodyPr wrap="square" anchor="ctr" lIns="73152" rIns="73152" tIns="73152" bIns="73152">
            <a:spAutoFit/>
          </a:bodyPr>
          <a:lstStyle/>
          <a:p>
            <a:pPr algn="l"/>
            <a:r>
              <a:rPr sz="1400" b="0">
                <a:solidFill>
                  <a:srgbClr val="5B6372"/>
                </a:solidFill>
                <a:latin typeface="Arial"/>
              </a:rPr>
              <a:t>Create a grounded agent that understands and confirms user intent.</a:t>
            </a:r>
          </a:p>
        </p:txBody>
      </p:sp>
      <p:sp>
        <p:nvSpPr>
          <p:cNvPr id="28" name="Rounded Rectangle 27"/>
          <p:cNvSpPr/>
          <p:nvPr/>
        </p:nvSpPr>
        <p:spPr>
          <a:xfrm>
            <a:off x="7845552" y="3703320"/>
            <a:ext cx="3648456" cy="164592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845552" y="3703320"/>
            <a:ext cx="82296" cy="1645920"/>
          </a:xfrm>
          <a:prstGeom prst="rect">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01584" y="3849624"/>
            <a:ext cx="3172968" cy="411480"/>
          </a:xfrm>
          <a:prstGeom prst="rect">
            <a:avLst/>
          </a:prstGeom>
          <a:noFill/>
        </p:spPr>
        <p:txBody>
          <a:bodyPr wrap="square" anchor="ctr" lIns="73152" rIns="73152" tIns="73152" bIns="73152">
            <a:spAutoFit/>
          </a:bodyPr>
          <a:lstStyle/>
          <a:p>
            <a:pPr algn="l"/>
            <a:r>
              <a:rPr sz="1700" b="1">
                <a:solidFill>
                  <a:srgbClr val="108A73"/>
                </a:solidFill>
                <a:latin typeface="Arial"/>
              </a:rPr>
              <a:t>Integrate — act</a:t>
            </a:r>
          </a:p>
        </p:txBody>
      </p:sp>
      <p:sp>
        <p:nvSpPr>
          <p:cNvPr id="31" name="TextBox 30"/>
          <p:cNvSpPr txBox="1"/>
          <p:nvPr/>
        </p:nvSpPr>
        <p:spPr>
          <a:xfrm>
            <a:off x="8101584" y="4343400"/>
            <a:ext cx="3172968" cy="896112"/>
          </a:xfrm>
          <a:prstGeom prst="rect">
            <a:avLst/>
          </a:prstGeom>
          <a:noFill/>
        </p:spPr>
        <p:txBody>
          <a:bodyPr wrap="square" anchor="ctr" lIns="73152" rIns="73152" tIns="73152" bIns="73152">
            <a:spAutoFit/>
          </a:bodyPr>
          <a:lstStyle/>
          <a:p>
            <a:pPr algn="l"/>
            <a:r>
              <a:rPr sz="1400" b="0">
                <a:solidFill>
                  <a:srgbClr val="5B6372"/>
                </a:solidFill>
                <a:latin typeface="Arial"/>
              </a:rPr>
              <a:t>Let the agent call deterministic or prompt-based Power Automate tools.</a:t>
            </a:r>
          </a:p>
        </p:txBody>
      </p:sp>
      <p:sp>
        <p:nvSpPr>
          <p:cNvPr id="32" name="TextBox 31"/>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7</a:t>
            </a:r>
          </a:p>
        </p:txBody>
      </p:sp>
    </p:spTree>
    <p:extLst>
      <p:ext uri="{BB962C8B-B14F-4D97-AF65-F5344CB8AC3E}">
        <p14:creationId xmlns:p14="http://schemas.microsoft.com/office/powerpoint/2010/main" val="13509161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SIMPLE TO COMPLEX</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Your 2-Day Journey</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737360"/>
            <a:ext cx="1938528" cy="1755648"/>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82296" cy="175564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938528"/>
            <a:ext cx="457200" cy="457200"/>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1–2</a:t>
            </a:r>
          </a:p>
        </p:txBody>
      </p:sp>
      <p:sp>
        <p:nvSpPr>
          <p:cNvPr id="10" name="TextBox 9"/>
          <p:cNvSpPr txBox="1"/>
          <p:nvPr/>
        </p:nvSpPr>
        <p:spPr>
          <a:xfrm>
            <a:off x="1426464" y="1883664"/>
            <a:ext cx="978408" cy="411480"/>
          </a:xfrm>
          <a:prstGeom prst="rect">
            <a:avLst/>
          </a:prstGeom>
          <a:noFill/>
        </p:spPr>
        <p:txBody>
          <a:bodyPr wrap="square" anchor="ctr" lIns="73152" rIns="73152" tIns="73152" bIns="73152">
            <a:spAutoFit/>
          </a:bodyPr>
          <a:lstStyle/>
          <a:p>
            <a:pPr algn="l"/>
            <a:r>
              <a:rPr sz="1200" b="1">
                <a:solidFill>
                  <a:srgbClr val="1F6FEB"/>
                </a:solidFill>
                <a:latin typeface="Arial"/>
              </a:rPr>
              <a:t>Instant</a:t>
            </a:r>
          </a:p>
        </p:txBody>
      </p:sp>
      <p:sp>
        <p:nvSpPr>
          <p:cNvPr id="11" name="TextBox 10"/>
          <p:cNvSpPr txBox="1"/>
          <p:nvPr/>
        </p:nvSpPr>
        <p:spPr>
          <a:xfrm>
            <a:off x="914400" y="2377440"/>
            <a:ext cx="1463040" cy="1005840"/>
          </a:xfrm>
          <a:prstGeom prst="rect">
            <a:avLst/>
          </a:prstGeom>
          <a:noFill/>
        </p:spPr>
        <p:txBody>
          <a:bodyPr wrap="square" anchor="ctr" lIns="73152" rIns="73152" tIns="73152" bIns="73152">
            <a:spAutoFit/>
          </a:bodyPr>
          <a:lstStyle/>
          <a:p>
            <a:pPr algn="l"/>
            <a:r>
              <a:rPr sz="1100" b="0">
                <a:solidFill>
                  <a:srgbClr val="5B6372"/>
                </a:solidFill>
                <a:latin typeface="Arial"/>
              </a:rPr>
              <a:t>Run manually; email and Excel</a:t>
            </a:r>
          </a:p>
        </p:txBody>
      </p:sp>
      <p:sp>
        <p:nvSpPr>
          <p:cNvPr id="12" name="Rounded Rectangle 11"/>
          <p:cNvSpPr/>
          <p:nvPr/>
        </p:nvSpPr>
        <p:spPr>
          <a:xfrm>
            <a:off x="2871215" y="1737360"/>
            <a:ext cx="1938528" cy="1755648"/>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71215" y="1737360"/>
            <a:ext cx="82296" cy="1755648"/>
          </a:xfrm>
          <a:prstGeom prst="rect">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072383" y="1938528"/>
            <a:ext cx="457200" cy="457200"/>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72383"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3</a:t>
            </a:r>
          </a:p>
        </p:txBody>
      </p:sp>
      <p:sp>
        <p:nvSpPr>
          <p:cNvPr id="16" name="TextBox 15"/>
          <p:cNvSpPr txBox="1"/>
          <p:nvPr/>
        </p:nvSpPr>
        <p:spPr>
          <a:xfrm>
            <a:off x="3639311" y="1883664"/>
            <a:ext cx="978408" cy="411480"/>
          </a:xfrm>
          <a:prstGeom prst="rect">
            <a:avLst/>
          </a:prstGeom>
          <a:noFill/>
        </p:spPr>
        <p:txBody>
          <a:bodyPr wrap="square" anchor="ctr" lIns="73152" rIns="73152" tIns="73152" bIns="73152">
            <a:spAutoFit/>
          </a:bodyPr>
          <a:lstStyle/>
          <a:p>
            <a:pPr algn="l"/>
            <a:r>
              <a:rPr sz="1200" b="1">
                <a:solidFill>
                  <a:srgbClr val="108A73"/>
                </a:solidFill>
                <a:latin typeface="Arial"/>
              </a:rPr>
              <a:t>Scheduled</a:t>
            </a:r>
          </a:p>
        </p:txBody>
      </p:sp>
      <p:sp>
        <p:nvSpPr>
          <p:cNvPr id="17" name="TextBox 16"/>
          <p:cNvSpPr txBox="1"/>
          <p:nvPr/>
        </p:nvSpPr>
        <p:spPr>
          <a:xfrm>
            <a:off x="3127247" y="2377440"/>
            <a:ext cx="1463040" cy="1005840"/>
          </a:xfrm>
          <a:prstGeom prst="rect">
            <a:avLst/>
          </a:prstGeom>
          <a:noFill/>
        </p:spPr>
        <p:txBody>
          <a:bodyPr wrap="square" anchor="ctr" lIns="73152" rIns="73152" tIns="73152" bIns="73152">
            <a:spAutoFit/>
          </a:bodyPr>
          <a:lstStyle/>
          <a:p>
            <a:pPr algn="l"/>
            <a:r>
              <a:rPr sz="1100" b="0">
                <a:solidFill>
                  <a:srgbClr val="5B6372"/>
                </a:solidFill>
                <a:latin typeface="Arial"/>
              </a:rPr>
              <a:t>Recurrence and time zone</a:t>
            </a:r>
          </a:p>
        </p:txBody>
      </p:sp>
      <p:sp>
        <p:nvSpPr>
          <p:cNvPr id="18" name="Rounded Rectangle 17"/>
          <p:cNvSpPr/>
          <p:nvPr/>
        </p:nvSpPr>
        <p:spPr>
          <a:xfrm>
            <a:off x="5084064" y="1737360"/>
            <a:ext cx="1938528" cy="1755648"/>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84064" y="1737360"/>
            <a:ext cx="82296" cy="1755648"/>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285232" y="1938528"/>
            <a:ext cx="457200" cy="457200"/>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85232"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4</a:t>
            </a:r>
          </a:p>
        </p:txBody>
      </p:sp>
      <p:sp>
        <p:nvSpPr>
          <p:cNvPr id="22" name="TextBox 21"/>
          <p:cNvSpPr txBox="1"/>
          <p:nvPr/>
        </p:nvSpPr>
        <p:spPr>
          <a:xfrm>
            <a:off x="5852160" y="1883664"/>
            <a:ext cx="978408" cy="411480"/>
          </a:xfrm>
          <a:prstGeom prst="rect">
            <a:avLst/>
          </a:prstGeom>
          <a:noFill/>
        </p:spPr>
        <p:txBody>
          <a:bodyPr wrap="square" anchor="ctr" lIns="73152" rIns="73152" tIns="73152" bIns="73152">
            <a:spAutoFit/>
          </a:bodyPr>
          <a:lstStyle/>
          <a:p>
            <a:pPr algn="l"/>
            <a:r>
              <a:rPr sz="1200" b="1">
                <a:solidFill>
                  <a:srgbClr val="6D3FD2"/>
                </a:solidFill>
                <a:latin typeface="Arial"/>
              </a:rPr>
              <a:t>Automated</a:t>
            </a:r>
          </a:p>
        </p:txBody>
      </p:sp>
      <p:sp>
        <p:nvSpPr>
          <p:cNvPr id="23" name="TextBox 22"/>
          <p:cNvSpPr txBox="1"/>
          <p:nvPr/>
        </p:nvSpPr>
        <p:spPr>
          <a:xfrm>
            <a:off x="5340096" y="2377440"/>
            <a:ext cx="1463040" cy="1005840"/>
          </a:xfrm>
          <a:prstGeom prst="rect">
            <a:avLst/>
          </a:prstGeom>
          <a:noFill/>
        </p:spPr>
        <p:txBody>
          <a:bodyPr wrap="square" anchor="ctr" lIns="73152" rIns="73152" tIns="73152" bIns="73152">
            <a:spAutoFit/>
          </a:bodyPr>
          <a:lstStyle/>
          <a:p>
            <a:pPr algn="l"/>
            <a:r>
              <a:rPr sz="1100" b="0">
                <a:solidFill>
                  <a:srgbClr val="5B6372"/>
                </a:solidFill>
                <a:latin typeface="Arial"/>
              </a:rPr>
              <a:t>Microsoft Forms event</a:t>
            </a:r>
          </a:p>
        </p:txBody>
      </p:sp>
      <p:sp>
        <p:nvSpPr>
          <p:cNvPr id="24" name="Rounded Rectangle 23"/>
          <p:cNvSpPr/>
          <p:nvPr/>
        </p:nvSpPr>
        <p:spPr>
          <a:xfrm>
            <a:off x="7296912" y="1737360"/>
            <a:ext cx="1938528" cy="1755648"/>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96912" y="1737360"/>
            <a:ext cx="82296" cy="1755648"/>
          </a:xfrm>
          <a:prstGeom prst="rect">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498080" y="1938528"/>
            <a:ext cx="457200" cy="457200"/>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0"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5</a:t>
            </a:r>
          </a:p>
        </p:txBody>
      </p:sp>
      <p:sp>
        <p:nvSpPr>
          <p:cNvPr id="28" name="TextBox 27"/>
          <p:cNvSpPr txBox="1"/>
          <p:nvPr/>
        </p:nvSpPr>
        <p:spPr>
          <a:xfrm>
            <a:off x="8065008" y="1883664"/>
            <a:ext cx="978408" cy="411480"/>
          </a:xfrm>
          <a:prstGeom prst="rect">
            <a:avLst/>
          </a:prstGeom>
          <a:noFill/>
        </p:spPr>
        <p:txBody>
          <a:bodyPr wrap="square" anchor="ctr" lIns="73152" rIns="73152" tIns="73152" bIns="73152">
            <a:spAutoFit/>
          </a:bodyPr>
          <a:lstStyle/>
          <a:p>
            <a:pPr algn="l"/>
            <a:r>
              <a:rPr sz="1200" b="1">
                <a:solidFill>
                  <a:srgbClr val="C77600"/>
                </a:solidFill>
                <a:latin typeface="Arial"/>
              </a:rPr>
              <a:t>Approval</a:t>
            </a:r>
          </a:p>
        </p:txBody>
      </p:sp>
      <p:sp>
        <p:nvSpPr>
          <p:cNvPr id="29" name="TextBox 28"/>
          <p:cNvSpPr txBox="1"/>
          <p:nvPr/>
        </p:nvSpPr>
        <p:spPr>
          <a:xfrm>
            <a:off x="7552944" y="2377440"/>
            <a:ext cx="1463040" cy="1005840"/>
          </a:xfrm>
          <a:prstGeom prst="rect">
            <a:avLst/>
          </a:prstGeom>
          <a:noFill/>
        </p:spPr>
        <p:txBody>
          <a:bodyPr wrap="square" anchor="ctr" lIns="73152" rIns="73152" tIns="73152" bIns="73152">
            <a:spAutoFit/>
          </a:bodyPr>
          <a:lstStyle/>
          <a:p>
            <a:pPr algn="l"/>
            <a:r>
              <a:rPr sz="1100" b="0">
                <a:solidFill>
                  <a:srgbClr val="5B6372"/>
                </a:solidFill>
                <a:latin typeface="Arial"/>
              </a:rPr>
              <a:t>Human decision and branch</a:t>
            </a:r>
          </a:p>
        </p:txBody>
      </p:sp>
      <p:sp>
        <p:nvSpPr>
          <p:cNvPr id="30" name="Rounded Rectangle 29"/>
          <p:cNvSpPr/>
          <p:nvPr/>
        </p:nvSpPr>
        <p:spPr>
          <a:xfrm>
            <a:off x="9509760" y="1737360"/>
            <a:ext cx="1938528" cy="1755648"/>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09760" y="1737360"/>
            <a:ext cx="82296" cy="1755648"/>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710928" y="1938528"/>
            <a:ext cx="457200" cy="45720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10928"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6A/B</a:t>
            </a:r>
          </a:p>
        </p:txBody>
      </p:sp>
      <p:sp>
        <p:nvSpPr>
          <p:cNvPr id="34" name="TextBox 33"/>
          <p:cNvSpPr txBox="1"/>
          <p:nvPr/>
        </p:nvSpPr>
        <p:spPr>
          <a:xfrm>
            <a:off x="10277856" y="1883664"/>
            <a:ext cx="978408" cy="411480"/>
          </a:xfrm>
          <a:prstGeom prst="rect">
            <a:avLst/>
          </a:prstGeom>
          <a:noFill/>
        </p:spPr>
        <p:txBody>
          <a:bodyPr wrap="square" anchor="ctr" lIns="73152" rIns="73152" tIns="73152" bIns="73152">
            <a:spAutoFit/>
          </a:bodyPr>
          <a:lstStyle/>
          <a:p>
            <a:pPr algn="l"/>
            <a:r>
              <a:rPr sz="1200" b="1">
                <a:solidFill>
                  <a:srgbClr val="16845B"/>
                </a:solidFill>
                <a:latin typeface="Arial"/>
              </a:rPr>
              <a:t>HTTP</a:t>
            </a:r>
          </a:p>
        </p:txBody>
      </p:sp>
      <p:sp>
        <p:nvSpPr>
          <p:cNvPr id="35" name="TextBox 34"/>
          <p:cNvSpPr txBox="1"/>
          <p:nvPr/>
        </p:nvSpPr>
        <p:spPr>
          <a:xfrm>
            <a:off x="9765792" y="2377440"/>
            <a:ext cx="1463040" cy="1005840"/>
          </a:xfrm>
          <a:prstGeom prst="rect">
            <a:avLst/>
          </a:prstGeom>
          <a:noFill/>
        </p:spPr>
        <p:txBody>
          <a:bodyPr wrap="square" anchor="ctr" lIns="73152" rIns="73152" tIns="73152" bIns="73152">
            <a:spAutoFit/>
          </a:bodyPr>
          <a:lstStyle/>
          <a:p>
            <a:pPr algn="l"/>
            <a:r>
              <a:rPr sz="1100" b="0">
                <a:solidFill>
                  <a:srgbClr val="5B6372"/>
                </a:solidFill>
                <a:latin typeface="Arial"/>
              </a:rPr>
              <a:t>External JSON request/response</a:t>
            </a:r>
          </a:p>
        </p:txBody>
      </p:sp>
      <p:sp>
        <p:nvSpPr>
          <p:cNvPr id="36" name="Rounded Rectangle 35"/>
          <p:cNvSpPr/>
          <p:nvPr/>
        </p:nvSpPr>
        <p:spPr>
          <a:xfrm>
            <a:off x="658368" y="3886200"/>
            <a:ext cx="1938528" cy="1755648"/>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 y="3886200"/>
            <a:ext cx="82296" cy="175564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59536" y="4087368"/>
            <a:ext cx="457200" cy="457200"/>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9536" y="408736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7A</a:t>
            </a:r>
          </a:p>
        </p:txBody>
      </p:sp>
      <p:sp>
        <p:nvSpPr>
          <p:cNvPr id="40" name="TextBox 39"/>
          <p:cNvSpPr txBox="1"/>
          <p:nvPr/>
        </p:nvSpPr>
        <p:spPr>
          <a:xfrm>
            <a:off x="1426464" y="4032504"/>
            <a:ext cx="978408" cy="411480"/>
          </a:xfrm>
          <a:prstGeom prst="rect">
            <a:avLst/>
          </a:prstGeom>
          <a:noFill/>
        </p:spPr>
        <p:txBody>
          <a:bodyPr wrap="square" anchor="ctr" lIns="73152" rIns="73152" tIns="73152" bIns="73152">
            <a:spAutoFit/>
          </a:bodyPr>
          <a:lstStyle/>
          <a:p>
            <a:pPr algn="l"/>
            <a:r>
              <a:rPr sz="1200" b="1">
                <a:solidFill>
                  <a:srgbClr val="1F6FEB"/>
                </a:solidFill>
                <a:latin typeface="Arial"/>
              </a:rPr>
              <a:t>Agent</a:t>
            </a:r>
          </a:p>
        </p:txBody>
      </p:sp>
      <p:sp>
        <p:nvSpPr>
          <p:cNvPr id="41" name="TextBox 40"/>
          <p:cNvSpPr txBox="1"/>
          <p:nvPr/>
        </p:nvSpPr>
        <p:spPr>
          <a:xfrm>
            <a:off x="914400" y="4526280"/>
            <a:ext cx="1463040" cy="1005840"/>
          </a:xfrm>
          <a:prstGeom prst="rect">
            <a:avLst/>
          </a:prstGeom>
          <a:noFill/>
        </p:spPr>
        <p:txBody>
          <a:bodyPr wrap="square" anchor="ctr" lIns="73152" rIns="73152" tIns="73152" bIns="73152">
            <a:spAutoFit/>
          </a:bodyPr>
          <a:lstStyle/>
          <a:p>
            <a:pPr algn="l"/>
            <a:r>
              <a:rPr sz="1100" b="0">
                <a:solidFill>
                  <a:srgbClr val="5B6372"/>
                </a:solidFill>
                <a:latin typeface="Arial"/>
              </a:rPr>
              <a:t>Instructions and safe behaviour</a:t>
            </a:r>
          </a:p>
        </p:txBody>
      </p:sp>
      <p:sp>
        <p:nvSpPr>
          <p:cNvPr id="42" name="Rounded Rectangle 41"/>
          <p:cNvSpPr/>
          <p:nvPr/>
        </p:nvSpPr>
        <p:spPr>
          <a:xfrm>
            <a:off x="2871215" y="3886200"/>
            <a:ext cx="1938528" cy="1755648"/>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871215" y="3886200"/>
            <a:ext cx="82296" cy="1755648"/>
          </a:xfrm>
          <a:prstGeom prst="rect">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3072383" y="4087368"/>
            <a:ext cx="457200" cy="457200"/>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072383" y="408736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7B</a:t>
            </a:r>
          </a:p>
        </p:txBody>
      </p:sp>
      <p:sp>
        <p:nvSpPr>
          <p:cNvPr id="46" name="TextBox 45"/>
          <p:cNvSpPr txBox="1"/>
          <p:nvPr/>
        </p:nvSpPr>
        <p:spPr>
          <a:xfrm>
            <a:off x="3639311" y="4032504"/>
            <a:ext cx="978408" cy="411480"/>
          </a:xfrm>
          <a:prstGeom prst="rect">
            <a:avLst/>
          </a:prstGeom>
          <a:noFill/>
        </p:spPr>
        <p:txBody>
          <a:bodyPr wrap="square" anchor="ctr" lIns="73152" rIns="73152" tIns="73152" bIns="73152">
            <a:spAutoFit/>
          </a:bodyPr>
          <a:lstStyle/>
          <a:p>
            <a:pPr algn="l"/>
            <a:r>
              <a:rPr sz="1200" b="1">
                <a:solidFill>
                  <a:srgbClr val="108A73"/>
                </a:solidFill>
                <a:latin typeface="Arial"/>
              </a:rPr>
              <a:t>RAG</a:t>
            </a:r>
          </a:p>
        </p:txBody>
      </p:sp>
      <p:sp>
        <p:nvSpPr>
          <p:cNvPr id="47" name="TextBox 46"/>
          <p:cNvSpPr txBox="1"/>
          <p:nvPr/>
        </p:nvSpPr>
        <p:spPr>
          <a:xfrm>
            <a:off x="3127247" y="4526280"/>
            <a:ext cx="1463040" cy="1005840"/>
          </a:xfrm>
          <a:prstGeom prst="rect">
            <a:avLst/>
          </a:prstGeom>
          <a:noFill/>
        </p:spPr>
        <p:txBody>
          <a:bodyPr wrap="square" anchor="ctr" lIns="73152" rIns="73152" tIns="73152" bIns="73152">
            <a:spAutoFit/>
          </a:bodyPr>
          <a:lstStyle/>
          <a:p>
            <a:pPr algn="l"/>
            <a:r>
              <a:rPr sz="1100" b="0">
                <a:solidFill>
                  <a:srgbClr val="5B6372"/>
                </a:solidFill>
                <a:latin typeface="Arial"/>
              </a:rPr>
              <a:t>Retrieve approved knowledge</a:t>
            </a:r>
          </a:p>
        </p:txBody>
      </p:sp>
      <p:sp>
        <p:nvSpPr>
          <p:cNvPr id="48" name="Rounded Rectangle 47"/>
          <p:cNvSpPr/>
          <p:nvPr/>
        </p:nvSpPr>
        <p:spPr>
          <a:xfrm>
            <a:off x="5084064" y="3886200"/>
            <a:ext cx="1938528" cy="1755648"/>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84064" y="3886200"/>
            <a:ext cx="82296" cy="1755648"/>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285232" y="4087368"/>
            <a:ext cx="457200" cy="457200"/>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285232" y="408736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8</a:t>
            </a:r>
          </a:p>
        </p:txBody>
      </p:sp>
      <p:sp>
        <p:nvSpPr>
          <p:cNvPr id="52" name="TextBox 51"/>
          <p:cNvSpPr txBox="1"/>
          <p:nvPr/>
        </p:nvSpPr>
        <p:spPr>
          <a:xfrm>
            <a:off x="5852160" y="4032504"/>
            <a:ext cx="978408" cy="411480"/>
          </a:xfrm>
          <a:prstGeom prst="rect">
            <a:avLst/>
          </a:prstGeom>
          <a:noFill/>
        </p:spPr>
        <p:txBody>
          <a:bodyPr wrap="square" anchor="ctr" lIns="73152" rIns="73152" tIns="73152" bIns="73152">
            <a:spAutoFit/>
          </a:bodyPr>
          <a:lstStyle/>
          <a:p>
            <a:pPr algn="l"/>
            <a:r>
              <a:rPr sz="1200" b="1">
                <a:solidFill>
                  <a:srgbClr val="6D3FD2"/>
                </a:solidFill>
                <a:latin typeface="Arial"/>
              </a:rPr>
              <a:t>Channels</a:t>
            </a:r>
          </a:p>
        </p:txBody>
      </p:sp>
      <p:sp>
        <p:nvSpPr>
          <p:cNvPr id="53" name="TextBox 52"/>
          <p:cNvSpPr txBox="1"/>
          <p:nvPr/>
        </p:nvSpPr>
        <p:spPr>
          <a:xfrm>
            <a:off x="5340096" y="4526280"/>
            <a:ext cx="1463040" cy="1005840"/>
          </a:xfrm>
          <a:prstGeom prst="rect">
            <a:avLst/>
          </a:prstGeom>
          <a:noFill/>
        </p:spPr>
        <p:txBody>
          <a:bodyPr wrap="square" anchor="ctr" lIns="73152" rIns="73152" tIns="73152" bIns="73152">
            <a:spAutoFit/>
          </a:bodyPr>
          <a:lstStyle/>
          <a:p>
            <a:pPr algn="l"/>
            <a:r>
              <a:rPr sz="1100" b="0">
                <a:solidFill>
                  <a:srgbClr val="5B6372"/>
                </a:solidFill>
                <a:latin typeface="Arial"/>
              </a:rPr>
              <a:t>Publish to Teams and website</a:t>
            </a:r>
          </a:p>
        </p:txBody>
      </p:sp>
      <p:sp>
        <p:nvSpPr>
          <p:cNvPr id="54" name="Rounded Rectangle 53"/>
          <p:cNvSpPr/>
          <p:nvPr/>
        </p:nvSpPr>
        <p:spPr>
          <a:xfrm>
            <a:off x="7296912" y="3886200"/>
            <a:ext cx="1938528" cy="1755648"/>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296912" y="3886200"/>
            <a:ext cx="82296" cy="1755648"/>
          </a:xfrm>
          <a:prstGeom prst="rect">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7498080" y="4087368"/>
            <a:ext cx="457200" cy="457200"/>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80" y="408736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9</a:t>
            </a:r>
          </a:p>
        </p:txBody>
      </p:sp>
      <p:sp>
        <p:nvSpPr>
          <p:cNvPr id="58" name="TextBox 57"/>
          <p:cNvSpPr txBox="1"/>
          <p:nvPr/>
        </p:nvSpPr>
        <p:spPr>
          <a:xfrm>
            <a:off x="8065008" y="4032504"/>
            <a:ext cx="978408" cy="411480"/>
          </a:xfrm>
          <a:prstGeom prst="rect">
            <a:avLst/>
          </a:prstGeom>
          <a:noFill/>
        </p:spPr>
        <p:txBody>
          <a:bodyPr wrap="square" anchor="ctr" lIns="73152" rIns="73152" tIns="73152" bIns="73152">
            <a:spAutoFit/>
          </a:bodyPr>
          <a:lstStyle/>
          <a:p>
            <a:pPr algn="l"/>
            <a:r>
              <a:rPr sz="1200" b="1">
                <a:solidFill>
                  <a:srgbClr val="C77600"/>
                </a:solidFill>
                <a:latin typeface="Arial"/>
              </a:rPr>
              <a:t>Agent flow</a:t>
            </a:r>
          </a:p>
        </p:txBody>
      </p:sp>
      <p:sp>
        <p:nvSpPr>
          <p:cNvPr id="59" name="TextBox 58"/>
          <p:cNvSpPr txBox="1"/>
          <p:nvPr/>
        </p:nvSpPr>
        <p:spPr>
          <a:xfrm>
            <a:off x="7552944" y="4526280"/>
            <a:ext cx="1463040" cy="1005840"/>
          </a:xfrm>
          <a:prstGeom prst="rect">
            <a:avLst/>
          </a:prstGeom>
          <a:noFill/>
        </p:spPr>
        <p:txBody>
          <a:bodyPr wrap="square" anchor="ctr" lIns="73152" rIns="73152" tIns="73152" bIns="73152">
            <a:spAutoFit/>
          </a:bodyPr>
          <a:lstStyle/>
          <a:p>
            <a:pPr algn="l"/>
            <a:r>
              <a:rPr sz="1100" b="0">
                <a:solidFill>
                  <a:srgbClr val="5B6372"/>
                </a:solidFill>
                <a:latin typeface="Arial"/>
              </a:rPr>
              <a:t>Deterministic tool call</a:t>
            </a:r>
          </a:p>
        </p:txBody>
      </p:sp>
      <p:sp>
        <p:nvSpPr>
          <p:cNvPr id="60" name="Rounded Rectangle 59"/>
          <p:cNvSpPr/>
          <p:nvPr/>
        </p:nvSpPr>
        <p:spPr>
          <a:xfrm>
            <a:off x="9509760" y="3886200"/>
            <a:ext cx="1938528" cy="1755648"/>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509760" y="3886200"/>
            <a:ext cx="82296" cy="1755648"/>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9710928" y="4087368"/>
            <a:ext cx="457200" cy="45720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710928" y="408736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10</a:t>
            </a:r>
          </a:p>
        </p:txBody>
      </p:sp>
      <p:sp>
        <p:nvSpPr>
          <p:cNvPr id="64" name="TextBox 63"/>
          <p:cNvSpPr txBox="1"/>
          <p:nvPr/>
        </p:nvSpPr>
        <p:spPr>
          <a:xfrm>
            <a:off x="10277856" y="4032504"/>
            <a:ext cx="978408" cy="411480"/>
          </a:xfrm>
          <a:prstGeom prst="rect">
            <a:avLst/>
          </a:prstGeom>
          <a:noFill/>
        </p:spPr>
        <p:txBody>
          <a:bodyPr wrap="square" anchor="ctr" lIns="73152" rIns="73152" tIns="73152" bIns="73152">
            <a:spAutoFit/>
          </a:bodyPr>
          <a:lstStyle/>
          <a:p>
            <a:pPr algn="l"/>
            <a:r>
              <a:rPr sz="1200" b="1">
                <a:solidFill>
                  <a:srgbClr val="16845B"/>
                </a:solidFill>
                <a:latin typeface="Arial"/>
              </a:rPr>
              <a:t>Prompt flow</a:t>
            </a:r>
          </a:p>
        </p:txBody>
      </p:sp>
      <p:sp>
        <p:nvSpPr>
          <p:cNvPr id="65" name="TextBox 64"/>
          <p:cNvSpPr txBox="1"/>
          <p:nvPr/>
        </p:nvSpPr>
        <p:spPr>
          <a:xfrm>
            <a:off x="9765792" y="4526280"/>
            <a:ext cx="1463040" cy="1005840"/>
          </a:xfrm>
          <a:prstGeom prst="rect">
            <a:avLst/>
          </a:prstGeom>
          <a:noFill/>
        </p:spPr>
        <p:txBody>
          <a:bodyPr wrap="square" anchor="ctr" lIns="73152" rIns="73152" tIns="73152" bIns="73152">
            <a:spAutoFit/>
          </a:bodyPr>
          <a:lstStyle/>
          <a:p>
            <a:pPr algn="l"/>
            <a:r>
              <a:rPr sz="1100" b="0">
                <a:solidFill>
                  <a:srgbClr val="5B6372"/>
                </a:solidFill>
                <a:latin typeface="Arial"/>
              </a:rPr>
              <a:t>Guarded AI generation</a:t>
            </a:r>
          </a:p>
        </p:txBody>
      </p:sp>
      <p:sp>
        <p:nvSpPr>
          <p:cNvPr id="66" name="TextBox 65"/>
          <p:cNvSpPr txBox="1"/>
          <p:nvPr/>
        </p:nvSpPr>
        <p:spPr>
          <a:xfrm>
            <a:off x="658368" y="5980176"/>
            <a:ext cx="10835640" cy="310896"/>
          </a:xfrm>
          <a:prstGeom prst="rect">
            <a:avLst/>
          </a:prstGeom>
          <a:noFill/>
        </p:spPr>
        <p:txBody>
          <a:bodyPr wrap="square" anchor="ctr" lIns="73152" rIns="73152" tIns="73152" bIns="73152">
            <a:spAutoFit/>
          </a:bodyPr>
          <a:lstStyle/>
          <a:p>
            <a:pPr algn="ctr"/>
            <a:r>
              <a:rPr sz="1400" b="1">
                <a:solidFill>
                  <a:srgbClr val="161B26"/>
                </a:solidFill>
                <a:latin typeface="Arial"/>
              </a:rPr>
              <a:t>Each lab reuses the previous capability; complexity increases one controlled step at a time.</a:t>
            </a:r>
          </a:p>
        </p:txBody>
      </p:sp>
      <p:sp>
        <p:nvSpPr>
          <p:cNvPr id="67" name="TextBox 66"/>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8</a:t>
            </a:r>
          </a:p>
        </p:txBody>
      </p:sp>
    </p:spTree>
    <p:extLst>
      <p:ext uri="{BB962C8B-B14F-4D97-AF65-F5344CB8AC3E}">
        <p14:creationId xmlns:p14="http://schemas.microsoft.com/office/powerpoint/2010/main" val="11002393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13AA7-4DA7-CC16-826D-ADE731091BB5}"/>
              </a:ext>
            </a:extLst>
          </p:cNvPr>
          <p:cNvSpPr>
            <a:spLocks noGrp="1"/>
          </p:cNvSpPr>
          <p:nvPr>
            <p:ph type="title"/>
          </p:nvPr>
        </p:nvSpPr>
        <p:spPr/>
        <p:txBody>
          <a:bodyPr/>
          <a:lstStyle/>
          <a:p>
            <a:r>
              <a:rPr lang="en-US"/>
              <a:t>How This Course Works</a:t>
            </a:r>
          </a:p>
        </p:txBody>
      </p:sp>
      <p:sp>
        <p:nvSpPr>
          <p:cNvPr id="3" name="Content Placeholder 2">
            <a:extLst>
              <a:ext uri="{FF2B5EF4-FFF2-40B4-BE49-F238E27FC236}">
                <a16:creationId xmlns:a16="http://schemas.microsoft.com/office/drawing/2014/main" id="{7B3224E6-4588-00FC-0A91-30E022E8DF8B}"/>
              </a:ext>
            </a:extLst>
          </p:cNvPr>
          <p:cNvSpPr>
            <a:spLocks noGrp="1"/>
          </p:cNvSpPr>
          <p:nvPr>
            <p:ph idx="1"/>
          </p:nvPr>
        </p:nvSpPr>
        <p:spPr/>
        <p:txBody>
          <a:bodyPr>
            <a:normAutofit/>
          </a:bodyPr>
          <a:lstStyle/>
          <a:p>
            <a:r>
              <a:rPr lang="en-US" sz="1800"/>
              <a:t>Concept, then demo, then hands-on — for every topic
Built entirely in Microsoft 365 and the Power Platform
No coding required — low-code, drag-and-drop tools
Save your flows and agents to reuse in your own role
Daily recap and open Q&amp;A to lock in what you learned</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extLst>
      <p:ext uri="{BB962C8B-B14F-4D97-AF65-F5344CB8AC3E}">
        <p14:creationId xmlns:p14="http://schemas.microsoft.com/office/powerpoint/2010/main" val="2259203294"/>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2 Days, 9:00am–6:00pm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 &amp; assessment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800"/>
              </a:spcAft>
            </a:pPr>
            <a:r>
              <a:rPr sz="1500">
                <a:solidFill>
                  <a:srgbClr val="161B26"/>
                </a:solidFill>
                <a:latin typeface="Arial"/>
              </a:rPr>
              <a:t>•  Day 1 — Foundations &amp; Power Automate</a:t>
            </a:r>
          </a:p>
          <a:p>
            <a:pPr>
              <a:spcAft>
                <a:spcPts val="800"/>
              </a:spcAft>
            </a:pPr>
            <a:r>
              <a:rPr sz="1300">
                <a:solidFill>
                  <a:srgbClr val="5B6372"/>
                </a:solidFill>
                <a:latin typeface="Arial"/>
              </a:rPr>
              <a:t>–  Modules 1–2: workflow concepts, Power Automate</a:t>
            </a:r>
          </a:p>
          <a:p>
            <a:pPr>
              <a:spcAft>
                <a:spcPts val="800"/>
              </a:spcAft>
            </a:pPr>
            <a:r>
              <a:rPr sz="1300">
                <a:solidFill>
                  <a:srgbClr val="5B6372"/>
                </a:solidFill>
                <a:latin typeface="Arial"/>
              </a:rPr>
              <a:t>–  Labs 0–5: email, Excel logging, approval, scheduled, form flows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800"/>
              </a:spcAft>
            </a:pPr>
            <a:r>
              <a:rPr sz="1500">
                <a:solidFill>
                  <a:srgbClr val="161B26"/>
                </a:solidFill>
                <a:latin typeface="Arial"/>
              </a:rPr>
              <a:t>•  Day 2 — Business Agents with Copilot Studio</a:t>
            </a:r>
          </a:p>
          <a:p>
            <a:pPr>
              <a:spcAft>
                <a:spcPts val="800"/>
              </a:spcAft>
            </a:pPr>
            <a:r>
              <a:rPr sz="1300">
                <a:solidFill>
                  <a:srgbClr val="5B6372"/>
                </a:solidFill>
                <a:latin typeface="Arial"/>
              </a:rPr>
              <a:t>–  Module 3: agents, prompts, agent + flow</a:t>
            </a:r>
          </a:p>
          <a:p>
            <a:pPr>
              <a:spcAft>
                <a:spcPts val="800"/>
              </a:spcAft>
            </a:pPr>
            <a:r>
              <a:rPr sz="1300">
                <a:solidFill>
                  <a:srgbClr val="5B6372"/>
                </a:solidFill>
                <a:latin typeface="Arial"/>
              </a:rPr>
              <a:t>–  Labs 6–11: first agent, knowledge (RAG), tools, agent flows</a:t>
            </a:r>
          </a:p>
          <a:p>
            <a:pPr>
              <a:spcAft>
                <a:spcPts val="800"/>
              </a:spcAft>
            </a:pPr>
            <a:r>
              <a:rPr sz="1500">
                <a:solidFill>
                  <a:srgbClr val="161B26"/>
                </a:solidFill>
                <a:latin typeface="Arial"/>
              </a:rPr>
              <a:t>•  Assessment (Day 2, 4:00–6:00pm)</a:t>
            </a:r>
          </a:p>
          <a:p>
            <a:pPr>
              <a:spcAft>
                <a:spcPts val="800"/>
              </a:spcAft>
            </a:pPr>
            <a:r>
              <a:rPr sz="1300">
                <a:solidFill>
                  <a:srgbClr val="5B6372"/>
                </a:solidFill>
                <a:latin typeface="Arial"/>
              </a:rPr>
              <a:t>–  Written Assessment 1 hr + Practical Performance 1 hr</a:t>
            </a:r>
          </a:p>
          <a:p>
            <a:pPr>
              <a:spcAft>
                <a:spcPts val="800"/>
              </a:spcAft>
            </a:pPr>
            <a:r>
              <a:rPr sz="1500">
                <a:solidFill>
                  <a:srgbClr val="161B26"/>
                </a:solidFill>
                <a:latin typeface="Arial"/>
              </a:rPr>
              <a:t>•  Daily timing</a:t>
            </a:r>
          </a:p>
          <a:p>
            <a:pPr>
              <a:spcAft>
                <a:spcPts val="800"/>
              </a:spcAft>
            </a:pPr>
            <a:r>
              <a:rPr sz="1300">
                <a:solidFill>
                  <a:srgbClr val="5B6372"/>
                </a:solidFill>
                <a:latin typeface="Arial"/>
              </a:rPr>
              <a:t>–  9:00am–6:00pm · 1-hour lunch · tea breaks within</a:t>
            </a:r>
          </a:p>
        </p:txBody>
      </p:sp>
      <p:sp>
        <p:nvSpPr>
          <p:cNvPr id="13" name="TextBox 12"/>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14" name="TextBox 13"/>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THE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a:solidFill>
                  <a:srgbClr val="161B26"/>
                </a:solidFill>
                <a:latin typeface="Arial"/>
              </a:rPr>
              <a:t>•  Place phones and other materials under the table or on the floor.</a:t>
            </a:r>
          </a:p>
          <a:p>
            <a:pPr>
              <a:spcAft>
                <a:spcPts val="1000"/>
              </a:spcAft>
            </a:pPr>
            <a:r>
              <a:rPr sz="1800">
                <a:solidFill>
                  <a:srgbClr val="161B26"/>
                </a:solidFill>
                <a:latin typeface="Arial"/>
              </a:rPr>
              <a:t>•  No photos or recording of assessment scripts.</a:t>
            </a:r>
          </a:p>
          <a:p>
            <a:pPr>
              <a:spcAft>
                <a:spcPts val="1000"/>
              </a:spcAft>
            </a:pPr>
            <a:r>
              <a:rPr sz="1800">
                <a:solidFill>
                  <a:srgbClr val="161B26"/>
                </a:solidFill>
                <a:latin typeface="Arial"/>
              </a:rPr>
              <a:t>•  No discussion during the assessment.</a:t>
            </a:r>
          </a:p>
          <a:p>
            <a:pPr>
              <a:spcAft>
                <a:spcPts val="1000"/>
              </a:spcAft>
            </a:pPr>
            <a:r>
              <a:rPr sz="1800">
                <a:solidFill>
                  <a:srgbClr val="161B26"/>
                </a:solidFill>
                <a:latin typeface="Arial"/>
              </a:rPr>
              <a:t>•  Use a black/blue pen for hard-copy assessments.</a:t>
            </a:r>
          </a:p>
          <a:p>
            <a:pPr>
              <a:spcAft>
                <a:spcPts val="1000"/>
              </a:spcAft>
            </a:pPr>
            <a:r>
              <a:rPr sz="1800">
                <a:solidFill>
                  <a:srgbClr val="161B26"/>
                </a:solidFill>
                <a:latin typeface="Arial"/>
              </a:rPr>
              <a:t>•  No liquid paper / correction tape.</a:t>
            </a:r>
          </a:p>
          <a:p>
            <a:pPr>
              <a:spcAft>
                <a:spcPts val="1000"/>
              </a:spcAft>
            </a:pPr>
            <a:r>
              <a:rPr sz="1800">
                <a:solidFill>
                  <a:srgbClr val="161B26"/>
                </a:solidFill>
                <a:latin typeface="Arial"/>
              </a:rPr>
              <a:t>•  Scripts are collected when time is up.</a:t>
            </a:r>
          </a:p>
        </p:txBody>
      </p:sp>
      <p:sp>
        <p:nvSpPr>
          <p:cNvPr id="8" name="TextBox 7"/>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9" name="TextBox 8"/>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&amp;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a:solidFill>
                  <a:srgbClr val="161B26"/>
                </a:solidFill>
                <a:latin typeface="Arial"/>
              </a:rPr>
              <a:t>•  Written Assessment (SAQ) — 1 hour, open book. Tests the knowledge from Modules 1–3.</a:t>
            </a:r>
          </a:p>
          <a:p>
            <a:pPr>
              <a:spcAft>
                <a:spcPts val="1000"/>
              </a:spcAft>
            </a:pPr>
            <a:r>
              <a:rPr sz="1800">
                <a:solidFill>
                  <a:srgbClr val="161B26"/>
                </a:solidFill>
                <a:latin typeface="Arial"/>
              </a:rPr>
              <a:t>•  Practical Performance (PP) — 1 hour, open book. You build a working flow + agent, as in the labs.</a:t>
            </a:r>
          </a:p>
          <a:p>
            <a:pPr>
              <a:spcAft>
                <a:spcPts val="1000"/>
              </a:spcAft>
            </a:pPr>
            <a:r>
              <a:rPr sz="1800">
                <a:solidFill>
                  <a:srgbClr val="161B26"/>
                </a:solidFill>
                <a:latin typeface="Arial"/>
              </a:rPr>
              <a:t>•  Both are taken on Day 2, 4:00–6:00pm, and submitted on the LMS.</a:t>
            </a:r>
          </a:p>
          <a:p>
            <a:pPr>
              <a:spcAft>
                <a:spcPts val="1000"/>
              </a:spcAft>
            </a:pPr>
            <a:r>
              <a:rPr sz="1800">
                <a:solidFill>
                  <a:srgbClr val="161B26"/>
                </a:solidFill>
                <a:latin typeface="Arial"/>
              </a:rPr>
              <a:t>•  WSQ funding requires 75% attendance AND passing the assessment (Competent).</a:t>
            </a:r>
          </a:p>
          <a:p>
            <a:pPr>
              <a:spcAft>
                <a:spcPts val="1000"/>
              </a:spcAft>
            </a:pPr>
            <a:r>
              <a:rPr sz="1800">
                <a:solidFill>
                  <a:srgbClr val="161B26"/>
                </a:solidFill>
                <a:latin typeface="Arial"/>
              </a:rPr>
              <a:t>•  Courseware and the assessment are on the LMS: https://lms-tms.tertiaryinfotech.com/</a:t>
            </a:r>
          </a:p>
        </p:txBody>
      </p:sp>
      <p:sp>
        <p:nvSpPr>
          <p:cNvPr id="8" name="TextBox 7"/>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9" name="TextBox 8"/>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37" name="TextBox 36"/>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REPOSITORY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Access the Hands-On Labs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57200"/>
          </a:xfrm>
          <a:prstGeom prst="rect">
            <a:avLst/>
          </a:prstGeom>
          <a:noFill/>
        </p:spPr>
        <p:txBody>
          <a:bodyPr wrap="square" anchor="t">
            <a:spAutoFit/>
          </a:bodyPr>
          <a:lstStyle/>
          <a:p>
            <a:pPr algn="l">
              <a:spcAft>
                <a:spcPts val="400"/>
              </a:spcAft>
            </a:pPr>
            <a:r>
              <a:rPr sz="1600" b="0">
                <a:solidFill>
                  <a:srgbClr val="161B26"/>
                </a:solidFill>
                <a:latin typeface="Arial"/>
              </a:rPr>
              <a:t>All 12 labs (Labs 0–11) + the Learner Guide live in the course GitHub repository:</a:t>
            </a:r>
          </a:p>
        </p:txBody>
      </p:sp>
      <p:sp>
        <p:nvSpPr>
          <p:cNvPr id="8" name="TextBox 7"/>
          <p:cNvSpPr txBox="1"/>
          <p:nvPr/>
        </p:nvSpPr>
        <p:spPr>
          <a:xfrm>
            <a:off x="777240" y="2240280"/>
            <a:ext cx="10607040" cy="457200"/>
          </a:xfrm>
          <a:prstGeom prst="rect">
            <a:avLst/>
          </a:prstGeom>
          <a:noFill/>
        </p:spPr>
        <p:txBody>
          <a:bodyPr wrap="none">
            <a:spAutoFit/>
          </a:bodyPr>
          <a:lstStyle/>
          <a:p>
            <a:r>
              <a:rPr sz="1500" b="1">
                <a:solidFill>
                  <a:srgbClr val="1F6FEB"/>
                </a:solidFill>
                <a:latin typeface="Arial"/>
                <a:hlinkClick r:id="rId2"/>
              </a:rPr>
              <a:t>github.com/tertiarycourses/TGS-2022017524---Business-Process-Automation-with-Power-Automate-and-Copilot-Studio-Agents</a:t>
            </a:r>
          </a:p>
        </p:txBody>
      </p:sp>
      <p:sp>
        <p:nvSpPr>
          <p:cNvPr id="9" name="Rectangle 8"/>
          <p:cNvSpPr/>
          <p:nvPr/>
        </p:nvSpPr>
        <p:spPr>
          <a:xfrm>
            <a:off x="777240" y="2926080"/>
            <a:ext cx="5074920" cy="3017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926080"/>
            <a:ext cx="507492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154680"/>
            <a:ext cx="4617720" cy="457200"/>
          </a:xfrm>
          <a:prstGeom prst="rect">
            <a:avLst/>
          </a:prstGeom>
          <a:noFill/>
        </p:spPr>
        <p:txBody>
          <a:bodyPr wrap="square" anchor="t">
            <a:spAutoFit/>
          </a:bodyPr>
          <a:lstStyle/>
          <a:p>
            <a:pPr algn="l">
              <a:spcAft>
                <a:spcPts val="400"/>
              </a:spcAft>
            </a:pPr>
            <a:r>
              <a:rPr sz="1700" b="1">
                <a:solidFill>
                  <a:srgbClr val="1F6FEB"/>
                </a:solidFill>
                <a:latin typeface="Arial"/>
              </a:rPr>
              <a:t>Option A — Clone with Git</a:t>
            </a:r>
          </a:p>
        </p:txBody>
      </p:sp>
      <p:sp>
        <p:nvSpPr>
          <p:cNvPr id="12" name="TextBox 11"/>
          <p:cNvSpPr txBox="1"/>
          <p:nvPr/>
        </p:nvSpPr>
        <p:spPr>
          <a:xfrm>
            <a:off x="1005840" y="3703320"/>
            <a:ext cx="4617720" cy="2103120"/>
          </a:xfrm>
          <a:prstGeom prst="rect">
            <a:avLst/>
          </a:prstGeom>
          <a:noFill/>
        </p:spPr>
        <p:txBody>
          <a:bodyPr wrap="square">
            <a:spAutoFit/>
          </a:bodyPr>
          <a:lstStyle/>
          <a:p>
            <a:pPr>
              <a:spcAft>
                <a:spcPts val="800"/>
              </a:spcAft>
            </a:pPr>
            <a:r>
              <a:rPr sz="1400">
                <a:solidFill>
                  <a:srgbClr val="161B26"/>
                </a:solidFill>
                <a:latin typeface="Arial"/>
              </a:rPr>
              <a:t>•  Install Git (git-scm.com) if needed.</a:t>
            </a:r>
          </a:p>
          <a:p>
            <a:pPr>
              <a:spcAft>
                <a:spcPts val="800"/>
              </a:spcAft>
            </a:pPr>
            <a:r>
              <a:rPr sz="1400">
                <a:solidFill>
                  <a:srgbClr val="161B26"/>
                </a:solidFill>
                <a:latin typeface="Arial"/>
              </a:rPr>
              <a:t>•  git clone &lt;repo URL&gt;.git</a:t>
            </a:r>
          </a:p>
          <a:p>
            <a:pPr>
              <a:spcAft>
                <a:spcPts val="800"/>
              </a:spcAft>
            </a:pPr>
            <a:r>
              <a:rPr sz="1400">
                <a:solidFill>
                  <a:srgbClr val="161B26"/>
                </a:solidFill>
                <a:latin typeface="Arial"/>
              </a:rPr>
              <a:t>•  Open the labs/ folder in your editor or browser.</a:t>
            </a:r>
          </a:p>
        </p:txBody>
      </p:sp>
      <p:sp>
        <p:nvSpPr>
          <p:cNvPr id="13" name="Rectangle 12"/>
          <p:cNvSpPr/>
          <p:nvPr/>
        </p:nvSpPr>
        <p:spPr>
          <a:xfrm>
            <a:off x="6355080" y="2926080"/>
            <a:ext cx="5074920" cy="3017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2926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3154680"/>
            <a:ext cx="4617720" cy="457200"/>
          </a:xfrm>
          <a:prstGeom prst="rect">
            <a:avLst/>
          </a:prstGeom>
          <a:noFill/>
        </p:spPr>
        <p:txBody>
          <a:bodyPr wrap="square" anchor="t">
            <a:spAutoFit/>
          </a:bodyPr>
          <a:lstStyle/>
          <a:p>
            <a:pPr algn="l">
              <a:spcAft>
                <a:spcPts val="400"/>
              </a:spcAft>
            </a:pPr>
            <a:r>
              <a:rPr sz="1700" b="1">
                <a:solidFill>
                  <a:srgbClr val="10B981"/>
                </a:solidFill>
                <a:latin typeface="Arial"/>
              </a:rPr>
              <a:t>Option B — Download the ZIP</a:t>
            </a:r>
          </a:p>
        </p:txBody>
      </p:sp>
      <p:sp>
        <p:nvSpPr>
          <p:cNvPr id="16" name="TextBox 15"/>
          <p:cNvSpPr txBox="1"/>
          <p:nvPr/>
        </p:nvSpPr>
        <p:spPr>
          <a:xfrm>
            <a:off x="6583680" y="3703320"/>
            <a:ext cx="4617720" cy="2103120"/>
          </a:xfrm>
          <a:prstGeom prst="rect">
            <a:avLst/>
          </a:prstGeom>
          <a:noFill/>
        </p:spPr>
        <p:txBody>
          <a:bodyPr wrap="square">
            <a:spAutoFit/>
          </a:bodyPr>
          <a:lstStyle/>
          <a:p>
            <a:pPr>
              <a:spcAft>
                <a:spcPts val="800"/>
              </a:spcAft>
            </a:pPr>
            <a:r>
              <a:rPr sz="1400">
                <a:solidFill>
                  <a:srgbClr val="161B26"/>
                </a:solidFill>
                <a:latin typeface="Arial"/>
              </a:rPr>
              <a:t>•  Open the repo URL in your browser.</a:t>
            </a:r>
          </a:p>
          <a:p>
            <a:pPr>
              <a:spcAft>
                <a:spcPts val="800"/>
              </a:spcAft>
            </a:pPr>
            <a:r>
              <a:rPr sz="1400">
                <a:solidFill>
                  <a:srgbClr val="161B26"/>
                </a:solidFill>
                <a:latin typeface="Arial"/>
              </a:rPr>
              <a:t>•  Code → Download ZIP, then unzip.</a:t>
            </a:r>
          </a:p>
          <a:p>
            <a:pPr>
              <a:spcAft>
                <a:spcPts val="800"/>
              </a:spcAft>
            </a:pPr>
            <a:r>
              <a:rPr sz="1400">
                <a:solidFill>
                  <a:srgbClr val="161B26"/>
                </a:solidFill>
                <a:latin typeface="Arial"/>
              </a:rPr>
              <a:t>•  Open labs/ and follow each lab's index.md.</a:t>
            </a:r>
          </a:p>
        </p:txBody>
      </p:sp>
      <p:sp>
        <p:nvSpPr>
          <p:cNvPr id="17" name="TextBox 16"/>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18" name="TextBox 17"/>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6566B-DDB3-D4E9-286D-8A7355B36992}"/>
              </a:ext>
            </a:extLst>
          </p:cNvPr>
          <p:cNvSpPr>
            <a:spLocks noGrp="1"/>
          </p:cNvSpPr>
          <p:nvPr>
            <p:ph type="title"/>
          </p:nvPr>
        </p:nvSpPr>
        <p:spPr/>
        <p:txBody>
          <a:bodyPr/>
          <a:lstStyle/>
          <a:p>
            <a:r>
              <a:rPr lang="en-US"/>
              <a:t>Day 1 — Foundations &amp; Power Automate</a:t>
            </a:r>
          </a:p>
        </p:txBody>
      </p:sp>
      <p:sp>
        <p:nvSpPr>
          <p:cNvPr id="3" name="Text Placeholder 2">
            <a:extLst>
              <a:ext uri="{FF2B5EF4-FFF2-40B4-BE49-F238E27FC236}">
                <a16:creationId xmlns:a16="http://schemas.microsoft.com/office/drawing/2014/main" id="{A4F2EA11-3469-BCFF-0FC0-4A7CEAAE105C}"/>
              </a:ext>
            </a:extLst>
          </p:cNvPr>
          <p:cNvSpPr>
            <a:spLocks noGrp="1"/>
          </p:cNvSpPr>
          <p:nvPr>
            <p:ph type="body" idx="1"/>
          </p:nvPr>
        </p:nvSpPr>
        <p:spPr/>
        <p:txBody>
          <a:bodyPr>
            <a:normAutofit/>
          </a:bodyPr>
          <a:lstStyle/>
          <a:p>
            <a:r>
              <a:rPr lang="en-US" sz="1800" b="1">
                <a:solidFill>
                  <a:srgbClr val="7C3AED"/>
                </a:solidFill>
              </a:rPr>
              <a:t>Modules 1 &amp; 2  ·  Understand automation, then build your first flows</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extLst>
      <p:ext uri="{BB962C8B-B14F-4D97-AF65-F5344CB8AC3E}">
        <p14:creationId xmlns:p14="http://schemas.microsoft.com/office/powerpoint/2010/main" val="20294707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F3D06-570F-FD7F-3645-923649493285}"/>
              </a:ext>
            </a:extLst>
          </p:cNvPr>
          <p:cNvSpPr>
            <a:spLocks noGrp="1"/>
          </p:cNvSpPr>
          <p:nvPr>
            <p:ph type="title"/>
          </p:nvPr>
        </p:nvSpPr>
        <p:spPr/>
        <p:txBody>
          <a:bodyPr/>
          <a:lstStyle/>
          <a:p>
            <a:r>
              <a:rPr lang="en-US"/>
              <a:t>Module 1 · Introduction to Workflow Automation</a:t>
            </a:r>
          </a:p>
        </p:txBody>
      </p:sp>
      <p:sp>
        <p:nvSpPr>
          <p:cNvPr id="3" name="Text Placeholder 2">
            <a:extLst>
              <a:ext uri="{FF2B5EF4-FFF2-40B4-BE49-F238E27FC236}">
                <a16:creationId xmlns:a16="http://schemas.microsoft.com/office/drawing/2014/main" id="{01B7D423-F9EF-3654-C117-BB37D8EA943C}"/>
              </a:ext>
            </a:extLst>
          </p:cNvPr>
          <p:cNvSpPr>
            <a:spLocks noGrp="1"/>
          </p:cNvSpPr>
          <p:nvPr>
            <p:ph type="body" idx="1"/>
          </p:nvPr>
        </p:nvSpPr>
        <p:spPr/>
        <p:txBody>
          <a:bodyPr>
            <a:normAutofit/>
          </a:bodyPr>
          <a:lstStyle/>
          <a:p>
            <a:r>
              <a:rPr lang="en-US" sz="1800" b="1">
                <a:solidFill>
                  <a:srgbClr val="7C3AED"/>
                </a:solidFill>
              </a:rPr>
              <a:t>Why automate, and the building blocks behind every workflow</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extLst>
      <p:ext uri="{BB962C8B-B14F-4D97-AF65-F5344CB8AC3E}">
        <p14:creationId xmlns:p14="http://schemas.microsoft.com/office/powerpoint/2010/main" val="22939729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8F3E1D-8293-17EA-02D6-126EFD28E80F}"/>
              </a:ext>
            </a:extLst>
          </p:cNvPr>
          <p:cNvSpPr>
            <a:spLocks noGrp="1"/>
          </p:cNvSpPr>
          <p:nvPr>
            <p:ph type="title"/>
          </p:nvPr>
        </p:nvSpPr>
        <p:spPr/>
        <p:txBody>
          <a:bodyPr/>
          <a:lstStyle/>
          <a:p>
            <a:r>
              <a:rPr lang="en-US"/>
              <a:t>What Is Business Workflow Automation?</a:t>
            </a:r>
          </a:p>
        </p:txBody>
      </p:sp>
      <p:sp>
        <p:nvSpPr>
          <p:cNvPr id="3" name="Content Placeholder 2">
            <a:extLst>
              <a:ext uri="{FF2B5EF4-FFF2-40B4-BE49-F238E27FC236}">
                <a16:creationId xmlns:a16="http://schemas.microsoft.com/office/drawing/2014/main" id="{635CBD14-D291-22AB-6BBC-F33D92DC2BEA}"/>
              </a:ext>
            </a:extLst>
          </p:cNvPr>
          <p:cNvSpPr>
            <a:spLocks noGrp="1"/>
          </p:cNvSpPr>
          <p:nvPr>
            <p:ph idx="1"/>
          </p:nvPr>
        </p:nvSpPr>
        <p:spPr/>
        <p:txBody>
          <a:bodyPr>
            <a:normAutofit/>
          </a:bodyPr>
          <a:lstStyle/>
          <a:p>
            <a:r>
              <a:rPr lang="en-US" sz="1800"/>
              <a:t>A workflow is a repeatable series of steps that gets work done
Automation lets software run those steps for you
It replaces manual, repetitive tasks — copying data, sending emails, chasing approvals
Runs reliably and consistently, with far fewer errors
People focus on judgement; software handles the routine</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extLst>
      <p:ext uri="{BB962C8B-B14F-4D97-AF65-F5344CB8AC3E}">
        <p14:creationId xmlns:p14="http://schemas.microsoft.com/office/powerpoint/2010/main" val="25070225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9970F-766C-166A-5620-4126F34ABFF3}"/>
              </a:ext>
            </a:extLst>
          </p:cNvPr>
          <p:cNvSpPr>
            <a:spLocks noGrp="1"/>
          </p:cNvSpPr>
          <p:nvPr>
            <p:ph type="title"/>
          </p:nvPr>
        </p:nvSpPr>
        <p:spPr/>
        <p:txBody>
          <a:bodyPr/>
          <a:lstStyle/>
          <a:p>
            <a:r>
              <a:rPr lang="en-US"/>
              <a:t>Why Automate?</a:t>
            </a:r>
          </a:p>
        </p:txBody>
      </p:sp>
      <p:sp>
        <p:nvSpPr>
          <p:cNvPr id="3" name="Content Placeholder 2">
            <a:extLst>
              <a:ext uri="{FF2B5EF4-FFF2-40B4-BE49-F238E27FC236}">
                <a16:creationId xmlns:a16="http://schemas.microsoft.com/office/drawing/2014/main" id="{98BCE675-06D6-7CA1-31B0-216798C26704}"/>
              </a:ext>
            </a:extLst>
          </p:cNvPr>
          <p:cNvSpPr>
            <a:spLocks noGrp="1"/>
          </p:cNvSpPr>
          <p:nvPr>
            <p:ph idx="1"/>
          </p:nvPr>
        </p:nvSpPr>
        <p:spPr/>
        <p:txBody>
          <a:bodyPr>
            <a:normAutofit/>
          </a:bodyPr>
          <a:lstStyle/>
          <a:p>
            <a:r>
              <a:rPr lang="en-US" sz="1800"/>
              <a:t>Save time — reclaim hours of manual work every week
Reduce errors — consistent, rule-based execution every time
Respond faster — instant notifications and approvals
Gain visibility — every step is logged and traceable
Scale easily — handle more volume without more headcount</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extLst>
      <p:ext uri="{BB962C8B-B14F-4D97-AF65-F5344CB8AC3E}">
        <p14:creationId xmlns:p14="http://schemas.microsoft.com/office/powerpoint/2010/main" val="20836445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C77996-099F-A63F-A74A-2367E5BDA414}"/>
              </a:ext>
            </a:extLst>
          </p:cNvPr>
          <p:cNvSpPr>
            <a:spLocks noGrp="1"/>
          </p:cNvSpPr>
          <p:nvPr>
            <p:ph type="title"/>
          </p:nvPr>
        </p:nvSpPr>
        <p:spPr/>
        <p:txBody>
          <a:bodyPr/>
          <a:lstStyle/>
          <a:p>
            <a:r>
              <a:rPr lang="en-US"/>
              <a:t>Manual Process vs. Automated Workflow</a:t>
            </a:r>
          </a:p>
        </p:txBody>
      </p:sp>
      <p:sp>
        <p:nvSpPr>
          <p:cNvPr id="3" name="Content Placeholder 2">
            <a:extLst>
              <a:ext uri="{FF2B5EF4-FFF2-40B4-BE49-F238E27FC236}">
                <a16:creationId xmlns:a16="http://schemas.microsoft.com/office/drawing/2014/main" id="{4454D47B-ECAD-EC96-AB7D-650BD30634F7}"/>
              </a:ext>
            </a:extLst>
          </p:cNvPr>
          <p:cNvSpPr>
            <a:spLocks noGrp="1"/>
          </p:cNvSpPr>
          <p:nvPr>
            <p:ph sz="half" idx="1"/>
          </p:nvPr>
        </p:nvSpPr>
        <p:spPr/>
        <p:txBody>
          <a:bodyPr>
            <a:normAutofit/>
          </a:bodyPr>
          <a:lstStyle/>
          <a:p>
            <a:r>
              <a:rPr lang="en-US" sz="1600"/>
              <a:t>MANUAL PROCESS
Emails get missed in busy inboxes
Data re-keyed by hand between apps
Approvals stall and get forgotten
No audit trail of what happened
Slow, inconsistent, hard to scale</a:t>
            </a:r>
          </a:p>
        </p:txBody>
      </p:sp>
      <p:sp>
        <p:nvSpPr>
          <p:cNvPr id="4" name="Content Placeholder 3">
            <a:extLst>
              <a:ext uri="{FF2B5EF4-FFF2-40B4-BE49-F238E27FC236}">
                <a16:creationId xmlns:a16="http://schemas.microsoft.com/office/drawing/2014/main" id="{B5836758-6433-6420-CC9D-069C47E7EDF1}"/>
              </a:ext>
            </a:extLst>
          </p:cNvPr>
          <p:cNvSpPr>
            <a:spLocks noGrp="1"/>
          </p:cNvSpPr>
          <p:nvPr>
            <p:ph sz="half" idx="2"/>
          </p:nvPr>
        </p:nvSpPr>
        <p:spPr/>
        <p:txBody>
          <a:bodyPr>
            <a:normAutofit/>
          </a:bodyPr>
          <a:lstStyle/>
          <a:p>
            <a:r>
              <a:rPr lang="en-US" sz="1600"/>
              <a:t>AUTOMATED WORKFLOW
Triggers fire the moment an event happens
Data flows automatically between systems
Approvals routed, tracked and reminded
Every action logged automatically
Fast, consistent and scalable</a:t>
            </a:r>
          </a:p>
        </p:txBody>
      </p:sp>
      <p:sp>
        <p:nvSpPr>
          <p:cNvPr id="5" name="TextBox 4"/>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6" name="TextBox 5"/>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extLst>
      <p:ext uri="{BB962C8B-B14F-4D97-AF65-F5344CB8AC3E}">
        <p14:creationId xmlns:p14="http://schemas.microsoft.com/office/powerpoint/2010/main" val="20491809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6ACF2-F7B9-6EC5-86D6-A463E0ED5B93}"/>
              </a:ext>
            </a:extLst>
          </p:cNvPr>
          <p:cNvSpPr>
            <a:spLocks noGrp="1"/>
          </p:cNvSpPr>
          <p:nvPr>
            <p:ph type="title"/>
          </p:nvPr>
        </p:nvSpPr>
        <p:spPr/>
        <p:txBody>
          <a:bodyPr/>
          <a:lstStyle/>
          <a:p>
            <a:r>
              <a:rPr lang="en-US"/>
              <a:t>Standalone Agents vs. Integrated Workflows</a:t>
            </a:r>
          </a:p>
        </p:txBody>
      </p:sp>
      <p:sp>
        <p:nvSpPr>
          <p:cNvPr id="3" name="Content Placeholder 2">
            <a:extLst>
              <a:ext uri="{FF2B5EF4-FFF2-40B4-BE49-F238E27FC236}">
                <a16:creationId xmlns:a16="http://schemas.microsoft.com/office/drawing/2014/main" id="{6B1AEA7C-120B-0804-FE0F-3D8CA177094D}"/>
              </a:ext>
            </a:extLst>
          </p:cNvPr>
          <p:cNvSpPr>
            <a:spLocks noGrp="1"/>
          </p:cNvSpPr>
          <p:nvPr>
            <p:ph sz="half" idx="1"/>
          </p:nvPr>
        </p:nvSpPr>
        <p:spPr/>
        <p:txBody>
          <a:bodyPr>
            <a:normAutofit/>
          </a:bodyPr>
          <a:lstStyle/>
          <a:p>
            <a:r>
              <a:rPr lang="en-US" sz="1600"/>
              <a:t>STANDALONE AGENT
Answers questions and chats
Works inside the conversation
Output stays in the chat
Great for information and guidance</a:t>
            </a:r>
          </a:p>
        </p:txBody>
      </p:sp>
      <p:sp>
        <p:nvSpPr>
          <p:cNvPr id="4" name="Content Placeholder 3">
            <a:extLst>
              <a:ext uri="{FF2B5EF4-FFF2-40B4-BE49-F238E27FC236}">
                <a16:creationId xmlns:a16="http://schemas.microsoft.com/office/drawing/2014/main" id="{2302A468-D28E-4FEC-2561-AB5670A725FB}"/>
              </a:ext>
            </a:extLst>
          </p:cNvPr>
          <p:cNvSpPr>
            <a:spLocks noGrp="1"/>
          </p:cNvSpPr>
          <p:nvPr>
            <p:ph sz="half" idx="2"/>
          </p:nvPr>
        </p:nvSpPr>
        <p:spPr/>
        <p:txBody>
          <a:bodyPr>
            <a:normAutofit/>
          </a:bodyPr>
          <a:lstStyle/>
          <a:p>
            <a:r>
              <a:rPr lang="en-US" sz="1600"/>
              <a:t>INTEGRATED WORKFLOW
Takes action across systems
Connects apps, data and people
Produces results: records, emails, approvals
Great for getting work done</a:t>
            </a:r>
          </a:p>
        </p:txBody>
      </p:sp>
      <p:sp>
        <p:nvSpPr>
          <p:cNvPr id="5" name="TextBox 4"/>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6" name="TextBox 5"/>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extLst>
      <p:ext uri="{BB962C8B-B14F-4D97-AF65-F5344CB8AC3E}">
        <p14:creationId xmlns:p14="http://schemas.microsoft.com/office/powerpoint/2010/main" val="34931305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4F88D-F673-E1DB-E9EE-25DAFE4EA13D}"/>
              </a:ext>
            </a:extLst>
          </p:cNvPr>
          <p:cNvSpPr>
            <a:spLocks noGrp="1"/>
          </p:cNvSpPr>
          <p:nvPr>
            <p:ph type="title"/>
          </p:nvPr>
        </p:nvSpPr>
        <p:spPr/>
        <p:txBody>
          <a:bodyPr/>
          <a:lstStyle/>
          <a:p>
            <a:r>
              <a:rPr lang="en-US"/>
              <a:t>Introduction to Workflow Logic</a:t>
            </a:r>
          </a:p>
        </p:txBody>
      </p:sp>
      <p:sp>
        <p:nvSpPr>
          <p:cNvPr id="3" name="Content Placeholder 2">
            <a:extLst>
              <a:ext uri="{FF2B5EF4-FFF2-40B4-BE49-F238E27FC236}">
                <a16:creationId xmlns:a16="http://schemas.microsoft.com/office/drawing/2014/main" id="{C75CB5EF-92B8-923C-4790-26F6F20957E1}"/>
              </a:ext>
            </a:extLst>
          </p:cNvPr>
          <p:cNvSpPr>
            <a:spLocks noGrp="1"/>
          </p:cNvSpPr>
          <p:nvPr>
            <p:ph idx="1"/>
          </p:nvPr>
        </p:nvSpPr>
        <p:spPr/>
        <p:txBody>
          <a:bodyPr>
            <a:normAutofit/>
          </a:bodyPr>
          <a:lstStyle/>
          <a:p>
            <a:r>
              <a:rPr lang="en-US" sz="1800"/>
              <a:t>Every workflow follows the same simple pattern
Trigger  →  Action(s)  →  Output
Trigger: the event that starts the workflow
Actions: the steps the workflow performs
Output: the result the workflow produces
Master this pattern and you can build any automation</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extLst>
      <p:ext uri="{BB962C8B-B14F-4D97-AF65-F5344CB8AC3E}">
        <p14:creationId xmlns:p14="http://schemas.microsoft.com/office/powerpoint/2010/main" val="11824928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ONE START EVENT</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Triggers — What Starts a Workflow</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965960"/>
            <a:ext cx="1830628" cy="128016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39112"/>
            <a:ext cx="1684324" cy="1133856"/>
          </a:xfrm>
          <a:prstGeom prst="rect">
            <a:avLst/>
          </a:prstGeom>
          <a:noFill/>
        </p:spPr>
        <p:txBody>
          <a:bodyPr wrap="square" anchor="ctr" lIns="73152" rIns="73152" tIns="73152" bIns="73152">
            <a:spAutoFit/>
          </a:bodyPr>
          <a:lstStyle/>
          <a:p>
            <a:pPr algn="ctr"/>
            <a:r>
              <a:rPr sz="1300" b="1">
                <a:solidFill>
                  <a:srgbClr val="161B26"/>
                </a:solidFill>
                <a:latin typeface="Arial"/>
              </a:rPr>
              <a:t>Person
presses Run</a:t>
            </a:r>
          </a:p>
        </p:txBody>
      </p:sp>
      <p:sp>
        <p:nvSpPr>
          <p:cNvPr id="8" name="Chevron 7"/>
          <p:cNvSpPr/>
          <p:nvPr/>
        </p:nvSpPr>
        <p:spPr>
          <a:xfrm>
            <a:off x="2543860" y="2450591"/>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79268"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instant</a:t>
            </a:r>
          </a:p>
        </p:txBody>
      </p:sp>
      <p:sp>
        <p:nvSpPr>
          <p:cNvPr id="10" name="Rounded Rectangle 9"/>
          <p:cNvSpPr/>
          <p:nvPr/>
        </p:nvSpPr>
        <p:spPr>
          <a:xfrm>
            <a:off x="2909620" y="1965960"/>
            <a:ext cx="1830628" cy="128016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2772" y="2039112"/>
            <a:ext cx="1684324" cy="1133856"/>
          </a:xfrm>
          <a:prstGeom prst="rect">
            <a:avLst/>
          </a:prstGeom>
          <a:noFill/>
        </p:spPr>
        <p:txBody>
          <a:bodyPr wrap="square" anchor="ctr" lIns="73152" rIns="73152" tIns="73152" bIns="73152">
            <a:spAutoFit/>
          </a:bodyPr>
          <a:lstStyle/>
          <a:p>
            <a:pPr algn="ctr"/>
            <a:r>
              <a:rPr sz="1300" b="1">
                <a:solidFill>
                  <a:srgbClr val="161B26"/>
                </a:solidFill>
                <a:latin typeface="Arial"/>
              </a:rPr>
              <a:t>Clock
recurs</a:t>
            </a:r>
          </a:p>
        </p:txBody>
      </p:sp>
      <p:sp>
        <p:nvSpPr>
          <p:cNvPr id="12" name="Chevron 11"/>
          <p:cNvSpPr/>
          <p:nvPr/>
        </p:nvSpPr>
        <p:spPr>
          <a:xfrm>
            <a:off x="4795112" y="2450591"/>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0520"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scheduled</a:t>
            </a:r>
          </a:p>
        </p:txBody>
      </p:sp>
      <p:sp>
        <p:nvSpPr>
          <p:cNvPr id="14" name="Rounded Rectangle 13"/>
          <p:cNvSpPr/>
          <p:nvPr/>
        </p:nvSpPr>
        <p:spPr>
          <a:xfrm>
            <a:off x="5160873" y="1965960"/>
            <a:ext cx="1830628" cy="128016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4025" y="2039112"/>
            <a:ext cx="1684324" cy="1133856"/>
          </a:xfrm>
          <a:prstGeom prst="rect">
            <a:avLst/>
          </a:prstGeom>
          <a:noFill/>
        </p:spPr>
        <p:txBody>
          <a:bodyPr wrap="square" anchor="ctr" lIns="73152" rIns="73152" tIns="73152" bIns="73152">
            <a:spAutoFit/>
          </a:bodyPr>
          <a:lstStyle/>
          <a:p>
            <a:pPr algn="ctr"/>
            <a:r>
              <a:rPr sz="1300" b="1">
                <a:solidFill>
                  <a:srgbClr val="161B26"/>
                </a:solidFill>
                <a:latin typeface="Arial"/>
              </a:rPr>
              <a:t>Form
yields event</a:t>
            </a:r>
          </a:p>
        </p:txBody>
      </p:sp>
      <p:sp>
        <p:nvSpPr>
          <p:cNvPr id="16" name="Chevron 15"/>
          <p:cNvSpPr/>
          <p:nvPr/>
        </p:nvSpPr>
        <p:spPr>
          <a:xfrm>
            <a:off x="7046365" y="2450591"/>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1773"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automated</a:t>
            </a:r>
          </a:p>
        </p:txBody>
      </p:sp>
      <p:sp>
        <p:nvSpPr>
          <p:cNvPr id="18" name="Rounded Rectangle 17"/>
          <p:cNvSpPr/>
          <p:nvPr/>
        </p:nvSpPr>
        <p:spPr>
          <a:xfrm>
            <a:off x="7412126" y="1965960"/>
            <a:ext cx="1830628" cy="128016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5278" y="2039112"/>
            <a:ext cx="1684324" cy="1133856"/>
          </a:xfrm>
          <a:prstGeom prst="rect">
            <a:avLst/>
          </a:prstGeom>
          <a:noFill/>
        </p:spPr>
        <p:txBody>
          <a:bodyPr wrap="square" anchor="ctr" lIns="73152" rIns="73152" tIns="73152" bIns="73152">
            <a:spAutoFit/>
          </a:bodyPr>
          <a:lstStyle/>
          <a:p>
            <a:pPr algn="ctr"/>
            <a:r>
              <a:rPr sz="1300" b="1">
                <a:solidFill>
                  <a:srgbClr val="161B26"/>
                </a:solidFill>
                <a:latin typeface="Arial"/>
              </a:rPr>
              <a:t>Website
POSTs JSON</a:t>
            </a:r>
          </a:p>
        </p:txBody>
      </p:sp>
      <p:sp>
        <p:nvSpPr>
          <p:cNvPr id="20" name="Chevron 19"/>
          <p:cNvSpPr/>
          <p:nvPr/>
        </p:nvSpPr>
        <p:spPr>
          <a:xfrm>
            <a:off x="9297618" y="2450591"/>
            <a:ext cx="274320" cy="310896"/>
          </a:xfrm>
          <a:prstGeom prst="chevron">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3026"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HTTP</a:t>
            </a:r>
          </a:p>
        </p:txBody>
      </p:sp>
      <p:sp>
        <p:nvSpPr>
          <p:cNvPr id="22" name="Rounded Rectangle 21"/>
          <p:cNvSpPr/>
          <p:nvPr/>
        </p:nvSpPr>
        <p:spPr>
          <a:xfrm>
            <a:off x="9663379" y="1965960"/>
            <a:ext cx="1830628" cy="128016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6531" y="2039112"/>
            <a:ext cx="1684324" cy="1133856"/>
          </a:xfrm>
          <a:prstGeom prst="rect">
            <a:avLst/>
          </a:prstGeom>
          <a:noFill/>
        </p:spPr>
        <p:txBody>
          <a:bodyPr wrap="square" anchor="ctr" lIns="73152" rIns="73152" tIns="73152" bIns="73152">
            <a:spAutoFit/>
          </a:bodyPr>
          <a:lstStyle/>
          <a:p>
            <a:pPr algn="ctr"/>
            <a:r>
              <a:rPr sz="1300" b="1">
                <a:solidFill>
                  <a:srgbClr val="161B26"/>
                </a:solidFill>
                <a:latin typeface="Arial"/>
              </a:rPr>
              <a:t>Copilot agent
calls tool</a:t>
            </a:r>
          </a:p>
        </p:txBody>
      </p:sp>
      <p:sp>
        <p:nvSpPr>
          <p:cNvPr id="24" name="TextBox 23"/>
          <p:cNvSpPr txBox="1"/>
          <p:nvPr/>
        </p:nvSpPr>
        <p:spPr>
          <a:xfrm>
            <a:off x="658368" y="3886200"/>
            <a:ext cx="10835640" cy="438912"/>
          </a:xfrm>
          <a:prstGeom prst="rect">
            <a:avLst/>
          </a:prstGeom>
          <a:noFill/>
        </p:spPr>
        <p:txBody>
          <a:bodyPr wrap="square" anchor="ctr" lIns="73152" rIns="73152" tIns="73152" bIns="73152">
            <a:spAutoFit/>
          </a:bodyPr>
          <a:lstStyle/>
          <a:p>
            <a:pPr algn="ctr"/>
            <a:r>
              <a:rPr sz="1900" b="1">
                <a:solidFill>
                  <a:srgbClr val="161B26"/>
                </a:solidFill>
                <a:latin typeface="Arial"/>
              </a:rPr>
              <a:t>One trigger starts a flow. The actions may stay the same even when the trigger changes.</a:t>
            </a:r>
          </a:p>
        </p:txBody>
      </p:sp>
      <p:sp>
        <p:nvSpPr>
          <p:cNvPr id="25" name="Rounded Rectangle 24"/>
          <p:cNvSpPr/>
          <p:nvPr/>
        </p:nvSpPr>
        <p:spPr>
          <a:xfrm>
            <a:off x="1828800" y="4617720"/>
            <a:ext cx="1787651" cy="91440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01952" y="4690872"/>
            <a:ext cx="1641348" cy="768096"/>
          </a:xfrm>
          <a:prstGeom prst="rect">
            <a:avLst/>
          </a:prstGeom>
          <a:noFill/>
        </p:spPr>
        <p:txBody>
          <a:bodyPr wrap="square" anchor="ctr" lIns="73152" rIns="73152" tIns="73152" bIns="73152">
            <a:spAutoFit/>
          </a:bodyPr>
          <a:lstStyle/>
          <a:p>
            <a:pPr algn="ctr"/>
            <a:r>
              <a:rPr sz="1300" b="1">
                <a:solidFill>
                  <a:srgbClr val="161B26"/>
                </a:solidFill>
                <a:latin typeface="Arial"/>
              </a:rPr>
              <a:t>Trigger</a:t>
            </a:r>
          </a:p>
        </p:txBody>
      </p:sp>
      <p:sp>
        <p:nvSpPr>
          <p:cNvPr id="27" name="Chevron 26"/>
          <p:cNvSpPr/>
          <p:nvPr/>
        </p:nvSpPr>
        <p:spPr>
          <a:xfrm>
            <a:off x="3671315" y="491947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06724" y="436168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starts</a:t>
            </a:r>
          </a:p>
        </p:txBody>
      </p:sp>
      <p:sp>
        <p:nvSpPr>
          <p:cNvPr id="29" name="Rounded Rectangle 28"/>
          <p:cNvSpPr/>
          <p:nvPr/>
        </p:nvSpPr>
        <p:spPr>
          <a:xfrm>
            <a:off x="4037076" y="4617720"/>
            <a:ext cx="1787651" cy="91440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0228" y="4690872"/>
            <a:ext cx="1641348" cy="768096"/>
          </a:xfrm>
          <a:prstGeom prst="rect">
            <a:avLst/>
          </a:prstGeom>
          <a:noFill/>
        </p:spPr>
        <p:txBody>
          <a:bodyPr wrap="square" anchor="ctr" lIns="73152" rIns="73152" tIns="73152" bIns="73152">
            <a:spAutoFit/>
          </a:bodyPr>
          <a:lstStyle/>
          <a:p>
            <a:pPr algn="ctr"/>
            <a:r>
              <a:rPr sz="1300" b="1">
                <a:solidFill>
                  <a:srgbClr val="161B26"/>
                </a:solidFill>
                <a:latin typeface="Arial"/>
              </a:rPr>
              <a:t>Validate data</a:t>
            </a:r>
          </a:p>
        </p:txBody>
      </p:sp>
      <p:sp>
        <p:nvSpPr>
          <p:cNvPr id="31" name="Chevron 30"/>
          <p:cNvSpPr/>
          <p:nvPr/>
        </p:nvSpPr>
        <p:spPr>
          <a:xfrm>
            <a:off x="5879591" y="491947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15000" y="436168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then</a:t>
            </a:r>
          </a:p>
        </p:txBody>
      </p:sp>
      <p:sp>
        <p:nvSpPr>
          <p:cNvPr id="33" name="Rounded Rectangle 32"/>
          <p:cNvSpPr/>
          <p:nvPr/>
        </p:nvSpPr>
        <p:spPr>
          <a:xfrm>
            <a:off x="6245352" y="4617720"/>
            <a:ext cx="1787651" cy="91440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18504" y="4690872"/>
            <a:ext cx="1641348" cy="768096"/>
          </a:xfrm>
          <a:prstGeom prst="rect">
            <a:avLst/>
          </a:prstGeom>
          <a:noFill/>
        </p:spPr>
        <p:txBody>
          <a:bodyPr wrap="square" anchor="ctr" lIns="73152" rIns="73152" tIns="73152" bIns="73152">
            <a:spAutoFit/>
          </a:bodyPr>
          <a:lstStyle/>
          <a:p>
            <a:pPr algn="ctr"/>
            <a:r>
              <a:rPr sz="1300" b="1">
                <a:solidFill>
                  <a:srgbClr val="161B26"/>
                </a:solidFill>
                <a:latin typeface="Arial"/>
              </a:rPr>
              <a:t>Business actions</a:t>
            </a:r>
          </a:p>
        </p:txBody>
      </p:sp>
      <p:sp>
        <p:nvSpPr>
          <p:cNvPr id="35" name="Chevron 34"/>
          <p:cNvSpPr/>
          <p:nvPr/>
        </p:nvSpPr>
        <p:spPr>
          <a:xfrm>
            <a:off x="8087867" y="491947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23276" y="436168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finish</a:t>
            </a:r>
          </a:p>
        </p:txBody>
      </p:sp>
      <p:sp>
        <p:nvSpPr>
          <p:cNvPr id="37" name="Rounded Rectangle 36"/>
          <p:cNvSpPr/>
          <p:nvPr/>
        </p:nvSpPr>
        <p:spPr>
          <a:xfrm>
            <a:off x="8453628" y="4617720"/>
            <a:ext cx="1787651" cy="91440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26780" y="4690872"/>
            <a:ext cx="1641348" cy="768096"/>
          </a:xfrm>
          <a:prstGeom prst="rect">
            <a:avLst/>
          </a:prstGeom>
          <a:noFill/>
        </p:spPr>
        <p:txBody>
          <a:bodyPr wrap="square" anchor="ctr" lIns="73152" rIns="73152" tIns="73152" bIns="73152">
            <a:spAutoFit/>
          </a:bodyPr>
          <a:lstStyle/>
          <a:p>
            <a:pPr algn="ctr"/>
            <a:r>
              <a:rPr sz="1300" b="1">
                <a:solidFill>
                  <a:srgbClr val="161B26"/>
                </a:solidFill>
                <a:latin typeface="Arial"/>
              </a:rPr>
              <a:t>Return or notify</a:t>
            </a:r>
          </a:p>
        </p:txBody>
      </p:sp>
      <p:sp>
        <p:nvSpPr>
          <p:cNvPr id="39" name="TextBox 38"/>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22</a:t>
            </a:r>
          </a:p>
        </p:txBody>
      </p:sp>
    </p:spTree>
    <p:extLst>
      <p:ext uri="{BB962C8B-B14F-4D97-AF65-F5344CB8AC3E}">
        <p14:creationId xmlns:p14="http://schemas.microsoft.com/office/powerpoint/2010/main" val="19536174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EDB2D-89B0-1B2C-ACE9-2277349D11F3}"/>
              </a:ext>
            </a:extLst>
          </p:cNvPr>
          <p:cNvSpPr>
            <a:spLocks noGrp="1"/>
          </p:cNvSpPr>
          <p:nvPr>
            <p:ph type="title"/>
          </p:nvPr>
        </p:nvSpPr>
        <p:spPr/>
        <p:txBody>
          <a:bodyPr/>
          <a:lstStyle/>
          <a:p>
            <a:r>
              <a:rPr lang="en-US"/>
              <a:t>Actions — What the Workflow Does</a:t>
            </a:r>
          </a:p>
        </p:txBody>
      </p:sp>
      <p:sp>
        <p:nvSpPr>
          <p:cNvPr id="3" name="Content Placeholder 2">
            <a:extLst>
              <a:ext uri="{FF2B5EF4-FFF2-40B4-BE49-F238E27FC236}">
                <a16:creationId xmlns:a16="http://schemas.microsoft.com/office/drawing/2014/main" id="{BD57A4F1-44A4-D473-24BF-A849AE79A8D6}"/>
              </a:ext>
            </a:extLst>
          </p:cNvPr>
          <p:cNvSpPr>
            <a:spLocks noGrp="1"/>
          </p:cNvSpPr>
          <p:nvPr>
            <p:ph idx="1"/>
          </p:nvPr>
        </p:nvSpPr>
        <p:spPr/>
        <p:txBody>
          <a:bodyPr>
            <a:normAutofit/>
          </a:bodyPr>
          <a:lstStyle/>
          <a:p>
            <a:r>
              <a:rPr lang="en-US" sz="1800"/>
              <a:t>Actions are the steps performed after the trigger fires
Examples: send an email, add a row to Excel, post a notification, request an approval
They run in sequence — each step can reuse data from earlier steps
Combine many actions to model a complete business process
Add conditions to decide which actions run</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extLst>
      <p:ext uri="{BB962C8B-B14F-4D97-AF65-F5344CB8AC3E}">
        <p14:creationId xmlns:p14="http://schemas.microsoft.com/office/powerpoint/2010/main" val="13951636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4C3A54-8BD4-AE75-24F5-9FBD6374132A}"/>
              </a:ext>
            </a:extLst>
          </p:cNvPr>
          <p:cNvSpPr>
            <a:spLocks noGrp="1"/>
          </p:cNvSpPr>
          <p:nvPr>
            <p:ph type="title"/>
          </p:nvPr>
        </p:nvSpPr>
        <p:spPr/>
        <p:txBody>
          <a:bodyPr/>
          <a:lstStyle/>
          <a:p>
            <a:r>
              <a:rPr lang="en-US"/>
              <a:t>Outputs — The Result</a:t>
            </a:r>
          </a:p>
        </p:txBody>
      </p:sp>
      <p:sp>
        <p:nvSpPr>
          <p:cNvPr id="3" name="Content Placeholder 2">
            <a:extLst>
              <a:ext uri="{FF2B5EF4-FFF2-40B4-BE49-F238E27FC236}">
                <a16:creationId xmlns:a16="http://schemas.microsoft.com/office/drawing/2014/main" id="{43F00432-FAAE-9E5E-4F82-97D23D8A3C93}"/>
              </a:ext>
            </a:extLst>
          </p:cNvPr>
          <p:cNvSpPr>
            <a:spLocks noGrp="1"/>
          </p:cNvSpPr>
          <p:nvPr>
            <p:ph idx="1"/>
          </p:nvPr>
        </p:nvSpPr>
        <p:spPr/>
        <p:txBody>
          <a:bodyPr>
            <a:normAutofit/>
          </a:bodyPr>
          <a:lstStyle/>
          <a:p>
            <a:r>
              <a:rPr lang="en-US" sz="1800"/>
              <a:t>The output is the outcome the workflow produces
A logged record, a sent email, an approval decision, a notification
Outputs can become the input to the next workflow
Judge success by the output: did the right thing happen, reliably?</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extLst>
      <p:ext uri="{BB962C8B-B14F-4D97-AF65-F5344CB8AC3E}">
        <p14:creationId xmlns:p14="http://schemas.microsoft.com/office/powerpoint/2010/main" val="9639115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C3E9F-EC95-59F9-94BE-7A540B7966C4}"/>
              </a:ext>
            </a:extLst>
          </p:cNvPr>
          <p:cNvSpPr>
            <a:spLocks noGrp="1"/>
          </p:cNvSpPr>
          <p:nvPr>
            <p:ph type="title"/>
          </p:nvPr>
        </p:nvSpPr>
        <p:spPr/>
        <p:txBody>
          <a:bodyPr/>
          <a:lstStyle/>
          <a:p>
            <a:r>
              <a:rPr lang="en-US"/>
              <a:t>Workflow Steps — Putting It Together</a:t>
            </a:r>
          </a:p>
        </p:txBody>
      </p:sp>
      <p:sp>
        <p:nvSpPr>
          <p:cNvPr id="3" name="Content Placeholder 2">
            <a:extLst>
              <a:ext uri="{FF2B5EF4-FFF2-40B4-BE49-F238E27FC236}">
                <a16:creationId xmlns:a16="http://schemas.microsoft.com/office/drawing/2014/main" id="{049EEBD4-D4C5-A489-F8A8-0764E783E1B4}"/>
              </a:ext>
            </a:extLst>
          </p:cNvPr>
          <p:cNvSpPr>
            <a:spLocks noGrp="1"/>
          </p:cNvSpPr>
          <p:nvPr>
            <p:ph idx="1"/>
          </p:nvPr>
        </p:nvSpPr>
        <p:spPr/>
        <p:txBody>
          <a:bodyPr>
            <a:normAutofit/>
          </a:bodyPr>
          <a:lstStyle/>
          <a:p>
            <a:r>
              <a:rPr lang="en-US" sz="1800"/>
              <a:t>Steps run top-to-bottom after the trigger
Add conditions (if / then) to branch the logic
Pass data between steps using dynamic content
Example: New email → read the details → log to Excel → notify the team
Build complexity gradually — start simple, then extend</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extLst>
      <p:ext uri="{BB962C8B-B14F-4D97-AF65-F5344CB8AC3E}">
        <p14:creationId xmlns:p14="http://schemas.microsoft.com/office/powerpoint/2010/main" val="36595669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A0CFB-104D-C8CF-C46D-D31E12710B22}"/>
              </a:ext>
            </a:extLst>
          </p:cNvPr>
          <p:cNvSpPr>
            <a:spLocks noGrp="1"/>
          </p:cNvSpPr>
          <p:nvPr>
            <p:ph type="title"/>
          </p:nvPr>
        </p:nvSpPr>
        <p:spPr/>
        <p:txBody>
          <a:bodyPr/>
          <a:lstStyle/>
          <a:p>
            <a:r>
              <a:rPr lang="en-US"/>
              <a:t>Anatomy of a Workflow</a:t>
            </a:r>
          </a:p>
        </p:txBody>
      </p:sp>
      <p:sp>
        <p:nvSpPr>
          <p:cNvPr id="3" name="Rounded Rectangle 2">
            <a:extLst>
              <a:ext uri="{FF2B5EF4-FFF2-40B4-BE49-F238E27FC236}">
                <a16:creationId xmlns:a16="http://schemas.microsoft.com/office/drawing/2014/main" id="{4B092ECF-C0C7-1B42-8481-5D2BED0FDB03}"/>
              </a:ext>
            </a:extLst>
          </p:cNvPr>
          <p:cNvSpPr/>
          <p:nvPr/>
        </p:nvSpPr>
        <p:spPr>
          <a:xfrm>
            <a:off x="393700" y="2452688"/>
            <a:ext cx="2413000" cy="1905000"/>
          </a:xfrm>
          <a:prstGeom prst="roundRect">
            <a:avLst/>
          </a:prstGeom>
          <a:solidFill>
            <a:srgbClr val="2563E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400">
                <a:solidFill>
                  <a:srgbClr val="FFFFFF"/>
                </a:solidFill>
              </a:rPr>
              <a:t>TRIGGER
An event starts the flow
e.g. email received</a:t>
            </a:r>
          </a:p>
        </p:txBody>
      </p:sp>
      <p:sp>
        <p:nvSpPr>
          <p:cNvPr id="4" name="Right Arrow 3">
            <a:extLst>
              <a:ext uri="{FF2B5EF4-FFF2-40B4-BE49-F238E27FC236}">
                <a16:creationId xmlns:a16="http://schemas.microsoft.com/office/drawing/2014/main" id="{EA8473DE-6B35-F343-9218-9C17CE75B707}"/>
              </a:ext>
            </a:extLst>
          </p:cNvPr>
          <p:cNvSpPr/>
          <p:nvPr/>
        </p:nvSpPr>
        <p:spPr>
          <a:xfrm>
            <a:off x="2882900" y="3240088"/>
            <a:ext cx="431800" cy="3302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ounded Rectangle 4">
            <a:extLst>
              <a:ext uri="{FF2B5EF4-FFF2-40B4-BE49-F238E27FC236}">
                <a16:creationId xmlns:a16="http://schemas.microsoft.com/office/drawing/2014/main" id="{B460B88B-199E-1A48-A318-542AA1C3EC6D}"/>
              </a:ext>
            </a:extLst>
          </p:cNvPr>
          <p:cNvSpPr/>
          <p:nvPr/>
        </p:nvSpPr>
        <p:spPr>
          <a:xfrm>
            <a:off x="3390900" y="2452688"/>
            <a:ext cx="2413000" cy="1905000"/>
          </a:xfrm>
          <a:prstGeom prst="roundRect">
            <a:avLst/>
          </a:prstGeom>
          <a:solidFill>
            <a:srgbClr val="7C3A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400">
                <a:solidFill>
                  <a:srgbClr val="FFFFFF"/>
                </a:solidFill>
              </a:rPr>
              <a:t>ACTION
Read &amp; process the data
e.g. extract details</a:t>
            </a:r>
          </a:p>
        </p:txBody>
      </p:sp>
      <p:sp>
        <p:nvSpPr>
          <p:cNvPr id="6" name="Right Arrow 5">
            <a:extLst>
              <a:ext uri="{FF2B5EF4-FFF2-40B4-BE49-F238E27FC236}">
                <a16:creationId xmlns:a16="http://schemas.microsoft.com/office/drawing/2014/main" id="{F908B3DF-5D35-364C-8CED-F909D084D7F9}"/>
              </a:ext>
            </a:extLst>
          </p:cNvPr>
          <p:cNvSpPr/>
          <p:nvPr/>
        </p:nvSpPr>
        <p:spPr>
          <a:xfrm>
            <a:off x="5880100" y="3240088"/>
            <a:ext cx="431800" cy="3302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ounded Rectangle 6">
            <a:extLst>
              <a:ext uri="{FF2B5EF4-FFF2-40B4-BE49-F238E27FC236}">
                <a16:creationId xmlns:a16="http://schemas.microsoft.com/office/drawing/2014/main" id="{66076C38-02F5-604B-897F-65600F8C97FE}"/>
              </a:ext>
            </a:extLst>
          </p:cNvPr>
          <p:cNvSpPr/>
          <p:nvPr/>
        </p:nvSpPr>
        <p:spPr>
          <a:xfrm>
            <a:off x="6388100" y="2452688"/>
            <a:ext cx="2413000" cy="1905000"/>
          </a:xfrm>
          <a:prstGeom prst="roundRect">
            <a:avLst/>
          </a:prstGeom>
          <a:solidFill>
            <a:srgbClr val="7C3A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400">
                <a:solidFill>
                  <a:srgbClr val="FFFFFF"/>
                </a:solidFill>
              </a:rPr>
              <a:t>ACTION
Do the work
e.g. log to Excel</a:t>
            </a:r>
          </a:p>
        </p:txBody>
      </p:sp>
      <p:sp>
        <p:nvSpPr>
          <p:cNvPr id="8" name="Right Arrow 7">
            <a:extLst>
              <a:ext uri="{FF2B5EF4-FFF2-40B4-BE49-F238E27FC236}">
                <a16:creationId xmlns:a16="http://schemas.microsoft.com/office/drawing/2014/main" id="{7B7A2EAC-EB2C-A945-9BA3-1F7668C50739}"/>
              </a:ext>
            </a:extLst>
          </p:cNvPr>
          <p:cNvSpPr/>
          <p:nvPr/>
        </p:nvSpPr>
        <p:spPr>
          <a:xfrm>
            <a:off x="8877300" y="3240088"/>
            <a:ext cx="431800" cy="3302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ounded Rectangle 8">
            <a:extLst>
              <a:ext uri="{FF2B5EF4-FFF2-40B4-BE49-F238E27FC236}">
                <a16:creationId xmlns:a16="http://schemas.microsoft.com/office/drawing/2014/main" id="{FD3ECA41-144E-4E46-A992-1B89DFCCB155}"/>
              </a:ext>
            </a:extLst>
          </p:cNvPr>
          <p:cNvSpPr/>
          <p:nvPr/>
        </p:nvSpPr>
        <p:spPr>
          <a:xfrm>
            <a:off x="9385300" y="2452688"/>
            <a:ext cx="2413000" cy="1905000"/>
          </a:xfrm>
          <a:prstGeom prst="roundRect">
            <a:avLst/>
          </a:prstGeom>
          <a:solidFill>
            <a:srgbClr val="0E749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400">
                <a:solidFill>
                  <a:srgbClr val="FFFFFF"/>
                </a:solidFill>
              </a:rPr>
              <a:t>OUTPUT
Deliver the result
e.g. notify the team</a:t>
            </a:r>
          </a:p>
        </p:txBody>
      </p:sp>
      <p:sp>
        <p:nvSpPr>
          <p:cNvPr id="10" name="TextBox 9">
            <a:extLst>
              <a:ext uri="{FF2B5EF4-FFF2-40B4-BE49-F238E27FC236}">
                <a16:creationId xmlns:a16="http://schemas.microsoft.com/office/drawing/2014/main" id="{C88F9FAD-DC25-C64B-B444-1F5A35680758}"/>
              </a:ext>
            </a:extLst>
          </p:cNvPr>
          <p:cNvSpPr txBox="1"/>
          <p:nvPr/>
        </p:nvSpPr>
        <p:spPr>
          <a:xfrm>
            <a:off x="393700" y="4789488"/>
            <a:ext cx="11404600" cy="508000"/>
          </a:xfrm>
          <a:prstGeom prst="rect">
            <a:avLst/>
          </a:prstGeom>
          <a:noFill/>
        </p:spPr>
        <p:txBody>
          <a:bodyPr vertOverflow="overflow" vert="horz" wrap="square" rtlCol="0" anchor="t">
            <a:spAutoFit/>
          </a:bodyPr>
          <a:lstStyle/>
          <a:p>
            <a:pPr algn="l"/>
            <a:r>
              <a:rPr lang="en-US" sz="1600" i="1">
                <a:solidFill>
                  <a:srgbClr val="2B2B40"/>
                </a:solidFill>
              </a:rPr>
              <a:t>Master this pattern — Trigger → Action(s) → Output — and you can build any automation.</a:t>
            </a:r>
          </a:p>
        </p:txBody>
      </p:sp>
      <p:sp>
        <p:nvSpPr>
          <p:cNvPr id="11" name="TextBox 10"/>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12" name="TextBox 11"/>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extLst>
      <p:ext uri="{BB962C8B-B14F-4D97-AF65-F5344CB8AC3E}">
        <p14:creationId xmlns:p14="http://schemas.microsoft.com/office/powerpoint/2010/main" val="38927265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C0AADC-2A14-2CA2-8FB5-1F1AAD46EA38}"/>
              </a:ext>
            </a:extLst>
          </p:cNvPr>
          <p:cNvSpPr>
            <a:spLocks noGrp="1"/>
          </p:cNvSpPr>
          <p:nvPr>
            <p:ph type="title"/>
          </p:nvPr>
        </p:nvSpPr>
        <p:spPr/>
        <p:txBody>
          <a:bodyPr/>
          <a:lstStyle/>
          <a:p>
            <a:r>
              <a:rPr lang="en-US"/>
              <a:t>Module 1 Recap</a:t>
            </a:r>
          </a:p>
        </p:txBody>
      </p:sp>
      <p:sp>
        <p:nvSpPr>
          <p:cNvPr id="3" name="Content Placeholder 2">
            <a:extLst>
              <a:ext uri="{FF2B5EF4-FFF2-40B4-BE49-F238E27FC236}">
                <a16:creationId xmlns:a16="http://schemas.microsoft.com/office/drawing/2014/main" id="{FA81A6F9-61C8-BA9D-CECD-CD8308DAA5FC}"/>
              </a:ext>
            </a:extLst>
          </p:cNvPr>
          <p:cNvSpPr>
            <a:spLocks noGrp="1"/>
          </p:cNvSpPr>
          <p:nvPr>
            <p:ph idx="1"/>
          </p:nvPr>
        </p:nvSpPr>
        <p:spPr/>
        <p:txBody>
          <a:bodyPr>
            <a:normAutofit/>
          </a:bodyPr>
          <a:lstStyle/>
          <a:p>
            <a:r>
              <a:rPr lang="en-US" sz="1800"/>
              <a:t>Automation runs repeatable work for you — saving time and cutting errors
Standalone agents inform; integrated workflows take action
Every workflow follows: Trigger → Actions → Output
Triggers start it, actions do the work, outputs deliver the result
Next: build real flows in Microsoft Power Automate</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extLst>
      <p:ext uri="{BB962C8B-B14F-4D97-AF65-F5344CB8AC3E}">
        <p14:creationId xmlns:p14="http://schemas.microsoft.com/office/powerpoint/2010/main" val="161137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65C49-60E9-4A7E-9BBE-B4A86CA5E178}"/>
              </a:ext>
            </a:extLst>
          </p:cNvPr>
          <p:cNvSpPr>
            <a:spLocks noGrp="1"/>
          </p:cNvSpPr>
          <p:nvPr>
            <p:ph type="title"/>
          </p:nvPr>
        </p:nvSpPr>
        <p:spPr/>
        <p:txBody>
          <a:bodyPr/>
          <a:lstStyle/>
          <a:p>
            <a:r>
              <a:rPr lang="en-US"/>
              <a:t>Module 2 · Introduction to Power Automate</a:t>
            </a:r>
          </a:p>
        </p:txBody>
      </p:sp>
      <p:sp>
        <p:nvSpPr>
          <p:cNvPr id="3" name="Text Placeholder 2">
            <a:extLst>
              <a:ext uri="{FF2B5EF4-FFF2-40B4-BE49-F238E27FC236}">
                <a16:creationId xmlns:a16="http://schemas.microsoft.com/office/drawing/2014/main" id="{35C67494-DB45-D7B6-BB5D-ACB9253AB3E1}"/>
              </a:ext>
            </a:extLst>
          </p:cNvPr>
          <p:cNvSpPr>
            <a:spLocks noGrp="1"/>
          </p:cNvSpPr>
          <p:nvPr>
            <p:ph type="body" idx="1"/>
          </p:nvPr>
        </p:nvSpPr>
        <p:spPr/>
        <p:txBody>
          <a:bodyPr>
            <a:normAutofit/>
          </a:bodyPr>
          <a:lstStyle/>
          <a:p>
            <a:r>
              <a:rPr lang="en-US" sz="1800" b="1">
                <a:solidFill>
                  <a:srgbClr val="7C3AED"/>
                </a:solidFill>
              </a:rPr>
              <a:t>Triggers, actions, and your first five working flows</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extLst>
      <p:ext uri="{BB962C8B-B14F-4D97-AF65-F5344CB8AC3E}">
        <p14:creationId xmlns:p14="http://schemas.microsoft.com/office/powerpoint/2010/main" val="34039718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C6F1B-A19A-7BFA-7347-5DCFD6C7E10A}"/>
              </a:ext>
            </a:extLst>
          </p:cNvPr>
          <p:cNvSpPr>
            <a:spLocks noGrp="1"/>
          </p:cNvSpPr>
          <p:nvPr>
            <p:ph type="title"/>
          </p:nvPr>
        </p:nvSpPr>
        <p:spPr/>
        <p:txBody>
          <a:bodyPr/>
          <a:lstStyle/>
          <a:p>
            <a:r>
              <a:rPr lang="en-US"/>
              <a:t>Overview of Power Automate</a:t>
            </a:r>
          </a:p>
        </p:txBody>
      </p:sp>
      <p:sp>
        <p:nvSpPr>
          <p:cNvPr id="3" name="Content Placeholder 2">
            <a:extLst>
              <a:ext uri="{FF2B5EF4-FFF2-40B4-BE49-F238E27FC236}">
                <a16:creationId xmlns:a16="http://schemas.microsoft.com/office/drawing/2014/main" id="{FD29EA35-B271-A181-58DA-B4B41380BAF9}"/>
              </a:ext>
            </a:extLst>
          </p:cNvPr>
          <p:cNvSpPr>
            <a:spLocks noGrp="1"/>
          </p:cNvSpPr>
          <p:nvPr>
            <p:ph idx="1"/>
          </p:nvPr>
        </p:nvSpPr>
        <p:spPr/>
        <p:txBody>
          <a:bodyPr>
            <a:normAutofit/>
          </a:bodyPr>
          <a:lstStyle/>
          <a:p>
            <a:r>
              <a:rPr lang="en-US" sz="1800"/>
              <a:t>Microsoft's low-code tool for automating tasks and processes
Connects 1,000+ apps and services — Outlook, Excel, SharePoint, Teams, Forms and more
Build flows visually: pick a trigger, add actions, done
Runs in the cloud — no servers, no code to maintain
Part of Microsoft 365 and the Power Platform</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extLst>
      <p:ext uri="{BB962C8B-B14F-4D97-AF65-F5344CB8AC3E}">
        <p14:creationId xmlns:p14="http://schemas.microsoft.com/office/powerpoint/2010/main" val="41199773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POWER AUTOMATE</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Types of Flow and Process Patterns</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737360"/>
            <a:ext cx="2487168" cy="192024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82296" cy="192024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938528"/>
            <a:ext cx="457200" cy="457200"/>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1</a:t>
            </a:r>
          </a:p>
        </p:txBody>
      </p:sp>
      <p:sp>
        <p:nvSpPr>
          <p:cNvPr id="10" name="TextBox 9"/>
          <p:cNvSpPr txBox="1"/>
          <p:nvPr/>
        </p:nvSpPr>
        <p:spPr>
          <a:xfrm>
            <a:off x="1426464" y="1883664"/>
            <a:ext cx="1527048" cy="411480"/>
          </a:xfrm>
          <a:prstGeom prst="rect">
            <a:avLst/>
          </a:prstGeom>
          <a:noFill/>
        </p:spPr>
        <p:txBody>
          <a:bodyPr wrap="square" anchor="ctr" lIns="73152" rIns="73152" tIns="73152" bIns="73152">
            <a:spAutoFit/>
          </a:bodyPr>
          <a:lstStyle/>
          <a:p>
            <a:pPr algn="l"/>
            <a:r>
              <a:rPr sz="1700" b="1">
                <a:solidFill>
                  <a:srgbClr val="1F6FEB"/>
                </a:solidFill>
                <a:latin typeface="Arial"/>
              </a:rPr>
              <a:t>Instant</a:t>
            </a:r>
          </a:p>
        </p:txBody>
      </p:sp>
      <p:sp>
        <p:nvSpPr>
          <p:cNvPr id="11" name="TextBox 10"/>
          <p:cNvSpPr txBox="1"/>
          <p:nvPr/>
        </p:nvSpPr>
        <p:spPr>
          <a:xfrm>
            <a:off x="914400" y="2377440"/>
            <a:ext cx="2011680" cy="1170432"/>
          </a:xfrm>
          <a:prstGeom prst="rect">
            <a:avLst/>
          </a:prstGeom>
          <a:noFill/>
        </p:spPr>
        <p:txBody>
          <a:bodyPr wrap="square" anchor="ctr" lIns="73152" rIns="73152" tIns="73152" bIns="73152">
            <a:spAutoFit/>
          </a:bodyPr>
          <a:lstStyle/>
          <a:p>
            <a:pPr algn="l"/>
            <a:r>
              <a:rPr sz="1300" b="0">
                <a:solidFill>
                  <a:srgbClr val="5B6372"/>
                </a:solidFill>
                <a:latin typeface="Arial"/>
              </a:rPr>
              <a:t>A person presses Run
Labs 1–2</a:t>
            </a:r>
          </a:p>
        </p:txBody>
      </p:sp>
      <p:sp>
        <p:nvSpPr>
          <p:cNvPr id="12" name="Rounded Rectangle 11"/>
          <p:cNvSpPr/>
          <p:nvPr/>
        </p:nvSpPr>
        <p:spPr>
          <a:xfrm>
            <a:off x="3401568" y="1737360"/>
            <a:ext cx="2487168" cy="192024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01568" y="1737360"/>
            <a:ext cx="82296" cy="1920240"/>
          </a:xfrm>
          <a:prstGeom prst="rect">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602736" y="1938528"/>
            <a:ext cx="457200" cy="457200"/>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2</a:t>
            </a:r>
          </a:p>
        </p:txBody>
      </p:sp>
      <p:sp>
        <p:nvSpPr>
          <p:cNvPr id="16" name="TextBox 15"/>
          <p:cNvSpPr txBox="1"/>
          <p:nvPr/>
        </p:nvSpPr>
        <p:spPr>
          <a:xfrm>
            <a:off x="4169664" y="1883664"/>
            <a:ext cx="1527048" cy="411480"/>
          </a:xfrm>
          <a:prstGeom prst="rect">
            <a:avLst/>
          </a:prstGeom>
          <a:noFill/>
        </p:spPr>
        <p:txBody>
          <a:bodyPr wrap="square" anchor="ctr" lIns="73152" rIns="73152" tIns="73152" bIns="73152">
            <a:spAutoFit/>
          </a:bodyPr>
          <a:lstStyle/>
          <a:p>
            <a:pPr algn="l"/>
            <a:r>
              <a:rPr sz="1700" b="1">
                <a:solidFill>
                  <a:srgbClr val="108A73"/>
                </a:solidFill>
                <a:latin typeface="Arial"/>
              </a:rPr>
              <a:t>Scheduled</a:t>
            </a:r>
          </a:p>
        </p:txBody>
      </p:sp>
      <p:sp>
        <p:nvSpPr>
          <p:cNvPr id="17" name="TextBox 16"/>
          <p:cNvSpPr txBox="1"/>
          <p:nvPr/>
        </p:nvSpPr>
        <p:spPr>
          <a:xfrm>
            <a:off x="3657600" y="2377440"/>
            <a:ext cx="2011680" cy="1170432"/>
          </a:xfrm>
          <a:prstGeom prst="rect">
            <a:avLst/>
          </a:prstGeom>
          <a:noFill/>
        </p:spPr>
        <p:txBody>
          <a:bodyPr wrap="square" anchor="ctr" lIns="73152" rIns="73152" tIns="73152" bIns="73152">
            <a:spAutoFit/>
          </a:bodyPr>
          <a:lstStyle/>
          <a:p>
            <a:pPr algn="l"/>
            <a:r>
              <a:rPr sz="1300" b="0">
                <a:solidFill>
                  <a:srgbClr val="5B6372"/>
                </a:solidFill>
                <a:latin typeface="Arial"/>
              </a:rPr>
              <a:t>A clock reaches a timetable
Lab 3</a:t>
            </a:r>
          </a:p>
        </p:txBody>
      </p:sp>
      <p:sp>
        <p:nvSpPr>
          <p:cNvPr id="18" name="Rounded Rectangle 17"/>
          <p:cNvSpPr/>
          <p:nvPr/>
        </p:nvSpPr>
        <p:spPr>
          <a:xfrm>
            <a:off x="6144768" y="1737360"/>
            <a:ext cx="2487168" cy="192024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737360"/>
            <a:ext cx="82296" cy="1920240"/>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45936" y="1938528"/>
            <a:ext cx="457200" cy="457200"/>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593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3</a:t>
            </a:r>
          </a:p>
        </p:txBody>
      </p:sp>
      <p:sp>
        <p:nvSpPr>
          <p:cNvPr id="22" name="TextBox 21"/>
          <p:cNvSpPr txBox="1"/>
          <p:nvPr/>
        </p:nvSpPr>
        <p:spPr>
          <a:xfrm>
            <a:off x="6912864" y="1883664"/>
            <a:ext cx="1527048" cy="411480"/>
          </a:xfrm>
          <a:prstGeom prst="rect">
            <a:avLst/>
          </a:prstGeom>
          <a:noFill/>
        </p:spPr>
        <p:txBody>
          <a:bodyPr wrap="square" anchor="ctr" lIns="73152" rIns="73152" tIns="73152" bIns="73152">
            <a:spAutoFit/>
          </a:bodyPr>
          <a:lstStyle/>
          <a:p>
            <a:pPr algn="l"/>
            <a:r>
              <a:rPr sz="1700" b="1">
                <a:solidFill>
                  <a:srgbClr val="6D3FD2"/>
                </a:solidFill>
                <a:latin typeface="Arial"/>
              </a:rPr>
              <a:t>Automated</a:t>
            </a:r>
          </a:p>
        </p:txBody>
      </p:sp>
      <p:sp>
        <p:nvSpPr>
          <p:cNvPr id="23" name="TextBox 22"/>
          <p:cNvSpPr txBox="1"/>
          <p:nvPr/>
        </p:nvSpPr>
        <p:spPr>
          <a:xfrm>
            <a:off x="6400800" y="2377440"/>
            <a:ext cx="2011680" cy="1170432"/>
          </a:xfrm>
          <a:prstGeom prst="rect">
            <a:avLst/>
          </a:prstGeom>
          <a:noFill/>
        </p:spPr>
        <p:txBody>
          <a:bodyPr wrap="square" anchor="ctr" lIns="73152" rIns="73152" tIns="73152" bIns="73152">
            <a:spAutoFit/>
          </a:bodyPr>
          <a:lstStyle/>
          <a:p>
            <a:pPr algn="l"/>
            <a:r>
              <a:rPr sz="1300" b="0">
                <a:solidFill>
                  <a:srgbClr val="5B6372"/>
                </a:solidFill>
                <a:latin typeface="Arial"/>
              </a:rPr>
              <a:t>An event occurs
Lab 4</a:t>
            </a:r>
          </a:p>
        </p:txBody>
      </p:sp>
      <p:sp>
        <p:nvSpPr>
          <p:cNvPr id="24" name="Rounded Rectangle 23"/>
          <p:cNvSpPr/>
          <p:nvPr/>
        </p:nvSpPr>
        <p:spPr>
          <a:xfrm>
            <a:off x="8887968" y="1737360"/>
            <a:ext cx="2487168" cy="192024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87968" y="1737360"/>
            <a:ext cx="82296" cy="1920240"/>
          </a:xfrm>
          <a:prstGeom prst="rect">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089136" y="1938528"/>
            <a:ext cx="457200" cy="457200"/>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8913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4</a:t>
            </a:r>
          </a:p>
        </p:txBody>
      </p:sp>
      <p:sp>
        <p:nvSpPr>
          <p:cNvPr id="28" name="TextBox 27"/>
          <p:cNvSpPr txBox="1"/>
          <p:nvPr/>
        </p:nvSpPr>
        <p:spPr>
          <a:xfrm>
            <a:off x="9656064" y="1883664"/>
            <a:ext cx="1527048" cy="411480"/>
          </a:xfrm>
          <a:prstGeom prst="rect">
            <a:avLst/>
          </a:prstGeom>
          <a:noFill/>
        </p:spPr>
        <p:txBody>
          <a:bodyPr wrap="square" anchor="ctr" lIns="73152" rIns="73152" tIns="73152" bIns="73152">
            <a:spAutoFit/>
          </a:bodyPr>
          <a:lstStyle/>
          <a:p>
            <a:pPr algn="l"/>
            <a:r>
              <a:rPr sz="1700" b="1">
                <a:solidFill>
                  <a:srgbClr val="C77600"/>
                </a:solidFill>
                <a:latin typeface="Arial"/>
              </a:rPr>
              <a:t>Agent flow</a:t>
            </a:r>
          </a:p>
        </p:txBody>
      </p:sp>
      <p:sp>
        <p:nvSpPr>
          <p:cNvPr id="29" name="TextBox 28"/>
          <p:cNvSpPr txBox="1"/>
          <p:nvPr/>
        </p:nvSpPr>
        <p:spPr>
          <a:xfrm>
            <a:off x="9144000" y="2377440"/>
            <a:ext cx="2011680" cy="1170432"/>
          </a:xfrm>
          <a:prstGeom prst="rect">
            <a:avLst/>
          </a:prstGeom>
          <a:noFill/>
        </p:spPr>
        <p:txBody>
          <a:bodyPr wrap="square" anchor="ctr" lIns="73152" rIns="73152" tIns="73152" bIns="73152">
            <a:spAutoFit/>
          </a:bodyPr>
          <a:lstStyle/>
          <a:p>
            <a:pPr algn="l"/>
            <a:r>
              <a:rPr sz="1300" b="0">
                <a:solidFill>
                  <a:srgbClr val="5B6372"/>
                </a:solidFill>
                <a:latin typeface="Arial"/>
              </a:rPr>
              <a:t>A Copilot agent calls a tool
Labs 9–10</a:t>
            </a:r>
          </a:p>
        </p:txBody>
      </p:sp>
      <p:sp>
        <p:nvSpPr>
          <p:cNvPr id="30" name="Rounded Rectangle 29"/>
          <p:cNvSpPr/>
          <p:nvPr/>
        </p:nvSpPr>
        <p:spPr>
          <a:xfrm>
            <a:off x="1417320" y="4160520"/>
            <a:ext cx="4480560" cy="141732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17320" y="4160520"/>
            <a:ext cx="82296" cy="1417320"/>
          </a:xfrm>
          <a:prstGeom prst="rect">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73352" y="4306824"/>
            <a:ext cx="4005072" cy="411480"/>
          </a:xfrm>
          <a:prstGeom prst="rect">
            <a:avLst/>
          </a:prstGeom>
          <a:noFill/>
        </p:spPr>
        <p:txBody>
          <a:bodyPr wrap="square" anchor="ctr" lIns="73152" rIns="73152" tIns="73152" bIns="73152">
            <a:spAutoFit/>
          </a:bodyPr>
          <a:lstStyle/>
          <a:p>
            <a:pPr algn="l"/>
            <a:r>
              <a:rPr sz="1700" b="1">
                <a:solidFill>
                  <a:srgbClr val="C2413A"/>
                </a:solidFill>
                <a:latin typeface="Arial"/>
              </a:rPr>
              <a:t>Human-in-the-loop pattern</a:t>
            </a:r>
          </a:p>
        </p:txBody>
      </p:sp>
      <p:sp>
        <p:nvSpPr>
          <p:cNvPr id="33" name="TextBox 32"/>
          <p:cNvSpPr txBox="1"/>
          <p:nvPr/>
        </p:nvSpPr>
        <p:spPr>
          <a:xfrm>
            <a:off x="1673352" y="4800600"/>
            <a:ext cx="4005072" cy="667512"/>
          </a:xfrm>
          <a:prstGeom prst="rect">
            <a:avLst/>
          </a:prstGeom>
          <a:noFill/>
        </p:spPr>
        <p:txBody>
          <a:bodyPr wrap="square" anchor="ctr" lIns="73152" rIns="73152" tIns="73152" bIns="73152">
            <a:spAutoFit/>
          </a:bodyPr>
          <a:lstStyle/>
          <a:p>
            <a:pPr algn="l"/>
            <a:r>
              <a:rPr sz="1400" b="0">
                <a:solidFill>
                  <a:srgbClr val="5B6372"/>
                </a:solidFill>
                <a:latin typeface="Arial"/>
              </a:rPr>
              <a:t>Lab 5 pauses a running flow until a person approves or rejects.</a:t>
            </a:r>
          </a:p>
        </p:txBody>
      </p:sp>
      <p:sp>
        <p:nvSpPr>
          <p:cNvPr id="34" name="Rounded Rectangle 33"/>
          <p:cNvSpPr/>
          <p:nvPr/>
        </p:nvSpPr>
        <p:spPr>
          <a:xfrm>
            <a:off x="6236208" y="4160520"/>
            <a:ext cx="4480560" cy="141732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36208" y="4160520"/>
            <a:ext cx="82296" cy="1417320"/>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92240" y="4306824"/>
            <a:ext cx="4005072" cy="411480"/>
          </a:xfrm>
          <a:prstGeom prst="rect">
            <a:avLst/>
          </a:prstGeom>
          <a:noFill/>
        </p:spPr>
        <p:txBody>
          <a:bodyPr wrap="square" anchor="ctr" lIns="73152" rIns="73152" tIns="73152" bIns="73152">
            <a:spAutoFit/>
          </a:bodyPr>
          <a:lstStyle/>
          <a:p>
            <a:pPr algn="l"/>
            <a:r>
              <a:rPr sz="1700" b="1">
                <a:solidFill>
                  <a:srgbClr val="16845B"/>
                </a:solidFill>
                <a:latin typeface="Arial"/>
              </a:rPr>
              <a:t>HTTP request pattern</a:t>
            </a:r>
          </a:p>
        </p:txBody>
      </p:sp>
      <p:sp>
        <p:nvSpPr>
          <p:cNvPr id="37" name="TextBox 36"/>
          <p:cNvSpPr txBox="1"/>
          <p:nvPr/>
        </p:nvSpPr>
        <p:spPr>
          <a:xfrm>
            <a:off x="6492240" y="4800600"/>
            <a:ext cx="4005072" cy="667512"/>
          </a:xfrm>
          <a:prstGeom prst="rect">
            <a:avLst/>
          </a:prstGeom>
          <a:noFill/>
        </p:spPr>
        <p:txBody>
          <a:bodyPr wrap="square" anchor="ctr" lIns="73152" rIns="73152" tIns="73152" bIns="73152">
            <a:spAutoFit/>
          </a:bodyPr>
          <a:lstStyle/>
          <a:p>
            <a:pPr algn="l"/>
            <a:r>
              <a:rPr sz="1400" b="0">
                <a:solidFill>
                  <a:srgbClr val="5B6372"/>
                </a:solidFill>
                <a:latin typeface="Arial"/>
              </a:rPr>
              <a:t>Labs 6A–6B let an external website POST JSON and receive JSON back.</a:t>
            </a:r>
          </a:p>
        </p:txBody>
      </p:sp>
      <p:sp>
        <p:nvSpPr>
          <p:cNvPr id="38" name="TextBox 37"/>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30</a:t>
            </a:r>
          </a:p>
        </p:txBody>
      </p:sp>
    </p:spTree>
    <p:extLst>
      <p:ext uri="{BB962C8B-B14F-4D97-AF65-F5344CB8AC3E}">
        <p14:creationId xmlns:p14="http://schemas.microsoft.com/office/powerpoint/2010/main" val="39762276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24B13-8E5D-ADE6-A6B6-7865D9400CFB}"/>
              </a:ext>
            </a:extLst>
          </p:cNvPr>
          <p:cNvSpPr>
            <a:spLocks noGrp="1"/>
          </p:cNvSpPr>
          <p:nvPr>
            <p:ph type="title"/>
          </p:nvPr>
        </p:nvSpPr>
        <p:spPr/>
        <p:txBody>
          <a:bodyPr/>
          <a:lstStyle/>
          <a:p>
            <a:r>
              <a:rPr lang="en-US"/>
              <a:t>The Maker Experience</a:t>
            </a:r>
          </a:p>
        </p:txBody>
      </p:sp>
      <p:sp>
        <p:nvSpPr>
          <p:cNvPr id="3" name="Content Placeholder 2">
            <a:extLst>
              <a:ext uri="{FF2B5EF4-FFF2-40B4-BE49-F238E27FC236}">
                <a16:creationId xmlns:a16="http://schemas.microsoft.com/office/drawing/2014/main" id="{49FBECF1-7D30-BC1A-A071-A1BDBBB57A72}"/>
              </a:ext>
            </a:extLst>
          </p:cNvPr>
          <p:cNvSpPr>
            <a:spLocks noGrp="1"/>
          </p:cNvSpPr>
          <p:nvPr>
            <p:ph idx="1"/>
          </p:nvPr>
        </p:nvSpPr>
        <p:spPr/>
        <p:txBody>
          <a:bodyPr>
            <a:normAutofit/>
          </a:bodyPr>
          <a:lstStyle/>
          <a:p>
            <a:r>
              <a:rPr lang="en-US" sz="1800"/>
              <a:t>Build flows at make.powerautomate.com
Designer canvas: trigger at the top, actions added below
Search a connector, choose an action, fill in the fields
Insert dynamic content to pass data between steps
Test, then turn the flow on — it runs automatically from then on</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extLst>
      <p:ext uri="{BB962C8B-B14F-4D97-AF65-F5344CB8AC3E}">
        <p14:creationId xmlns:p14="http://schemas.microsoft.com/office/powerpoint/2010/main" val="13328222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882FB-4F9D-CD24-BF71-41C32AB0087C}"/>
              </a:ext>
            </a:extLst>
          </p:cNvPr>
          <p:cNvSpPr>
            <a:spLocks noGrp="1"/>
          </p:cNvSpPr>
          <p:nvPr>
            <p:ph type="title"/>
          </p:nvPr>
        </p:nvSpPr>
        <p:spPr/>
        <p:txBody>
          <a:bodyPr/>
          <a:lstStyle/>
          <a:p>
            <a:r>
              <a:rPr lang="en-US"/>
              <a:t>Common Triggers</a:t>
            </a:r>
          </a:p>
        </p:txBody>
      </p:sp>
      <p:sp>
        <p:nvSpPr>
          <p:cNvPr id="3" name="Content Placeholder 2">
            <a:extLst>
              <a:ext uri="{FF2B5EF4-FFF2-40B4-BE49-F238E27FC236}">
                <a16:creationId xmlns:a16="http://schemas.microsoft.com/office/drawing/2014/main" id="{91B1CDCB-7BCB-871E-3B9F-3D4EC2E42B3B}"/>
              </a:ext>
            </a:extLst>
          </p:cNvPr>
          <p:cNvSpPr>
            <a:spLocks noGrp="1"/>
          </p:cNvSpPr>
          <p:nvPr>
            <p:ph idx="1"/>
          </p:nvPr>
        </p:nvSpPr>
        <p:spPr/>
        <p:txBody>
          <a:bodyPr>
            <a:normAutofit/>
          </a:bodyPr>
          <a:lstStyle/>
          <a:p>
            <a:r>
              <a:rPr lang="en-US" sz="1800"/>
              <a:t>A trigger is the event that starts your flow
Email received — react to incoming mail in Outlook
File upload — a new file lands in SharePoint or OneDrive
Form submission — someone responds to a Microsoft Form
Each trigger hands its data to the rest of the flow</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extLst>
      <p:ext uri="{BB962C8B-B14F-4D97-AF65-F5344CB8AC3E}">
        <p14:creationId xmlns:p14="http://schemas.microsoft.com/office/powerpoint/2010/main" val="23955829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BE857-4548-8DC3-C414-305FEEFE4BF7}"/>
              </a:ext>
            </a:extLst>
          </p:cNvPr>
          <p:cNvSpPr>
            <a:spLocks noGrp="1"/>
          </p:cNvSpPr>
          <p:nvPr>
            <p:ph type="title"/>
          </p:nvPr>
        </p:nvSpPr>
        <p:spPr/>
        <p:txBody>
          <a:bodyPr/>
          <a:lstStyle/>
          <a:p>
            <a:r>
              <a:rPr lang="en-US"/>
              <a:t>Trigger: Email Received</a:t>
            </a:r>
          </a:p>
        </p:txBody>
      </p:sp>
      <p:sp>
        <p:nvSpPr>
          <p:cNvPr id="3" name="Content Placeholder 2">
            <a:extLst>
              <a:ext uri="{FF2B5EF4-FFF2-40B4-BE49-F238E27FC236}">
                <a16:creationId xmlns:a16="http://schemas.microsoft.com/office/drawing/2014/main" id="{B8865A9C-F97A-F0C3-7581-0BF1813E02BF}"/>
              </a:ext>
            </a:extLst>
          </p:cNvPr>
          <p:cNvSpPr>
            <a:spLocks noGrp="1"/>
          </p:cNvSpPr>
          <p:nvPr>
            <p:ph idx="1"/>
          </p:nvPr>
        </p:nvSpPr>
        <p:spPr/>
        <p:txBody>
          <a:bodyPr>
            <a:normAutofit/>
          </a:bodyPr>
          <a:lstStyle/>
          <a:p>
            <a:r>
              <a:rPr lang="en-US" sz="1800"/>
              <a:t>Starts a flow when a new email arrives in Outlook
Filter by sender, subject, folder or importance
Grabs the email's data: from, subject, body, attachments
Use it for: enquiries, requests, alerts and notifications
Lab example: a sales enquiry email kicks off logging and a reply</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extLst>
      <p:ext uri="{BB962C8B-B14F-4D97-AF65-F5344CB8AC3E}">
        <p14:creationId xmlns:p14="http://schemas.microsoft.com/office/powerpoint/2010/main" val="23045675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7E78C7-88E1-C652-FA30-FE14841BA4C0}"/>
              </a:ext>
            </a:extLst>
          </p:cNvPr>
          <p:cNvSpPr>
            <a:spLocks noGrp="1"/>
          </p:cNvSpPr>
          <p:nvPr>
            <p:ph type="title"/>
          </p:nvPr>
        </p:nvSpPr>
        <p:spPr/>
        <p:txBody>
          <a:bodyPr/>
          <a:lstStyle/>
          <a:p>
            <a:r>
              <a:rPr lang="en-US"/>
              <a:t>Trigger: File Upload</a:t>
            </a:r>
          </a:p>
        </p:txBody>
      </p:sp>
      <p:sp>
        <p:nvSpPr>
          <p:cNvPr id="3" name="Content Placeholder 2">
            <a:extLst>
              <a:ext uri="{FF2B5EF4-FFF2-40B4-BE49-F238E27FC236}">
                <a16:creationId xmlns:a16="http://schemas.microsoft.com/office/drawing/2014/main" id="{471CD090-E699-430C-A27D-59E512BC2E23}"/>
              </a:ext>
            </a:extLst>
          </p:cNvPr>
          <p:cNvSpPr>
            <a:spLocks noGrp="1"/>
          </p:cNvSpPr>
          <p:nvPr>
            <p:ph idx="1"/>
          </p:nvPr>
        </p:nvSpPr>
        <p:spPr/>
        <p:txBody>
          <a:bodyPr>
            <a:normAutofit/>
          </a:bodyPr>
          <a:lstStyle/>
          <a:p>
            <a:r>
              <a:rPr lang="en-US" sz="1800"/>
              <a:t>Starts a flow when a file is added to SharePoint or OneDrive
Watches a specific folder or document library
Captures the file name, content and metadata
Use it for: invoices, contracts, reports and submissions
Lab example: an uploaded invoice starts an approval workflow</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extLst>
      <p:ext uri="{BB962C8B-B14F-4D97-AF65-F5344CB8AC3E}">
        <p14:creationId xmlns:p14="http://schemas.microsoft.com/office/powerpoint/2010/main" val="21126171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9103D-6F53-F7D6-BBDF-2F2B6DC6548E}"/>
              </a:ext>
            </a:extLst>
          </p:cNvPr>
          <p:cNvSpPr>
            <a:spLocks noGrp="1"/>
          </p:cNvSpPr>
          <p:nvPr>
            <p:ph type="title"/>
          </p:nvPr>
        </p:nvSpPr>
        <p:spPr/>
        <p:txBody>
          <a:bodyPr/>
          <a:lstStyle/>
          <a:p>
            <a:r>
              <a:rPr lang="en-US"/>
              <a:t>Trigger: Form Submission</a:t>
            </a:r>
          </a:p>
        </p:txBody>
      </p:sp>
      <p:sp>
        <p:nvSpPr>
          <p:cNvPr id="3" name="Content Placeholder 2">
            <a:extLst>
              <a:ext uri="{FF2B5EF4-FFF2-40B4-BE49-F238E27FC236}">
                <a16:creationId xmlns:a16="http://schemas.microsoft.com/office/drawing/2014/main" id="{65F01EC8-F18C-89BA-4B8A-B2F8B393CA20}"/>
              </a:ext>
            </a:extLst>
          </p:cNvPr>
          <p:cNvSpPr>
            <a:spLocks noGrp="1"/>
          </p:cNvSpPr>
          <p:nvPr>
            <p:ph idx="1"/>
          </p:nvPr>
        </p:nvSpPr>
        <p:spPr/>
        <p:txBody>
          <a:bodyPr>
            <a:normAutofit/>
          </a:bodyPr>
          <a:lstStyle/>
          <a:p>
            <a:r>
              <a:rPr lang="en-US" sz="1800"/>
              <a:t>Starts a flow when someone submits a Microsoft Form
Each answer becomes data you can use downstream
No inbox or folder to watch — the form is the front door
Use it for: requests, registrations, feedback and orders
Lab example: a purchase request form routes to a manager for approval</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extLst>
      <p:ext uri="{BB962C8B-B14F-4D97-AF65-F5344CB8AC3E}">
        <p14:creationId xmlns:p14="http://schemas.microsoft.com/office/powerpoint/2010/main" val="21480003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B74552-B483-2A9B-FEE7-48C42995A68E}"/>
              </a:ext>
            </a:extLst>
          </p:cNvPr>
          <p:cNvSpPr>
            <a:spLocks noGrp="1"/>
          </p:cNvSpPr>
          <p:nvPr>
            <p:ph type="title"/>
          </p:nvPr>
        </p:nvSpPr>
        <p:spPr/>
        <p:txBody>
          <a:bodyPr/>
          <a:lstStyle/>
          <a:p>
            <a:r>
              <a:rPr lang="en-US"/>
              <a:t>Creating Workflow Actions</a:t>
            </a:r>
          </a:p>
        </p:txBody>
      </p:sp>
      <p:sp>
        <p:nvSpPr>
          <p:cNvPr id="3" name="Content Placeholder 2">
            <a:extLst>
              <a:ext uri="{FF2B5EF4-FFF2-40B4-BE49-F238E27FC236}">
                <a16:creationId xmlns:a16="http://schemas.microsoft.com/office/drawing/2014/main" id="{95490472-9356-2685-DF9F-7FC86A93E4B9}"/>
              </a:ext>
            </a:extLst>
          </p:cNvPr>
          <p:cNvSpPr>
            <a:spLocks noGrp="1"/>
          </p:cNvSpPr>
          <p:nvPr>
            <p:ph idx="1"/>
          </p:nvPr>
        </p:nvSpPr>
        <p:spPr/>
        <p:txBody>
          <a:bodyPr>
            <a:normAutofit/>
          </a:bodyPr>
          <a:lstStyle/>
          <a:p>
            <a:r>
              <a:rPr lang="en-US" sz="1800"/>
              <a:t>After the trigger, add the steps that do the work
Search for a connector, then pick the action you need
Fill in the fields — type text or insert dynamic content
Stack actions in order; reorder by dragging
Three actions you'll use constantly: send email, add Excel row, request approval</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extLst>
      <p:ext uri="{BB962C8B-B14F-4D97-AF65-F5344CB8AC3E}">
        <p14:creationId xmlns:p14="http://schemas.microsoft.com/office/powerpoint/2010/main" val="10904523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385E6-0B65-068D-5E4A-9F1011476414}"/>
              </a:ext>
            </a:extLst>
          </p:cNvPr>
          <p:cNvSpPr>
            <a:spLocks noGrp="1"/>
          </p:cNvSpPr>
          <p:nvPr>
            <p:ph type="title"/>
          </p:nvPr>
        </p:nvSpPr>
        <p:spPr/>
        <p:txBody>
          <a:bodyPr/>
          <a:lstStyle/>
          <a:p>
            <a:r>
              <a:rPr lang="en-US"/>
              <a:t>Action: Send Emails</a:t>
            </a:r>
          </a:p>
        </p:txBody>
      </p:sp>
      <p:sp>
        <p:nvSpPr>
          <p:cNvPr id="3" name="Content Placeholder 2">
            <a:extLst>
              <a:ext uri="{FF2B5EF4-FFF2-40B4-BE49-F238E27FC236}">
                <a16:creationId xmlns:a16="http://schemas.microsoft.com/office/drawing/2014/main" id="{64C07D69-E1B7-5B48-30BA-E3CCC9E41413}"/>
              </a:ext>
            </a:extLst>
          </p:cNvPr>
          <p:cNvSpPr>
            <a:spLocks noGrp="1"/>
          </p:cNvSpPr>
          <p:nvPr>
            <p:ph idx="1"/>
          </p:nvPr>
        </p:nvSpPr>
        <p:spPr/>
        <p:txBody>
          <a:bodyPr>
            <a:normAutofit/>
          </a:bodyPr>
          <a:lstStyle/>
          <a:p>
            <a:r>
              <a:rPr lang="en-US" sz="1800"/>
              <a:t>Sends an automated email from Outlook
Set the recipient, subject and body — any can be dynamic
Personalise with data from the trigger (sender name, request details)
Use for confirmations, notifications and auto-replies
Keeps everyone informed without anyone lifting a finger</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extLst>
      <p:ext uri="{BB962C8B-B14F-4D97-AF65-F5344CB8AC3E}">
        <p14:creationId xmlns:p14="http://schemas.microsoft.com/office/powerpoint/2010/main" val="12616571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F21E5-EEDB-DE9A-806D-1A3FC8AF6D34}"/>
              </a:ext>
            </a:extLst>
          </p:cNvPr>
          <p:cNvSpPr>
            <a:spLocks noGrp="1"/>
          </p:cNvSpPr>
          <p:nvPr>
            <p:ph type="title"/>
          </p:nvPr>
        </p:nvSpPr>
        <p:spPr/>
        <p:txBody>
          <a:bodyPr/>
          <a:lstStyle/>
          <a:p>
            <a:r>
              <a:rPr lang="en-US"/>
              <a:t>Action: Create Excel Entries</a:t>
            </a:r>
          </a:p>
        </p:txBody>
      </p:sp>
      <p:sp>
        <p:nvSpPr>
          <p:cNvPr id="3" name="Content Placeholder 2">
            <a:extLst>
              <a:ext uri="{FF2B5EF4-FFF2-40B4-BE49-F238E27FC236}">
                <a16:creationId xmlns:a16="http://schemas.microsoft.com/office/drawing/2014/main" id="{A65D4574-1803-2C84-44CB-6C2CF7815454}"/>
              </a:ext>
            </a:extLst>
          </p:cNvPr>
          <p:cNvSpPr>
            <a:spLocks noGrp="1"/>
          </p:cNvSpPr>
          <p:nvPr>
            <p:ph idx="1"/>
          </p:nvPr>
        </p:nvSpPr>
        <p:spPr/>
        <p:txBody>
          <a:bodyPr>
            <a:normAutofit/>
          </a:bodyPr>
          <a:lstStyle/>
          <a:p>
            <a:r>
              <a:rPr lang="en-US" sz="1800"/>
              <a:t>Adds a new row to a table in an Excel workbook
Map each column to data from the flow
Builds a running log automatically — enquiries, requests, transactions
Stored in OneDrive or SharePoint, ready to filter and report on
Turns scattered events into a clean, structured record</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extLst>
      <p:ext uri="{BB962C8B-B14F-4D97-AF65-F5344CB8AC3E}">
        <p14:creationId xmlns:p14="http://schemas.microsoft.com/office/powerpoint/2010/main" val="58955027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PAUSE · DECIDE · RESUME</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Human in the Loop — Approval Pattern</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828800"/>
            <a:ext cx="2393441" cy="123444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01952"/>
            <a:ext cx="2247137" cy="1088136"/>
          </a:xfrm>
          <a:prstGeom prst="rect">
            <a:avLst/>
          </a:prstGeom>
          <a:noFill/>
        </p:spPr>
        <p:txBody>
          <a:bodyPr wrap="square" anchor="ctr" lIns="73152" rIns="73152" tIns="73152" bIns="73152">
            <a:spAutoFit/>
          </a:bodyPr>
          <a:lstStyle/>
          <a:p>
            <a:pPr algn="ctr"/>
            <a:r>
              <a:rPr sz="1300" b="1">
                <a:solidFill>
                  <a:srgbClr val="161B26"/>
                </a:solidFill>
                <a:latin typeface="Arial"/>
              </a:rPr>
              <a:t>Request submitted</a:t>
            </a:r>
          </a:p>
        </p:txBody>
      </p:sp>
      <p:sp>
        <p:nvSpPr>
          <p:cNvPr id="8" name="Chevron 7"/>
          <p:cNvSpPr/>
          <p:nvPr/>
        </p:nvSpPr>
        <p:spPr>
          <a:xfrm>
            <a:off x="3106674" y="229057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42081"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pause</a:t>
            </a:r>
          </a:p>
        </p:txBody>
      </p:sp>
      <p:sp>
        <p:nvSpPr>
          <p:cNvPr id="10" name="Rounded Rectangle 9"/>
          <p:cNvSpPr/>
          <p:nvPr/>
        </p:nvSpPr>
        <p:spPr>
          <a:xfrm>
            <a:off x="3472433" y="1828800"/>
            <a:ext cx="2393441" cy="1234440"/>
          </a:xfrm>
          <a:prstGeom prst="roundRect">
            <a:avLst/>
          </a:prstGeom>
          <a:solidFill>
            <a:srgbClr val="FFFFFF"/>
          </a:solidFill>
          <a:ln w="15240">
            <a:solidFill>
              <a:srgbClr val="C24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5585" y="1901952"/>
            <a:ext cx="2247137" cy="1088136"/>
          </a:xfrm>
          <a:prstGeom prst="rect">
            <a:avLst/>
          </a:prstGeom>
          <a:noFill/>
        </p:spPr>
        <p:txBody>
          <a:bodyPr wrap="square" anchor="ctr" lIns="73152" rIns="73152" tIns="73152" bIns="73152">
            <a:spAutoFit/>
          </a:bodyPr>
          <a:lstStyle/>
          <a:p>
            <a:pPr algn="ctr"/>
            <a:r>
              <a:rPr sz="1300" b="1">
                <a:solidFill>
                  <a:srgbClr val="161B26"/>
                </a:solidFill>
                <a:latin typeface="Arial"/>
              </a:rPr>
              <a:t>Start and wait
for approval</a:t>
            </a:r>
          </a:p>
        </p:txBody>
      </p:sp>
      <p:sp>
        <p:nvSpPr>
          <p:cNvPr id="12" name="Chevron 11"/>
          <p:cNvSpPr/>
          <p:nvPr/>
        </p:nvSpPr>
        <p:spPr>
          <a:xfrm>
            <a:off x="5920739" y="2290572"/>
            <a:ext cx="274320" cy="310896"/>
          </a:xfrm>
          <a:prstGeom prst="chevron">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56146"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decision</a:t>
            </a:r>
          </a:p>
        </p:txBody>
      </p:sp>
      <p:sp>
        <p:nvSpPr>
          <p:cNvPr id="14" name="Rounded Rectangle 13"/>
          <p:cNvSpPr/>
          <p:nvPr/>
        </p:nvSpPr>
        <p:spPr>
          <a:xfrm>
            <a:off x="6286499" y="1828800"/>
            <a:ext cx="2393441" cy="1234440"/>
          </a:xfrm>
          <a:prstGeom prst="roundRect">
            <a:avLst/>
          </a:prstGeom>
          <a:solidFill>
            <a:srgbClr val="FFFFFF"/>
          </a:solidFill>
          <a:ln w="15240">
            <a:solidFill>
              <a:srgbClr val="C24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1901952"/>
            <a:ext cx="2247137" cy="1088136"/>
          </a:xfrm>
          <a:prstGeom prst="rect">
            <a:avLst/>
          </a:prstGeom>
          <a:noFill/>
        </p:spPr>
        <p:txBody>
          <a:bodyPr wrap="square" anchor="ctr" lIns="73152" rIns="73152" tIns="73152" bIns="73152">
            <a:spAutoFit/>
          </a:bodyPr>
          <a:lstStyle/>
          <a:p>
            <a:pPr algn="ctr"/>
            <a:r>
              <a:rPr sz="1300" b="1">
                <a:solidFill>
                  <a:srgbClr val="161B26"/>
                </a:solidFill>
                <a:latin typeface="Arial"/>
              </a:rPr>
              <a:t>Human approves
or rejects</a:t>
            </a:r>
          </a:p>
        </p:txBody>
      </p:sp>
      <p:sp>
        <p:nvSpPr>
          <p:cNvPr id="16" name="Chevron 15"/>
          <p:cNvSpPr/>
          <p:nvPr/>
        </p:nvSpPr>
        <p:spPr>
          <a:xfrm>
            <a:off x="8734805" y="2290572"/>
            <a:ext cx="274320" cy="310896"/>
          </a:xfrm>
          <a:prstGeom prst="chevron">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70212"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resume</a:t>
            </a:r>
          </a:p>
        </p:txBody>
      </p:sp>
      <p:sp>
        <p:nvSpPr>
          <p:cNvPr id="18" name="Rounded Rectangle 17"/>
          <p:cNvSpPr/>
          <p:nvPr/>
        </p:nvSpPr>
        <p:spPr>
          <a:xfrm>
            <a:off x="9100565" y="1828800"/>
            <a:ext cx="2393441" cy="123444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73717" y="1901952"/>
            <a:ext cx="2247137" cy="1088136"/>
          </a:xfrm>
          <a:prstGeom prst="rect">
            <a:avLst/>
          </a:prstGeom>
          <a:noFill/>
        </p:spPr>
        <p:txBody>
          <a:bodyPr wrap="square" anchor="ctr" lIns="73152" rIns="73152" tIns="73152" bIns="73152">
            <a:spAutoFit/>
          </a:bodyPr>
          <a:lstStyle/>
          <a:p>
            <a:pPr algn="ctr"/>
            <a:r>
              <a:rPr sz="1300" b="1">
                <a:solidFill>
                  <a:srgbClr val="161B26"/>
                </a:solidFill>
                <a:latin typeface="Arial"/>
              </a:rPr>
              <a:t>Condition reads
Outcome</a:t>
            </a:r>
          </a:p>
        </p:txBody>
      </p:sp>
      <p:sp>
        <p:nvSpPr>
          <p:cNvPr id="20" name="Rounded Rectangle 19"/>
          <p:cNvSpPr/>
          <p:nvPr/>
        </p:nvSpPr>
        <p:spPr>
          <a:xfrm>
            <a:off x="1051560" y="3886200"/>
            <a:ext cx="48006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86200"/>
            <a:ext cx="82296" cy="1325880"/>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07592" y="4032504"/>
            <a:ext cx="4325112" cy="411480"/>
          </a:xfrm>
          <a:prstGeom prst="rect">
            <a:avLst/>
          </a:prstGeom>
          <a:noFill/>
        </p:spPr>
        <p:txBody>
          <a:bodyPr wrap="square" anchor="ctr" lIns="73152" rIns="73152" tIns="73152" bIns="73152">
            <a:spAutoFit/>
          </a:bodyPr>
          <a:lstStyle/>
          <a:p>
            <a:pPr algn="l"/>
            <a:r>
              <a:rPr sz="1700" b="1">
                <a:solidFill>
                  <a:srgbClr val="16845B"/>
                </a:solidFill>
                <a:latin typeface="Arial"/>
              </a:rPr>
              <a:t>If yes — Approve</a:t>
            </a:r>
          </a:p>
        </p:txBody>
      </p:sp>
      <p:sp>
        <p:nvSpPr>
          <p:cNvPr id="23" name="TextBox 22"/>
          <p:cNvSpPr txBox="1"/>
          <p:nvPr/>
        </p:nvSpPr>
        <p:spPr>
          <a:xfrm>
            <a:off x="1307592" y="4526280"/>
            <a:ext cx="4325112" cy="576072"/>
          </a:xfrm>
          <a:prstGeom prst="rect">
            <a:avLst/>
          </a:prstGeom>
          <a:noFill/>
        </p:spPr>
        <p:txBody>
          <a:bodyPr wrap="square" anchor="ctr" lIns="73152" rIns="73152" tIns="73152" bIns="73152">
            <a:spAutoFit/>
          </a:bodyPr>
          <a:lstStyle/>
          <a:p>
            <a:pPr algn="l"/>
            <a:r>
              <a:rPr sz="1400" b="0">
                <a:solidFill>
                  <a:srgbClr val="5B6372"/>
                </a:solidFill>
                <a:latin typeface="Arial"/>
              </a:rPr>
              <a:t>Send the approved message and continue the business process.</a:t>
            </a:r>
          </a:p>
        </p:txBody>
      </p:sp>
      <p:sp>
        <p:nvSpPr>
          <p:cNvPr id="24" name="Rounded Rectangle 23"/>
          <p:cNvSpPr/>
          <p:nvPr/>
        </p:nvSpPr>
        <p:spPr>
          <a:xfrm>
            <a:off x="6263640" y="3886200"/>
            <a:ext cx="48006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63640" y="3886200"/>
            <a:ext cx="82296" cy="1325880"/>
          </a:xfrm>
          <a:prstGeom prst="rect">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19672" y="4032504"/>
            <a:ext cx="4325112" cy="411480"/>
          </a:xfrm>
          <a:prstGeom prst="rect">
            <a:avLst/>
          </a:prstGeom>
          <a:noFill/>
        </p:spPr>
        <p:txBody>
          <a:bodyPr wrap="square" anchor="ctr" lIns="73152" rIns="73152" tIns="73152" bIns="73152">
            <a:spAutoFit/>
          </a:bodyPr>
          <a:lstStyle/>
          <a:p>
            <a:pPr algn="l"/>
            <a:r>
              <a:rPr sz="1700" b="1">
                <a:solidFill>
                  <a:srgbClr val="C2413A"/>
                </a:solidFill>
                <a:latin typeface="Arial"/>
              </a:rPr>
              <a:t>If no — Reject</a:t>
            </a:r>
          </a:p>
        </p:txBody>
      </p:sp>
      <p:sp>
        <p:nvSpPr>
          <p:cNvPr id="27" name="TextBox 26"/>
          <p:cNvSpPr txBox="1"/>
          <p:nvPr/>
        </p:nvSpPr>
        <p:spPr>
          <a:xfrm>
            <a:off x="6519672" y="4526280"/>
            <a:ext cx="4325112" cy="576072"/>
          </a:xfrm>
          <a:prstGeom prst="rect">
            <a:avLst/>
          </a:prstGeom>
          <a:noFill/>
        </p:spPr>
        <p:txBody>
          <a:bodyPr wrap="square" anchor="ctr" lIns="73152" rIns="73152" tIns="73152" bIns="73152">
            <a:spAutoFit/>
          </a:bodyPr>
          <a:lstStyle/>
          <a:p>
            <a:pPr algn="l"/>
            <a:r>
              <a:rPr sz="1400" b="0">
                <a:solidFill>
                  <a:srgbClr val="5B6372"/>
                </a:solidFill>
                <a:latin typeface="Arial"/>
              </a:rPr>
              <a:t>Send the rejected message and stop or return for changes.</a:t>
            </a:r>
          </a:p>
        </p:txBody>
      </p:sp>
      <p:sp>
        <p:nvSpPr>
          <p:cNvPr id="28" name="TextBox 27"/>
          <p:cNvSpPr txBox="1"/>
          <p:nvPr/>
        </p:nvSpPr>
        <p:spPr>
          <a:xfrm>
            <a:off x="658368" y="5559552"/>
            <a:ext cx="10835640" cy="438912"/>
          </a:xfrm>
          <a:prstGeom prst="rect">
            <a:avLst/>
          </a:prstGeom>
          <a:noFill/>
        </p:spPr>
        <p:txBody>
          <a:bodyPr wrap="square" anchor="ctr" lIns="73152" rIns="73152" tIns="73152" bIns="73152">
            <a:spAutoFit/>
          </a:bodyPr>
          <a:lstStyle/>
          <a:p>
            <a:pPr algn="ctr"/>
            <a:r>
              <a:rPr sz="1600" b="1">
                <a:solidFill>
                  <a:srgbClr val="161B26"/>
                </a:solidFill>
                <a:latin typeface="Arial"/>
              </a:rPr>
              <a:t>The automation is still deterministic; the person supplies the decision.</a:t>
            </a:r>
          </a:p>
        </p:txBody>
      </p:sp>
      <p:sp>
        <p:nvSpPr>
          <p:cNvPr id="29" name="TextBox 28"/>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39</a:t>
            </a:r>
          </a:p>
        </p:txBody>
      </p:sp>
    </p:spTree>
    <p:extLst>
      <p:ext uri="{BB962C8B-B14F-4D97-AF65-F5344CB8AC3E}">
        <p14:creationId xmlns:p14="http://schemas.microsoft.com/office/powerpoint/2010/main" val="8624075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7F9D8-05FB-112C-8EFC-891A14DA8E29}"/>
              </a:ext>
            </a:extLst>
          </p:cNvPr>
          <p:cNvSpPr>
            <a:spLocks noGrp="1"/>
          </p:cNvSpPr>
          <p:nvPr>
            <p:ph type="title"/>
          </p:nvPr>
        </p:nvSpPr>
        <p:spPr/>
        <p:txBody>
          <a:bodyPr/>
          <a:lstStyle/>
          <a:p>
            <a:r>
              <a:rPr lang="en-US"/>
              <a:t>Connectors — Linking It All Together</a:t>
            </a:r>
          </a:p>
        </p:txBody>
      </p:sp>
      <p:sp>
        <p:nvSpPr>
          <p:cNvPr id="3" name="Content Placeholder 2">
            <a:extLst>
              <a:ext uri="{FF2B5EF4-FFF2-40B4-BE49-F238E27FC236}">
                <a16:creationId xmlns:a16="http://schemas.microsoft.com/office/drawing/2014/main" id="{47FAAAD5-8CBE-1D98-5E3A-FB46CC68AE38}"/>
              </a:ext>
            </a:extLst>
          </p:cNvPr>
          <p:cNvSpPr>
            <a:spLocks noGrp="1"/>
          </p:cNvSpPr>
          <p:nvPr>
            <p:ph idx="1"/>
          </p:nvPr>
        </p:nvSpPr>
        <p:spPr/>
        <p:txBody>
          <a:bodyPr>
            <a:normAutofit/>
          </a:bodyPr>
          <a:lstStyle/>
          <a:p>
            <a:r>
              <a:rPr lang="en-US" sz="1800"/>
              <a:t>A connector is the bridge to an app or service
Outlook, Excel, SharePoint, Teams, Forms, Approvals and 1,000+ more
Each connector offers its own triggers and actions
Sign in once; the flow uses your secure connection
Mix connectors freely to span your whole toolset</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extLst>
      <p:ext uri="{BB962C8B-B14F-4D97-AF65-F5344CB8AC3E}">
        <p14:creationId xmlns:p14="http://schemas.microsoft.com/office/powerpoint/2010/main" val="13488177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DAY 1 PROGRESSION</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Hands-On Labs — Power Automate</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874519"/>
            <a:ext cx="1830628" cy="123444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4767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Labs 1–2
Instant</a:t>
            </a:r>
          </a:p>
        </p:txBody>
      </p:sp>
      <p:sp>
        <p:nvSpPr>
          <p:cNvPr id="8" name="Chevron 7"/>
          <p:cNvSpPr/>
          <p:nvPr/>
        </p:nvSpPr>
        <p:spPr>
          <a:xfrm>
            <a:off x="2543860" y="2336291"/>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79268"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add time</a:t>
            </a:r>
          </a:p>
        </p:txBody>
      </p:sp>
      <p:sp>
        <p:nvSpPr>
          <p:cNvPr id="10" name="Rounded Rectangle 9"/>
          <p:cNvSpPr/>
          <p:nvPr/>
        </p:nvSpPr>
        <p:spPr>
          <a:xfrm>
            <a:off x="2909620" y="1874519"/>
            <a:ext cx="1830628" cy="123444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2772" y="194767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Lab 3
Scheduled</a:t>
            </a:r>
          </a:p>
        </p:txBody>
      </p:sp>
      <p:sp>
        <p:nvSpPr>
          <p:cNvPr id="12" name="Chevron 11"/>
          <p:cNvSpPr/>
          <p:nvPr/>
        </p:nvSpPr>
        <p:spPr>
          <a:xfrm>
            <a:off x="4795112" y="2336291"/>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0520"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add event</a:t>
            </a:r>
          </a:p>
        </p:txBody>
      </p:sp>
      <p:sp>
        <p:nvSpPr>
          <p:cNvPr id="14" name="Rounded Rectangle 13"/>
          <p:cNvSpPr/>
          <p:nvPr/>
        </p:nvSpPr>
        <p:spPr>
          <a:xfrm>
            <a:off x="5160873" y="1874519"/>
            <a:ext cx="1830628" cy="123444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4025" y="194767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Lab 4
Automated</a:t>
            </a:r>
          </a:p>
        </p:txBody>
      </p:sp>
      <p:sp>
        <p:nvSpPr>
          <p:cNvPr id="16" name="Chevron 15"/>
          <p:cNvSpPr/>
          <p:nvPr/>
        </p:nvSpPr>
        <p:spPr>
          <a:xfrm>
            <a:off x="7046365" y="2336291"/>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1773"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add person</a:t>
            </a:r>
          </a:p>
        </p:txBody>
      </p:sp>
      <p:sp>
        <p:nvSpPr>
          <p:cNvPr id="18" name="Rounded Rectangle 17"/>
          <p:cNvSpPr/>
          <p:nvPr/>
        </p:nvSpPr>
        <p:spPr>
          <a:xfrm>
            <a:off x="7412126" y="1874519"/>
            <a:ext cx="1830628" cy="1234440"/>
          </a:xfrm>
          <a:prstGeom prst="roundRect">
            <a:avLst/>
          </a:prstGeom>
          <a:solidFill>
            <a:srgbClr val="FFFFFF"/>
          </a:solidFill>
          <a:ln w="15240">
            <a:solidFill>
              <a:srgbClr val="C24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5278" y="194767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Lab 5
Approval</a:t>
            </a:r>
          </a:p>
        </p:txBody>
      </p:sp>
      <p:sp>
        <p:nvSpPr>
          <p:cNvPr id="20" name="Chevron 19"/>
          <p:cNvSpPr/>
          <p:nvPr/>
        </p:nvSpPr>
        <p:spPr>
          <a:xfrm>
            <a:off x="9297618" y="2336291"/>
            <a:ext cx="274320" cy="310896"/>
          </a:xfrm>
          <a:prstGeom prst="chevron">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3026"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add external caller</a:t>
            </a:r>
          </a:p>
        </p:txBody>
      </p:sp>
      <p:sp>
        <p:nvSpPr>
          <p:cNvPr id="22" name="Rounded Rectangle 21"/>
          <p:cNvSpPr/>
          <p:nvPr/>
        </p:nvSpPr>
        <p:spPr>
          <a:xfrm>
            <a:off x="9663379" y="1874519"/>
            <a:ext cx="1830628" cy="123444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6531" y="194767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Labs 6A–B
HTTP</a:t>
            </a:r>
          </a:p>
        </p:txBody>
      </p:sp>
      <p:sp>
        <p:nvSpPr>
          <p:cNvPr id="24" name="TextBox 23"/>
          <p:cNvSpPr txBox="1"/>
          <p:nvPr/>
        </p:nvSpPr>
        <p:spPr>
          <a:xfrm>
            <a:off x="658368" y="3703320"/>
            <a:ext cx="10835640" cy="384048"/>
          </a:xfrm>
          <a:prstGeom prst="rect">
            <a:avLst/>
          </a:prstGeom>
          <a:noFill/>
        </p:spPr>
        <p:txBody>
          <a:bodyPr wrap="square" anchor="ctr" lIns="73152" rIns="73152" tIns="73152" bIns="73152">
            <a:spAutoFit/>
          </a:bodyPr>
          <a:lstStyle/>
          <a:p>
            <a:pPr algn="ctr"/>
            <a:r>
              <a:rPr sz="1400" b="1">
                <a:solidFill>
                  <a:srgbClr val="1F6FEB"/>
                </a:solidFill>
                <a:latin typeface="Arial"/>
              </a:rPr>
              <a:t>DAY 1 BUILDS THE AUTOMATION ENGINE</a:t>
            </a:r>
          </a:p>
        </p:txBody>
      </p:sp>
      <p:sp>
        <p:nvSpPr>
          <p:cNvPr id="25" name="Rounded Rectangle 24"/>
          <p:cNvSpPr/>
          <p:nvPr/>
        </p:nvSpPr>
        <p:spPr>
          <a:xfrm>
            <a:off x="914400" y="4251960"/>
            <a:ext cx="315468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00" y="4251960"/>
            <a:ext cx="82296" cy="132588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0432" y="4398264"/>
            <a:ext cx="2679192" cy="411480"/>
          </a:xfrm>
          <a:prstGeom prst="rect">
            <a:avLst/>
          </a:prstGeom>
          <a:noFill/>
        </p:spPr>
        <p:txBody>
          <a:bodyPr wrap="square" anchor="ctr" lIns="73152" rIns="73152" tIns="73152" bIns="73152">
            <a:spAutoFit/>
          </a:bodyPr>
          <a:lstStyle/>
          <a:p>
            <a:pPr algn="l"/>
            <a:r>
              <a:rPr sz="1700" b="1">
                <a:solidFill>
                  <a:srgbClr val="1F6FEB"/>
                </a:solidFill>
                <a:latin typeface="Arial"/>
              </a:rPr>
              <a:t>Trigger</a:t>
            </a:r>
          </a:p>
        </p:txBody>
      </p:sp>
      <p:sp>
        <p:nvSpPr>
          <p:cNvPr id="28" name="TextBox 27"/>
          <p:cNvSpPr txBox="1"/>
          <p:nvPr/>
        </p:nvSpPr>
        <p:spPr>
          <a:xfrm>
            <a:off x="1170432" y="4892040"/>
            <a:ext cx="2679192" cy="576072"/>
          </a:xfrm>
          <a:prstGeom prst="rect">
            <a:avLst/>
          </a:prstGeom>
          <a:noFill/>
        </p:spPr>
        <p:txBody>
          <a:bodyPr wrap="square" anchor="ctr" lIns="73152" rIns="73152" tIns="73152" bIns="73152">
            <a:spAutoFit/>
          </a:bodyPr>
          <a:lstStyle/>
          <a:p>
            <a:pPr algn="l"/>
            <a:r>
              <a:rPr sz="1400" b="0">
                <a:solidFill>
                  <a:srgbClr val="5B6372"/>
                </a:solidFill>
                <a:latin typeface="Arial"/>
              </a:rPr>
              <a:t>What starts the process?</a:t>
            </a:r>
          </a:p>
        </p:txBody>
      </p:sp>
      <p:sp>
        <p:nvSpPr>
          <p:cNvPr id="29" name="Rounded Rectangle 28"/>
          <p:cNvSpPr/>
          <p:nvPr/>
        </p:nvSpPr>
        <p:spPr>
          <a:xfrm>
            <a:off x="4526280" y="4251960"/>
            <a:ext cx="315468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26280" y="4251960"/>
            <a:ext cx="82296" cy="1325880"/>
          </a:xfrm>
          <a:prstGeom prst="rect">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82312" y="4398264"/>
            <a:ext cx="2679192" cy="411480"/>
          </a:xfrm>
          <a:prstGeom prst="rect">
            <a:avLst/>
          </a:prstGeom>
          <a:noFill/>
        </p:spPr>
        <p:txBody>
          <a:bodyPr wrap="square" anchor="ctr" lIns="73152" rIns="73152" tIns="73152" bIns="73152">
            <a:spAutoFit/>
          </a:bodyPr>
          <a:lstStyle/>
          <a:p>
            <a:pPr algn="l"/>
            <a:r>
              <a:rPr sz="1700" b="1">
                <a:solidFill>
                  <a:srgbClr val="108A73"/>
                </a:solidFill>
                <a:latin typeface="Arial"/>
              </a:rPr>
              <a:t>Actions</a:t>
            </a:r>
          </a:p>
        </p:txBody>
      </p:sp>
      <p:sp>
        <p:nvSpPr>
          <p:cNvPr id="32" name="TextBox 31"/>
          <p:cNvSpPr txBox="1"/>
          <p:nvPr/>
        </p:nvSpPr>
        <p:spPr>
          <a:xfrm>
            <a:off x="4782312" y="4892040"/>
            <a:ext cx="2679192" cy="576072"/>
          </a:xfrm>
          <a:prstGeom prst="rect">
            <a:avLst/>
          </a:prstGeom>
          <a:noFill/>
        </p:spPr>
        <p:txBody>
          <a:bodyPr wrap="square" anchor="ctr" lIns="73152" rIns="73152" tIns="73152" bIns="73152">
            <a:spAutoFit/>
          </a:bodyPr>
          <a:lstStyle/>
          <a:p>
            <a:pPr algn="l"/>
            <a:r>
              <a:rPr sz="1400" b="0">
                <a:solidFill>
                  <a:srgbClr val="5B6372"/>
                </a:solidFill>
                <a:latin typeface="Arial"/>
              </a:rPr>
              <a:t>What work should happen?</a:t>
            </a:r>
          </a:p>
        </p:txBody>
      </p:sp>
      <p:sp>
        <p:nvSpPr>
          <p:cNvPr id="33" name="Rounded Rectangle 32"/>
          <p:cNvSpPr/>
          <p:nvPr/>
        </p:nvSpPr>
        <p:spPr>
          <a:xfrm>
            <a:off x="8138160" y="4251960"/>
            <a:ext cx="315468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38160" y="4251960"/>
            <a:ext cx="82296" cy="1325880"/>
          </a:xfrm>
          <a:prstGeom prst="rect">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94192" y="4398264"/>
            <a:ext cx="2679192" cy="411480"/>
          </a:xfrm>
          <a:prstGeom prst="rect">
            <a:avLst/>
          </a:prstGeom>
          <a:noFill/>
        </p:spPr>
        <p:txBody>
          <a:bodyPr wrap="square" anchor="ctr" lIns="73152" rIns="73152" tIns="73152" bIns="73152">
            <a:spAutoFit/>
          </a:bodyPr>
          <a:lstStyle/>
          <a:p>
            <a:pPr algn="l"/>
            <a:r>
              <a:rPr sz="1700" b="1">
                <a:solidFill>
                  <a:srgbClr val="C77600"/>
                </a:solidFill>
                <a:latin typeface="Arial"/>
              </a:rPr>
              <a:t>Outputs</a:t>
            </a:r>
          </a:p>
        </p:txBody>
      </p:sp>
      <p:sp>
        <p:nvSpPr>
          <p:cNvPr id="36" name="TextBox 35"/>
          <p:cNvSpPr txBox="1"/>
          <p:nvPr/>
        </p:nvSpPr>
        <p:spPr>
          <a:xfrm>
            <a:off x="8394192" y="4892040"/>
            <a:ext cx="2679192" cy="576072"/>
          </a:xfrm>
          <a:prstGeom prst="rect">
            <a:avLst/>
          </a:prstGeom>
          <a:noFill/>
        </p:spPr>
        <p:txBody>
          <a:bodyPr wrap="square" anchor="ctr" lIns="73152" rIns="73152" tIns="73152" bIns="73152">
            <a:spAutoFit/>
          </a:bodyPr>
          <a:lstStyle/>
          <a:p>
            <a:pPr algn="l"/>
            <a:r>
              <a:rPr sz="1400" b="0">
                <a:solidFill>
                  <a:srgbClr val="5B6372"/>
                </a:solidFill>
                <a:latin typeface="Arial"/>
              </a:rPr>
              <a:t>What result must be stored or returned?</a:t>
            </a:r>
          </a:p>
        </p:txBody>
      </p:sp>
      <p:sp>
        <p:nvSpPr>
          <p:cNvPr id="37" name="TextBox 36"/>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41</a:t>
            </a:r>
          </a:p>
        </p:txBody>
      </p:sp>
    </p:spTree>
    <p:extLst>
      <p:ext uri="{BB962C8B-B14F-4D97-AF65-F5344CB8AC3E}">
        <p14:creationId xmlns:p14="http://schemas.microsoft.com/office/powerpoint/2010/main" val="280501552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PROMPT → REVIEW → TEST</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Lab 1 — Instant Email Flow</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965960"/>
            <a:ext cx="1830628" cy="123444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Learner prompt</a:t>
            </a:r>
          </a:p>
        </p:txBody>
      </p:sp>
      <p:sp>
        <p:nvSpPr>
          <p:cNvPr id="8" name="Chevron 7"/>
          <p:cNvSpPr/>
          <p:nvPr/>
        </p:nvSpPr>
        <p:spPr>
          <a:xfrm>
            <a:off x="2543860" y="242773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79268"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generate</a:t>
            </a:r>
          </a:p>
        </p:txBody>
      </p:sp>
      <p:sp>
        <p:nvSpPr>
          <p:cNvPr id="10" name="Rounded Rectangle 9"/>
          <p:cNvSpPr/>
          <p:nvPr/>
        </p:nvSpPr>
        <p:spPr>
          <a:xfrm>
            <a:off x="2909620" y="1965960"/>
            <a:ext cx="1830628" cy="123444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2772"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Copilot draft</a:t>
            </a:r>
          </a:p>
        </p:txBody>
      </p:sp>
      <p:sp>
        <p:nvSpPr>
          <p:cNvPr id="12" name="Chevron 11"/>
          <p:cNvSpPr/>
          <p:nvPr/>
        </p:nvSpPr>
        <p:spPr>
          <a:xfrm>
            <a:off x="4795112" y="242773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0520"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review</a:t>
            </a:r>
          </a:p>
        </p:txBody>
      </p:sp>
      <p:sp>
        <p:nvSpPr>
          <p:cNvPr id="14" name="Rounded Rectangle 13"/>
          <p:cNvSpPr/>
          <p:nvPr/>
        </p:nvSpPr>
        <p:spPr>
          <a:xfrm>
            <a:off x="5160873" y="1965960"/>
            <a:ext cx="1830628" cy="123444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4025"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Manual trigger</a:t>
            </a:r>
          </a:p>
        </p:txBody>
      </p:sp>
      <p:sp>
        <p:nvSpPr>
          <p:cNvPr id="16" name="Chevron 15"/>
          <p:cNvSpPr/>
          <p:nvPr/>
        </p:nvSpPr>
        <p:spPr>
          <a:xfrm>
            <a:off x="7046365" y="242773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1773"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dynamic data</a:t>
            </a:r>
          </a:p>
        </p:txBody>
      </p:sp>
      <p:sp>
        <p:nvSpPr>
          <p:cNvPr id="18" name="Rounded Rectangle 17"/>
          <p:cNvSpPr/>
          <p:nvPr/>
        </p:nvSpPr>
        <p:spPr>
          <a:xfrm>
            <a:off x="7412126" y="1965960"/>
            <a:ext cx="1830628" cy="123444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5278"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Send email</a:t>
            </a:r>
          </a:p>
        </p:txBody>
      </p:sp>
      <p:sp>
        <p:nvSpPr>
          <p:cNvPr id="20" name="Chevron 19"/>
          <p:cNvSpPr/>
          <p:nvPr/>
        </p:nvSpPr>
        <p:spPr>
          <a:xfrm>
            <a:off x="9297618" y="242773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3026"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deliver</a:t>
            </a:r>
          </a:p>
        </p:txBody>
      </p:sp>
      <p:sp>
        <p:nvSpPr>
          <p:cNvPr id="22" name="Rounded Rectangle 21"/>
          <p:cNvSpPr/>
          <p:nvPr/>
        </p:nvSpPr>
        <p:spPr>
          <a:xfrm>
            <a:off x="9663379" y="1965960"/>
            <a:ext cx="1830628" cy="123444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6531"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Inbox</a:t>
            </a:r>
          </a:p>
        </p:txBody>
      </p:sp>
      <p:sp>
        <p:nvSpPr>
          <p:cNvPr id="24" name="Rounded Rectangle 23"/>
          <p:cNvSpPr/>
          <p:nvPr/>
        </p:nvSpPr>
        <p:spPr>
          <a:xfrm>
            <a:off x="914400" y="3977639"/>
            <a:ext cx="48006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 y="3977639"/>
            <a:ext cx="82296" cy="132588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70432" y="4123943"/>
            <a:ext cx="4325112" cy="411480"/>
          </a:xfrm>
          <a:prstGeom prst="rect">
            <a:avLst/>
          </a:prstGeom>
          <a:noFill/>
        </p:spPr>
        <p:txBody>
          <a:bodyPr wrap="square" anchor="ctr" lIns="73152" rIns="73152" tIns="73152" bIns="73152">
            <a:spAutoFit/>
          </a:bodyPr>
          <a:lstStyle/>
          <a:p>
            <a:pPr algn="l"/>
            <a:r>
              <a:rPr sz="1700" b="1">
                <a:solidFill>
                  <a:srgbClr val="1F6FEB"/>
                </a:solidFill>
                <a:latin typeface="Arial"/>
              </a:rPr>
              <a:t>Concept</a:t>
            </a:r>
          </a:p>
        </p:txBody>
      </p:sp>
      <p:sp>
        <p:nvSpPr>
          <p:cNvPr id="27" name="TextBox 26"/>
          <p:cNvSpPr txBox="1"/>
          <p:nvPr/>
        </p:nvSpPr>
        <p:spPr>
          <a:xfrm>
            <a:off x="1170432" y="4617719"/>
            <a:ext cx="4325112" cy="576072"/>
          </a:xfrm>
          <a:prstGeom prst="rect">
            <a:avLst/>
          </a:prstGeom>
          <a:noFill/>
        </p:spPr>
        <p:txBody>
          <a:bodyPr wrap="square" anchor="ctr" lIns="73152" rIns="73152" tIns="73152" bIns="73152">
            <a:spAutoFit/>
          </a:bodyPr>
          <a:lstStyle/>
          <a:p>
            <a:pPr algn="l"/>
            <a:r>
              <a:rPr sz="1400" b="0">
                <a:solidFill>
                  <a:srgbClr val="5B6372"/>
                </a:solidFill>
                <a:latin typeface="Arial"/>
              </a:rPr>
              <a:t>An instant flow runs only when a person deliberately starts it.</a:t>
            </a:r>
          </a:p>
        </p:txBody>
      </p:sp>
      <p:sp>
        <p:nvSpPr>
          <p:cNvPr id="28" name="Rounded Rectangle 27"/>
          <p:cNvSpPr/>
          <p:nvPr/>
        </p:nvSpPr>
        <p:spPr>
          <a:xfrm>
            <a:off x="6172200" y="3977639"/>
            <a:ext cx="48006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2200" y="3977639"/>
            <a:ext cx="82296" cy="1325880"/>
          </a:xfrm>
          <a:prstGeom prst="rect">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8232" y="4123943"/>
            <a:ext cx="4325112" cy="411480"/>
          </a:xfrm>
          <a:prstGeom prst="rect">
            <a:avLst/>
          </a:prstGeom>
          <a:noFill/>
        </p:spPr>
        <p:txBody>
          <a:bodyPr wrap="square" anchor="ctr" lIns="73152" rIns="73152" tIns="73152" bIns="73152">
            <a:spAutoFit/>
          </a:bodyPr>
          <a:lstStyle/>
          <a:p>
            <a:pPr algn="l"/>
            <a:r>
              <a:rPr sz="1700" b="1">
                <a:solidFill>
                  <a:srgbClr val="108A73"/>
                </a:solidFill>
                <a:latin typeface="Arial"/>
              </a:rPr>
              <a:t>Workplace use</a:t>
            </a:r>
          </a:p>
        </p:txBody>
      </p:sp>
      <p:sp>
        <p:nvSpPr>
          <p:cNvPr id="31" name="TextBox 30"/>
          <p:cNvSpPr txBox="1"/>
          <p:nvPr/>
        </p:nvSpPr>
        <p:spPr>
          <a:xfrm>
            <a:off x="6428232" y="4617719"/>
            <a:ext cx="4325112" cy="576072"/>
          </a:xfrm>
          <a:prstGeom prst="rect">
            <a:avLst/>
          </a:prstGeom>
          <a:noFill/>
        </p:spPr>
        <p:txBody>
          <a:bodyPr wrap="square" anchor="ctr" lIns="73152" rIns="73152" tIns="73152" bIns="73152">
            <a:spAutoFit/>
          </a:bodyPr>
          <a:lstStyle/>
          <a:p>
            <a:pPr algn="l"/>
            <a:r>
              <a:rPr sz="1400" b="0">
                <a:solidFill>
                  <a:srgbClr val="5B6372"/>
                </a:solidFill>
                <a:latin typeface="Arial"/>
              </a:rPr>
              <a:t>A service officer acknowledges a verified phone or counter enquiry within 15 minutes.</a:t>
            </a:r>
          </a:p>
        </p:txBody>
      </p:sp>
      <p:sp>
        <p:nvSpPr>
          <p:cNvPr id="32" name="TextBox 31"/>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42</a:t>
            </a:r>
          </a:p>
        </p:txBody>
      </p:sp>
    </p:spTree>
    <p:extLst>
      <p:ext uri="{BB962C8B-B14F-4D97-AF65-F5344CB8AC3E}">
        <p14:creationId xmlns:p14="http://schemas.microsoft.com/office/powerpoint/2010/main" val="35402146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INPUTS → DYNAMIC CONTENT → TABLE</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Lab 2 — Instant Excel Logging Flow</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965960"/>
            <a:ext cx="1830628" cy="123444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Press Run</a:t>
            </a:r>
          </a:p>
        </p:txBody>
      </p:sp>
      <p:sp>
        <p:nvSpPr>
          <p:cNvPr id="8" name="Chevron 7"/>
          <p:cNvSpPr/>
          <p:nvPr/>
        </p:nvSpPr>
        <p:spPr>
          <a:xfrm>
            <a:off x="2543860" y="242773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79268"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inputs</a:t>
            </a:r>
          </a:p>
        </p:txBody>
      </p:sp>
      <p:sp>
        <p:nvSpPr>
          <p:cNvPr id="10" name="Rounded Rectangle 9"/>
          <p:cNvSpPr/>
          <p:nvPr/>
        </p:nvSpPr>
        <p:spPr>
          <a:xfrm>
            <a:off x="2909620" y="1965960"/>
            <a:ext cx="1830628" cy="123444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2772"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Enter enquiry fields</a:t>
            </a:r>
          </a:p>
        </p:txBody>
      </p:sp>
      <p:sp>
        <p:nvSpPr>
          <p:cNvPr id="12" name="Chevron 11"/>
          <p:cNvSpPr/>
          <p:nvPr/>
        </p:nvSpPr>
        <p:spPr>
          <a:xfrm>
            <a:off x="4795112" y="242773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0520"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dynamic content</a:t>
            </a:r>
          </a:p>
        </p:txBody>
      </p:sp>
      <p:sp>
        <p:nvSpPr>
          <p:cNvPr id="14" name="Rounded Rectangle 13"/>
          <p:cNvSpPr/>
          <p:nvPr/>
        </p:nvSpPr>
        <p:spPr>
          <a:xfrm>
            <a:off x="5160873" y="1965960"/>
            <a:ext cx="1830628" cy="123444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4025"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Map table columns</a:t>
            </a:r>
          </a:p>
        </p:txBody>
      </p:sp>
      <p:sp>
        <p:nvSpPr>
          <p:cNvPr id="16" name="Chevron 15"/>
          <p:cNvSpPr/>
          <p:nvPr/>
        </p:nvSpPr>
        <p:spPr>
          <a:xfrm>
            <a:off x="7046365" y="242773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1773"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write</a:t>
            </a:r>
          </a:p>
        </p:txBody>
      </p:sp>
      <p:sp>
        <p:nvSpPr>
          <p:cNvPr id="18" name="Rounded Rectangle 17"/>
          <p:cNvSpPr/>
          <p:nvPr/>
        </p:nvSpPr>
        <p:spPr>
          <a:xfrm>
            <a:off x="7412126" y="1965960"/>
            <a:ext cx="1830628" cy="123444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5278"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Add Excel row</a:t>
            </a:r>
          </a:p>
        </p:txBody>
      </p:sp>
      <p:sp>
        <p:nvSpPr>
          <p:cNvPr id="20" name="Chevron 19"/>
          <p:cNvSpPr/>
          <p:nvPr/>
        </p:nvSpPr>
        <p:spPr>
          <a:xfrm>
            <a:off x="9297618" y="2427732"/>
            <a:ext cx="274320" cy="310896"/>
          </a:xfrm>
          <a:prstGeom prst="chevron">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3026"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check</a:t>
            </a:r>
          </a:p>
        </p:txBody>
      </p:sp>
      <p:sp>
        <p:nvSpPr>
          <p:cNvPr id="22" name="Rounded Rectangle 21"/>
          <p:cNvSpPr/>
          <p:nvPr/>
        </p:nvSpPr>
        <p:spPr>
          <a:xfrm>
            <a:off x="9663379" y="1965960"/>
            <a:ext cx="1830628" cy="123444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6531"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Verify run history</a:t>
            </a:r>
          </a:p>
        </p:txBody>
      </p:sp>
      <p:sp>
        <p:nvSpPr>
          <p:cNvPr id="24" name="Rounded Rectangle 23"/>
          <p:cNvSpPr/>
          <p:nvPr/>
        </p:nvSpPr>
        <p:spPr>
          <a:xfrm>
            <a:off x="914400" y="3977639"/>
            <a:ext cx="48006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 y="3977639"/>
            <a:ext cx="82296" cy="132588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70432" y="4123943"/>
            <a:ext cx="4325112" cy="411480"/>
          </a:xfrm>
          <a:prstGeom prst="rect">
            <a:avLst/>
          </a:prstGeom>
          <a:noFill/>
        </p:spPr>
        <p:txBody>
          <a:bodyPr wrap="square" anchor="ctr" lIns="73152" rIns="73152" tIns="73152" bIns="73152">
            <a:spAutoFit/>
          </a:bodyPr>
          <a:lstStyle/>
          <a:p>
            <a:pPr algn="l"/>
            <a:r>
              <a:rPr sz="1700" b="1">
                <a:solidFill>
                  <a:srgbClr val="1F6FEB"/>
                </a:solidFill>
                <a:latin typeface="Arial"/>
              </a:rPr>
              <a:t>Concept</a:t>
            </a:r>
          </a:p>
        </p:txBody>
      </p:sp>
      <p:sp>
        <p:nvSpPr>
          <p:cNvPr id="27" name="TextBox 26"/>
          <p:cNvSpPr txBox="1"/>
          <p:nvPr/>
        </p:nvSpPr>
        <p:spPr>
          <a:xfrm>
            <a:off x="1170432" y="4617719"/>
            <a:ext cx="4325112" cy="576072"/>
          </a:xfrm>
          <a:prstGeom prst="rect">
            <a:avLst/>
          </a:prstGeom>
          <a:noFill/>
        </p:spPr>
        <p:txBody>
          <a:bodyPr wrap="square" anchor="ctr" lIns="73152" rIns="73152" tIns="73152" bIns="73152">
            <a:spAutoFit/>
          </a:bodyPr>
          <a:lstStyle/>
          <a:p>
            <a:pPr algn="l"/>
            <a:r>
              <a:rPr sz="1400" b="0">
                <a:solidFill>
                  <a:srgbClr val="5B6372"/>
                </a:solidFill>
                <a:latin typeface="Arial"/>
              </a:rPr>
              <a:t>Actions consume outputs from the trigger as structured dynamic content.</a:t>
            </a:r>
          </a:p>
        </p:txBody>
      </p:sp>
      <p:sp>
        <p:nvSpPr>
          <p:cNvPr id="28" name="Rounded Rectangle 27"/>
          <p:cNvSpPr/>
          <p:nvPr/>
        </p:nvSpPr>
        <p:spPr>
          <a:xfrm>
            <a:off x="6172200" y="3977639"/>
            <a:ext cx="48006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2200" y="3977639"/>
            <a:ext cx="82296" cy="1325880"/>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8232" y="4123943"/>
            <a:ext cx="4325112" cy="411480"/>
          </a:xfrm>
          <a:prstGeom prst="rect">
            <a:avLst/>
          </a:prstGeom>
          <a:noFill/>
        </p:spPr>
        <p:txBody>
          <a:bodyPr wrap="square" anchor="ctr" lIns="73152" rIns="73152" tIns="73152" bIns="73152">
            <a:spAutoFit/>
          </a:bodyPr>
          <a:lstStyle/>
          <a:p>
            <a:pPr algn="l"/>
            <a:r>
              <a:rPr sz="1700" b="1">
                <a:solidFill>
                  <a:srgbClr val="16845B"/>
                </a:solidFill>
                <a:latin typeface="Arial"/>
              </a:rPr>
              <a:t>Workplace use</a:t>
            </a:r>
          </a:p>
        </p:txBody>
      </p:sp>
      <p:sp>
        <p:nvSpPr>
          <p:cNvPr id="31" name="TextBox 30"/>
          <p:cNvSpPr txBox="1"/>
          <p:nvPr/>
        </p:nvSpPr>
        <p:spPr>
          <a:xfrm>
            <a:off x="6428232" y="4617719"/>
            <a:ext cx="4325112" cy="576072"/>
          </a:xfrm>
          <a:prstGeom prst="rect">
            <a:avLst/>
          </a:prstGeom>
          <a:noFill/>
        </p:spPr>
        <p:txBody>
          <a:bodyPr wrap="square" anchor="ctr" lIns="73152" rIns="73152" tIns="73152" bIns="73152">
            <a:spAutoFit/>
          </a:bodyPr>
          <a:lstStyle/>
          <a:p>
            <a:pPr algn="l"/>
            <a:r>
              <a:rPr sz="1400" b="0">
                <a:solidFill>
                  <a:srgbClr val="5B6372"/>
                </a:solidFill>
                <a:latin typeface="Arial"/>
              </a:rPr>
              <a:t>The shared enquiry register gives supervisors one visible queue and a basic audit trail.</a:t>
            </a:r>
          </a:p>
        </p:txBody>
      </p:sp>
      <p:sp>
        <p:nvSpPr>
          <p:cNvPr id="32" name="TextBox 31"/>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43</a:t>
            </a:r>
          </a:p>
        </p:txBody>
      </p:sp>
    </p:spTree>
    <p:extLst>
      <p:ext uri="{BB962C8B-B14F-4D97-AF65-F5344CB8AC3E}">
        <p14:creationId xmlns:p14="http://schemas.microsoft.com/office/powerpoint/2010/main" val="30421729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RECURRENCE AND TIME ZONE</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Lab 3 — Scheduled Flow</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965960"/>
            <a:ext cx="1830628" cy="123444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Recurrence</a:t>
            </a:r>
          </a:p>
        </p:txBody>
      </p:sp>
      <p:sp>
        <p:nvSpPr>
          <p:cNvPr id="8" name="Chevron 7"/>
          <p:cNvSpPr/>
          <p:nvPr/>
        </p:nvSpPr>
        <p:spPr>
          <a:xfrm>
            <a:off x="2543860" y="242773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79268"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configure</a:t>
            </a:r>
          </a:p>
        </p:txBody>
      </p:sp>
      <p:sp>
        <p:nvSpPr>
          <p:cNvPr id="10" name="Rounded Rectangle 9"/>
          <p:cNvSpPr/>
          <p:nvPr/>
        </p:nvSpPr>
        <p:spPr>
          <a:xfrm>
            <a:off x="2909620" y="1965960"/>
            <a:ext cx="1830628" cy="123444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2772"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Weekdays</a:t>
            </a:r>
          </a:p>
        </p:txBody>
      </p:sp>
      <p:sp>
        <p:nvSpPr>
          <p:cNvPr id="12" name="Chevron 11"/>
          <p:cNvSpPr/>
          <p:nvPr/>
        </p:nvSpPr>
        <p:spPr>
          <a:xfrm>
            <a:off x="4795112" y="242773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0520"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select</a:t>
            </a:r>
          </a:p>
        </p:txBody>
      </p:sp>
      <p:sp>
        <p:nvSpPr>
          <p:cNvPr id="14" name="Rounded Rectangle 13"/>
          <p:cNvSpPr/>
          <p:nvPr/>
        </p:nvSpPr>
        <p:spPr>
          <a:xfrm>
            <a:off x="5160873" y="1965960"/>
            <a:ext cx="1830628" cy="123444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4025"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Singapore time</a:t>
            </a:r>
          </a:p>
        </p:txBody>
      </p:sp>
      <p:sp>
        <p:nvSpPr>
          <p:cNvPr id="16" name="Chevron 15"/>
          <p:cNvSpPr/>
          <p:nvPr/>
        </p:nvSpPr>
        <p:spPr>
          <a:xfrm>
            <a:off x="7046365" y="242773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1773"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fire</a:t>
            </a:r>
          </a:p>
        </p:txBody>
      </p:sp>
      <p:sp>
        <p:nvSpPr>
          <p:cNvPr id="18" name="Rounded Rectangle 17"/>
          <p:cNvSpPr/>
          <p:nvPr/>
        </p:nvSpPr>
        <p:spPr>
          <a:xfrm>
            <a:off x="7412126" y="1965960"/>
            <a:ext cx="1830628" cy="123444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5278"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Send reminder</a:t>
            </a:r>
          </a:p>
        </p:txBody>
      </p:sp>
      <p:sp>
        <p:nvSpPr>
          <p:cNvPr id="20" name="Chevron 19"/>
          <p:cNvSpPr/>
          <p:nvPr/>
        </p:nvSpPr>
        <p:spPr>
          <a:xfrm>
            <a:off x="9297618" y="242773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3026" y="170992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deliver</a:t>
            </a:r>
          </a:p>
        </p:txBody>
      </p:sp>
      <p:sp>
        <p:nvSpPr>
          <p:cNvPr id="22" name="Rounded Rectangle 21"/>
          <p:cNvSpPr/>
          <p:nvPr/>
        </p:nvSpPr>
        <p:spPr>
          <a:xfrm>
            <a:off x="9663379" y="1965960"/>
            <a:ext cx="1830628" cy="123444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6531" y="2039112"/>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Team inbox</a:t>
            </a:r>
          </a:p>
        </p:txBody>
      </p:sp>
      <p:sp>
        <p:nvSpPr>
          <p:cNvPr id="24" name="Rounded Rectangle 23"/>
          <p:cNvSpPr/>
          <p:nvPr/>
        </p:nvSpPr>
        <p:spPr>
          <a:xfrm>
            <a:off x="914400" y="3977639"/>
            <a:ext cx="48006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 y="3977639"/>
            <a:ext cx="82296" cy="1325880"/>
          </a:xfrm>
          <a:prstGeom prst="rect">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70432" y="4123943"/>
            <a:ext cx="4325112" cy="411480"/>
          </a:xfrm>
          <a:prstGeom prst="rect">
            <a:avLst/>
          </a:prstGeom>
          <a:noFill/>
        </p:spPr>
        <p:txBody>
          <a:bodyPr wrap="square" anchor="ctr" lIns="73152" rIns="73152" tIns="73152" bIns="73152">
            <a:spAutoFit/>
          </a:bodyPr>
          <a:lstStyle/>
          <a:p>
            <a:pPr algn="l"/>
            <a:r>
              <a:rPr sz="1700" b="1">
                <a:solidFill>
                  <a:srgbClr val="108A73"/>
                </a:solidFill>
                <a:latin typeface="Arial"/>
              </a:rPr>
              <a:t>Workplace use</a:t>
            </a:r>
          </a:p>
        </p:txBody>
      </p:sp>
      <p:sp>
        <p:nvSpPr>
          <p:cNvPr id="27" name="TextBox 26"/>
          <p:cNvSpPr txBox="1"/>
          <p:nvPr/>
        </p:nvSpPr>
        <p:spPr>
          <a:xfrm>
            <a:off x="1170432" y="4617719"/>
            <a:ext cx="4325112" cy="576072"/>
          </a:xfrm>
          <a:prstGeom prst="rect">
            <a:avLst/>
          </a:prstGeom>
          <a:noFill/>
        </p:spPr>
        <p:txBody>
          <a:bodyPr wrap="square" anchor="ctr" lIns="73152" rIns="73152" tIns="73152" bIns="73152">
            <a:spAutoFit/>
          </a:bodyPr>
          <a:lstStyle/>
          <a:p>
            <a:pPr algn="l"/>
            <a:r>
              <a:rPr sz="1400" b="0">
                <a:solidFill>
                  <a:srgbClr val="5B6372"/>
                </a:solidFill>
                <a:latin typeface="Arial"/>
              </a:rPr>
              <a:t>At 9 AM on weekdays, the team lead reminds officers to clear records still marked New.</a:t>
            </a:r>
          </a:p>
        </p:txBody>
      </p:sp>
      <p:sp>
        <p:nvSpPr>
          <p:cNvPr id="28" name="Rounded Rectangle 27"/>
          <p:cNvSpPr/>
          <p:nvPr/>
        </p:nvSpPr>
        <p:spPr>
          <a:xfrm>
            <a:off x="6172200" y="3977639"/>
            <a:ext cx="48006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2200" y="3977639"/>
            <a:ext cx="82296" cy="1325880"/>
          </a:xfrm>
          <a:prstGeom prst="rect">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8232" y="4123943"/>
            <a:ext cx="4325112" cy="411480"/>
          </a:xfrm>
          <a:prstGeom prst="rect">
            <a:avLst/>
          </a:prstGeom>
          <a:noFill/>
        </p:spPr>
        <p:txBody>
          <a:bodyPr wrap="square" anchor="ctr" lIns="73152" rIns="73152" tIns="73152" bIns="73152">
            <a:spAutoFit/>
          </a:bodyPr>
          <a:lstStyle/>
          <a:p>
            <a:pPr algn="l"/>
            <a:r>
              <a:rPr sz="1700" b="1">
                <a:solidFill>
                  <a:srgbClr val="C2413A"/>
                </a:solidFill>
                <a:latin typeface="Arial"/>
              </a:rPr>
              <a:t>Critical setting</a:t>
            </a:r>
          </a:p>
        </p:txBody>
      </p:sp>
      <p:sp>
        <p:nvSpPr>
          <p:cNvPr id="31" name="TextBox 30"/>
          <p:cNvSpPr txBox="1"/>
          <p:nvPr/>
        </p:nvSpPr>
        <p:spPr>
          <a:xfrm>
            <a:off x="6428232" y="4617719"/>
            <a:ext cx="4325112" cy="576072"/>
          </a:xfrm>
          <a:prstGeom prst="rect">
            <a:avLst/>
          </a:prstGeom>
          <a:noFill/>
        </p:spPr>
        <p:txBody>
          <a:bodyPr wrap="square" anchor="ctr" lIns="73152" rIns="73152" tIns="73152" bIns="73152">
            <a:spAutoFit/>
          </a:bodyPr>
          <a:lstStyle/>
          <a:p>
            <a:pPr algn="l"/>
            <a:r>
              <a:rPr sz="1400" b="0">
                <a:solidFill>
                  <a:srgbClr val="5B6372"/>
                </a:solidFill>
                <a:latin typeface="Arial"/>
              </a:rPr>
              <a:t>Always set the business time zone; recurrence defaults can otherwise use UTC.</a:t>
            </a:r>
          </a:p>
        </p:txBody>
      </p:sp>
      <p:sp>
        <p:nvSpPr>
          <p:cNvPr id="32" name="TextBox 31"/>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44</a:t>
            </a:r>
          </a:p>
        </p:txBody>
      </p:sp>
    </p:spTree>
    <p:extLst>
      <p:ext uri="{BB962C8B-B14F-4D97-AF65-F5344CB8AC3E}">
        <p14:creationId xmlns:p14="http://schemas.microsoft.com/office/powerpoint/2010/main" val="58667548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EVENT-DRIVEN AUTOMATION</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Lab 4 — Automated Form Flow</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874519"/>
            <a:ext cx="1830628" cy="137160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47672"/>
            <a:ext cx="1684324" cy="1225296"/>
          </a:xfrm>
          <a:prstGeom prst="rect">
            <a:avLst/>
          </a:prstGeom>
          <a:noFill/>
        </p:spPr>
        <p:txBody>
          <a:bodyPr wrap="square" anchor="ctr" lIns="73152" rIns="73152" tIns="73152" bIns="73152">
            <a:spAutoFit/>
          </a:bodyPr>
          <a:lstStyle/>
          <a:p>
            <a:pPr algn="ctr"/>
            <a:r>
              <a:rPr sz="1300" b="1">
                <a:solidFill>
                  <a:srgbClr val="161B26"/>
                </a:solidFill>
                <a:latin typeface="Arial"/>
              </a:rPr>
              <a:t>Customer submits
Microsoft Form</a:t>
            </a:r>
          </a:p>
        </p:txBody>
      </p:sp>
      <p:sp>
        <p:nvSpPr>
          <p:cNvPr id="8" name="Chevron 7"/>
          <p:cNvSpPr/>
          <p:nvPr/>
        </p:nvSpPr>
        <p:spPr>
          <a:xfrm>
            <a:off x="2543860" y="240487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79268"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event</a:t>
            </a:r>
          </a:p>
        </p:txBody>
      </p:sp>
      <p:sp>
        <p:nvSpPr>
          <p:cNvPr id="10" name="Rounded Rectangle 9"/>
          <p:cNvSpPr/>
          <p:nvPr/>
        </p:nvSpPr>
        <p:spPr>
          <a:xfrm>
            <a:off x="2909620" y="1874519"/>
            <a:ext cx="1830628" cy="137160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2772" y="1947672"/>
            <a:ext cx="1684324" cy="1225296"/>
          </a:xfrm>
          <a:prstGeom prst="rect">
            <a:avLst/>
          </a:prstGeom>
          <a:noFill/>
        </p:spPr>
        <p:txBody>
          <a:bodyPr wrap="square" anchor="ctr" lIns="73152" rIns="73152" tIns="73152" bIns="73152">
            <a:spAutoFit/>
          </a:bodyPr>
          <a:lstStyle/>
          <a:p>
            <a:pPr algn="ctr"/>
            <a:r>
              <a:rPr sz="1300" b="1">
                <a:solidFill>
                  <a:srgbClr val="161B26"/>
                </a:solidFill>
                <a:latin typeface="Arial"/>
              </a:rPr>
              <a:t>New response
trigger</a:t>
            </a:r>
          </a:p>
        </p:txBody>
      </p:sp>
      <p:sp>
        <p:nvSpPr>
          <p:cNvPr id="12" name="Chevron 11"/>
          <p:cNvSpPr/>
          <p:nvPr/>
        </p:nvSpPr>
        <p:spPr>
          <a:xfrm>
            <a:off x="4795112" y="240487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0520"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Response Id</a:t>
            </a:r>
          </a:p>
        </p:txBody>
      </p:sp>
      <p:sp>
        <p:nvSpPr>
          <p:cNvPr id="14" name="Rounded Rectangle 13"/>
          <p:cNvSpPr/>
          <p:nvPr/>
        </p:nvSpPr>
        <p:spPr>
          <a:xfrm>
            <a:off x="5160873" y="1874519"/>
            <a:ext cx="1830628" cy="137160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4025" y="1947672"/>
            <a:ext cx="1684324" cy="1225296"/>
          </a:xfrm>
          <a:prstGeom prst="rect">
            <a:avLst/>
          </a:prstGeom>
          <a:noFill/>
        </p:spPr>
        <p:txBody>
          <a:bodyPr wrap="square" anchor="ctr" lIns="73152" rIns="73152" tIns="73152" bIns="73152">
            <a:spAutoFit/>
          </a:bodyPr>
          <a:lstStyle/>
          <a:p>
            <a:pPr algn="ctr"/>
            <a:r>
              <a:rPr sz="1300" b="1">
                <a:solidFill>
                  <a:srgbClr val="161B26"/>
                </a:solidFill>
                <a:latin typeface="Arial"/>
              </a:rPr>
              <a:t>Get response
details</a:t>
            </a:r>
          </a:p>
        </p:txBody>
      </p:sp>
      <p:sp>
        <p:nvSpPr>
          <p:cNvPr id="16" name="Chevron 15"/>
          <p:cNvSpPr/>
          <p:nvPr/>
        </p:nvSpPr>
        <p:spPr>
          <a:xfrm>
            <a:off x="7046365" y="240487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1773"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fan out</a:t>
            </a:r>
          </a:p>
        </p:txBody>
      </p:sp>
      <p:sp>
        <p:nvSpPr>
          <p:cNvPr id="18" name="Rounded Rectangle 17"/>
          <p:cNvSpPr/>
          <p:nvPr/>
        </p:nvSpPr>
        <p:spPr>
          <a:xfrm>
            <a:off x="7412126" y="1874519"/>
            <a:ext cx="1830628" cy="137160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5278" y="1947672"/>
            <a:ext cx="1684324" cy="1225296"/>
          </a:xfrm>
          <a:prstGeom prst="rect">
            <a:avLst/>
          </a:prstGeom>
          <a:noFill/>
        </p:spPr>
        <p:txBody>
          <a:bodyPr wrap="square" anchor="ctr" lIns="73152" rIns="73152" tIns="73152" bIns="73152">
            <a:spAutoFit/>
          </a:bodyPr>
          <a:lstStyle/>
          <a:p>
            <a:pPr algn="ctr"/>
            <a:r>
              <a:rPr sz="1300" b="1">
                <a:solidFill>
                  <a:srgbClr val="161B26"/>
                </a:solidFill>
                <a:latin typeface="Arial"/>
              </a:rPr>
              <a:t>Send email</a:t>
            </a:r>
          </a:p>
        </p:txBody>
      </p:sp>
      <p:sp>
        <p:nvSpPr>
          <p:cNvPr id="20" name="Chevron 19"/>
          <p:cNvSpPr/>
          <p:nvPr/>
        </p:nvSpPr>
        <p:spPr>
          <a:xfrm>
            <a:off x="9297618" y="240487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3026"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log</a:t>
            </a:r>
          </a:p>
        </p:txBody>
      </p:sp>
      <p:sp>
        <p:nvSpPr>
          <p:cNvPr id="22" name="Rounded Rectangle 21"/>
          <p:cNvSpPr/>
          <p:nvPr/>
        </p:nvSpPr>
        <p:spPr>
          <a:xfrm>
            <a:off x="9663379" y="1874519"/>
            <a:ext cx="1830628" cy="137160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6531" y="1947672"/>
            <a:ext cx="1684324" cy="1225296"/>
          </a:xfrm>
          <a:prstGeom prst="rect">
            <a:avLst/>
          </a:prstGeom>
          <a:noFill/>
        </p:spPr>
        <p:txBody>
          <a:bodyPr wrap="square" anchor="ctr" lIns="73152" rIns="73152" tIns="73152" bIns="73152">
            <a:spAutoFit/>
          </a:bodyPr>
          <a:lstStyle/>
          <a:p>
            <a:pPr algn="ctr"/>
            <a:r>
              <a:rPr sz="1300" b="1">
                <a:solidFill>
                  <a:srgbClr val="161B26"/>
                </a:solidFill>
                <a:latin typeface="Arial"/>
              </a:rPr>
              <a:t>Add Excel row</a:t>
            </a:r>
          </a:p>
        </p:txBody>
      </p:sp>
      <p:sp>
        <p:nvSpPr>
          <p:cNvPr id="24" name="Rounded Rectangle 23"/>
          <p:cNvSpPr/>
          <p:nvPr/>
        </p:nvSpPr>
        <p:spPr>
          <a:xfrm>
            <a:off x="914400" y="4114800"/>
            <a:ext cx="48006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 y="4114800"/>
            <a:ext cx="82296" cy="1325880"/>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70432" y="4261104"/>
            <a:ext cx="4325112" cy="411480"/>
          </a:xfrm>
          <a:prstGeom prst="rect">
            <a:avLst/>
          </a:prstGeom>
          <a:noFill/>
        </p:spPr>
        <p:txBody>
          <a:bodyPr wrap="square" anchor="ctr" lIns="73152" rIns="73152" tIns="73152" bIns="73152">
            <a:spAutoFit/>
          </a:bodyPr>
          <a:lstStyle/>
          <a:p>
            <a:pPr algn="l"/>
            <a:r>
              <a:rPr sz="1700" b="1">
                <a:solidFill>
                  <a:srgbClr val="6D3FD2"/>
                </a:solidFill>
                <a:latin typeface="Arial"/>
              </a:rPr>
              <a:t>Workplace use</a:t>
            </a:r>
          </a:p>
        </p:txBody>
      </p:sp>
      <p:sp>
        <p:nvSpPr>
          <p:cNvPr id="27" name="TextBox 26"/>
          <p:cNvSpPr txBox="1"/>
          <p:nvPr/>
        </p:nvSpPr>
        <p:spPr>
          <a:xfrm>
            <a:off x="1170432" y="4754880"/>
            <a:ext cx="4325112" cy="576072"/>
          </a:xfrm>
          <a:prstGeom prst="rect">
            <a:avLst/>
          </a:prstGeom>
          <a:noFill/>
        </p:spPr>
        <p:txBody>
          <a:bodyPr wrap="square" anchor="ctr" lIns="73152" rIns="73152" tIns="73152" bIns="73152">
            <a:spAutoFit/>
          </a:bodyPr>
          <a:lstStyle/>
          <a:p>
            <a:pPr algn="l"/>
            <a:r>
              <a:rPr sz="1400" b="0">
                <a:solidFill>
                  <a:srgbClr val="5B6372"/>
                </a:solidFill>
                <a:latin typeface="Arial"/>
              </a:rPr>
              <a:t>A customer form creates the service email and audit row without staff re-keying.</a:t>
            </a:r>
          </a:p>
        </p:txBody>
      </p:sp>
      <p:sp>
        <p:nvSpPr>
          <p:cNvPr id="28" name="Rounded Rectangle 27"/>
          <p:cNvSpPr/>
          <p:nvPr/>
        </p:nvSpPr>
        <p:spPr>
          <a:xfrm>
            <a:off x="6172200" y="4114800"/>
            <a:ext cx="48006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2200" y="4114800"/>
            <a:ext cx="82296" cy="132588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8232" y="4261104"/>
            <a:ext cx="4325112" cy="411480"/>
          </a:xfrm>
          <a:prstGeom prst="rect">
            <a:avLst/>
          </a:prstGeom>
          <a:noFill/>
        </p:spPr>
        <p:txBody>
          <a:bodyPr wrap="square" anchor="ctr" lIns="73152" rIns="73152" tIns="73152" bIns="73152">
            <a:spAutoFit/>
          </a:bodyPr>
          <a:lstStyle/>
          <a:p>
            <a:pPr algn="l"/>
            <a:r>
              <a:rPr sz="1700" b="1">
                <a:solidFill>
                  <a:srgbClr val="1F6FEB"/>
                </a:solidFill>
                <a:latin typeface="Arial"/>
              </a:rPr>
              <a:t>Data pattern</a:t>
            </a:r>
          </a:p>
        </p:txBody>
      </p:sp>
      <p:sp>
        <p:nvSpPr>
          <p:cNvPr id="31" name="TextBox 30"/>
          <p:cNvSpPr txBox="1"/>
          <p:nvPr/>
        </p:nvSpPr>
        <p:spPr>
          <a:xfrm>
            <a:off x="6428232" y="4754880"/>
            <a:ext cx="4325112" cy="576072"/>
          </a:xfrm>
          <a:prstGeom prst="rect">
            <a:avLst/>
          </a:prstGeom>
          <a:noFill/>
        </p:spPr>
        <p:txBody>
          <a:bodyPr wrap="square" anchor="ctr" lIns="73152" rIns="73152" tIns="73152" bIns="73152">
            <a:spAutoFit/>
          </a:bodyPr>
          <a:lstStyle/>
          <a:p>
            <a:pPr algn="l"/>
            <a:r>
              <a:rPr sz="1400" b="0">
                <a:solidFill>
                  <a:srgbClr val="5B6372"/>
                </a:solidFill>
                <a:latin typeface="Arial"/>
              </a:rPr>
              <a:t>Get response details turns the response ID into fields that email and Excel can use.</a:t>
            </a:r>
          </a:p>
        </p:txBody>
      </p:sp>
      <p:sp>
        <p:nvSpPr>
          <p:cNvPr id="32" name="TextBox 31"/>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45</a:t>
            </a:r>
          </a:p>
        </p:txBody>
      </p:sp>
    </p:spTree>
    <p:extLst>
      <p:ext uri="{BB962C8B-B14F-4D97-AF65-F5344CB8AC3E}">
        <p14:creationId xmlns:p14="http://schemas.microsoft.com/office/powerpoint/2010/main" val="5866754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APPROVAL AND HTTP</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Labs 5–6 — Human and External Triggers</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737360"/>
            <a:ext cx="3337560" cy="42976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82296" cy="4297680"/>
          </a:xfrm>
          <a:prstGeom prst="rect">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938528"/>
            <a:ext cx="457200" cy="457200"/>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5</a:t>
            </a:r>
          </a:p>
        </p:txBody>
      </p:sp>
      <p:sp>
        <p:nvSpPr>
          <p:cNvPr id="10" name="TextBox 9"/>
          <p:cNvSpPr txBox="1"/>
          <p:nvPr/>
        </p:nvSpPr>
        <p:spPr>
          <a:xfrm>
            <a:off x="1426464" y="1883664"/>
            <a:ext cx="2377440" cy="411480"/>
          </a:xfrm>
          <a:prstGeom prst="rect">
            <a:avLst/>
          </a:prstGeom>
          <a:noFill/>
        </p:spPr>
        <p:txBody>
          <a:bodyPr wrap="square" anchor="ctr" lIns="73152" rIns="73152" tIns="73152" bIns="73152">
            <a:spAutoFit/>
          </a:bodyPr>
          <a:lstStyle/>
          <a:p>
            <a:pPr algn="l"/>
            <a:r>
              <a:rPr sz="1700" b="1">
                <a:solidFill>
                  <a:srgbClr val="C2413A"/>
                </a:solidFill>
                <a:latin typeface="Arial"/>
              </a:rPr>
              <a:t>Lab 5 — Laptop approval</a:t>
            </a:r>
          </a:p>
        </p:txBody>
      </p:sp>
      <p:sp>
        <p:nvSpPr>
          <p:cNvPr id="11" name="TextBox 10"/>
          <p:cNvSpPr txBox="1"/>
          <p:nvPr/>
        </p:nvSpPr>
        <p:spPr>
          <a:xfrm>
            <a:off x="914400" y="2377440"/>
            <a:ext cx="2862072" cy="3547872"/>
          </a:xfrm>
          <a:prstGeom prst="rect">
            <a:avLst/>
          </a:prstGeom>
          <a:noFill/>
        </p:spPr>
        <p:txBody>
          <a:bodyPr wrap="square" anchor="ctr" lIns="73152" rIns="73152" tIns="73152" bIns="73152">
            <a:spAutoFit/>
          </a:bodyPr>
          <a:lstStyle/>
          <a:p>
            <a:pPr algn="l"/>
            <a:r>
              <a:rPr sz="1500" b="0">
                <a:solidFill>
                  <a:srgbClr val="5B6372"/>
                </a:solidFill>
                <a:latin typeface="Arial"/>
              </a:rPr>
              <a:t>SGD 1,850 request
↓
Manager decides
↓
Approve / Reject
↓
Notify requester</a:t>
            </a:r>
          </a:p>
        </p:txBody>
      </p:sp>
      <p:sp>
        <p:nvSpPr>
          <p:cNvPr id="12" name="Rounded Rectangle 11"/>
          <p:cNvSpPr/>
          <p:nvPr/>
        </p:nvSpPr>
        <p:spPr>
          <a:xfrm>
            <a:off x="4315968" y="1737360"/>
            <a:ext cx="3337560" cy="42976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1737360"/>
            <a:ext cx="82296" cy="4297680"/>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17136" y="1938528"/>
            <a:ext cx="457200" cy="45720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713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6A</a:t>
            </a:r>
          </a:p>
        </p:txBody>
      </p:sp>
      <p:sp>
        <p:nvSpPr>
          <p:cNvPr id="16" name="TextBox 15"/>
          <p:cNvSpPr txBox="1"/>
          <p:nvPr/>
        </p:nvSpPr>
        <p:spPr>
          <a:xfrm>
            <a:off x="5084064" y="1883664"/>
            <a:ext cx="2377440" cy="411480"/>
          </a:xfrm>
          <a:prstGeom prst="rect">
            <a:avLst/>
          </a:prstGeom>
          <a:noFill/>
        </p:spPr>
        <p:txBody>
          <a:bodyPr wrap="square" anchor="ctr" lIns="73152" rIns="73152" tIns="73152" bIns="73152">
            <a:spAutoFit/>
          </a:bodyPr>
          <a:lstStyle/>
          <a:p>
            <a:pPr algn="l"/>
            <a:r>
              <a:rPr sz="1700" b="1">
                <a:solidFill>
                  <a:srgbClr val="16845B"/>
                </a:solidFill>
                <a:latin typeface="Arial"/>
              </a:rPr>
              <a:t>Lab 6A — Website enquiry</a:t>
            </a:r>
          </a:p>
        </p:txBody>
      </p:sp>
      <p:sp>
        <p:nvSpPr>
          <p:cNvPr id="17" name="TextBox 16"/>
          <p:cNvSpPr txBox="1"/>
          <p:nvPr/>
        </p:nvSpPr>
        <p:spPr>
          <a:xfrm>
            <a:off x="4572000" y="2377440"/>
            <a:ext cx="2862072" cy="3547872"/>
          </a:xfrm>
          <a:prstGeom prst="rect">
            <a:avLst/>
          </a:prstGeom>
          <a:noFill/>
        </p:spPr>
        <p:txBody>
          <a:bodyPr wrap="square" anchor="ctr" lIns="73152" rIns="73152" tIns="73152" bIns="73152">
            <a:spAutoFit/>
          </a:bodyPr>
          <a:lstStyle/>
          <a:p>
            <a:pPr algn="l"/>
            <a:r>
              <a:rPr sz="1500" b="0">
                <a:solidFill>
                  <a:srgbClr val="5B6372"/>
                </a:solidFill>
                <a:latin typeface="Arial"/>
              </a:rPr>
              <a:t>Business-banking form
↓
POST JSON
↓
Notify operations
↓
Confirm on page</a:t>
            </a:r>
          </a:p>
        </p:txBody>
      </p:sp>
      <p:sp>
        <p:nvSpPr>
          <p:cNvPr id="18" name="Rounded Rectangle 17"/>
          <p:cNvSpPr/>
          <p:nvPr/>
        </p:nvSpPr>
        <p:spPr>
          <a:xfrm>
            <a:off x="7973568" y="1737360"/>
            <a:ext cx="3337560" cy="42976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73568" y="1737360"/>
            <a:ext cx="82296" cy="429768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74736" y="1938528"/>
            <a:ext cx="457200" cy="457200"/>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7473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6B</a:t>
            </a:r>
          </a:p>
        </p:txBody>
      </p:sp>
      <p:sp>
        <p:nvSpPr>
          <p:cNvPr id="22" name="TextBox 21"/>
          <p:cNvSpPr txBox="1"/>
          <p:nvPr/>
        </p:nvSpPr>
        <p:spPr>
          <a:xfrm>
            <a:off x="8741664" y="1883664"/>
            <a:ext cx="2377440" cy="411480"/>
          </a:xfrm>
          <a:prstGeom prst="rect">
            <a:avLst/>
          </a:prstGeom>
          <a:noFill/>
        </p:spPr>
        <p:txBody>
          <a:bodyPr wrap="square" anchor="ctr" lIns="73152" rIns="73152" tIns="73152" bIns="73152">
            <a:spAutoFit/>
          </a:bodyPr>
          <a:lstStyle/>
          <a:p>
            <a:pPr algn="l"/>
            <a:r>
              <a:rPr sz="1700" b="1">
                <a:solidFill>
                  <a:srgbClr val="1F6FEB"/>
                </a:solidFill>
                <a:latin typeface="Arial"/>
              </a:rPr>
              <a:t>Lab 6B — Service widget</a:t>
            </a:r>
          </a:p>
        </p:txBody>
      </p:sp>
      <p:sp>
        <p:nvSpPr>
          <p:cNvPr id="23" name="TextBox 22"/>
          <p:cNvSpPr txBox="1"/>
          <p:nvPr/>
        </p:nvSpPr>
        <p:spPr>
          <a:xfrm>
            <a:off x="8229600" y="2377440"/>
            <a:ext cx="2862072" cy="3547872"/>
          </a:xfrm>
          <a:prstGeom prst="rect">
            <a:avLst/>
          </a:prstGeom>
          <a:noFill/>
        </p:spPr>
        <p:txBody>
          <a:bodyPr wrap="square" anchor="ctr" lIns="73152" rIns="73152" tIns="73152" bIns="73152">
            <a:spAutoFit/>
          </a:bodyPr>
          <a:lstStyle/>
          <a:p>
            <a:pPr algn="l"/>
            <a:r>
              <a:rPr sz="1500" b="0">
                <a:solidFill>
                  <a:srgbClr val="5B6372"/>
                </a:solidFill>
                <a:latin typeface="Arial"/>
              </a:rPr>
              <a:t>Customer question
↓
Approved routes
↓
Safe fallback
↓
Return bot reply</a:t>
            </a:r>
          </a:p>
        </p:txBody>
      </p:sp>
      <p:sp>
        <p:nvSpPr>
          <p:cNvPr id="24" name="TextBox 23"/>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46</a:t>
            </a:r>
          </a:p>
        </p:txBody>
      </p:sp>
    </p:spTree>
    <p:extLst>
      <p:ext uri="{BB962C8B-B14F-4D97-AF65-F5344CB8AC3E}">
        <p14:creationId xmlns:p14="http://schemas.microsoft.com/office/powerpoint/2010/main" val="5866754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AUTOMATION FOUNDATIONS</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Day 1 Recap — Choose the Right Trigger</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664208"/>
            <a:ext cx="10835640" cy="6858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664208"/>
            <a:ext cx="1417320" cy="685800"/>
          </a:xfrm>
          <a:prstGeom prst="rect">
            <a:avLst/>
          </a:prstGeom>
          <a:noFill/>
        </p:spPr>
        <p:txBody>
          <a:bodyPr wrap="square" anchor="ctr" lIns="73152" rIns="73152" tIns="73152" bIns="73152">
            <a:spAutoFit/>
          </a:bodyPr>
          <a:lstStyle/>
          <a:p>
            <a:pPr algn="l"/>
            <a:r>
              <a:rPr sz="1500" b="1">
                <a:solidFill>
                  <a:srgbClr val="1F6FEB"/>
                </a:solidFill>
                <a:latin typeface="Arial"/>
              </a:rPr>
              <a:t>Instant</a:t>
            </a:r>
          </a:p>
        </p:txBody>
      </p:sp>
      <p:sp>
        <p:nvSpPr>
          <p:cNvPr id="8" name="TextBox 7"/>
          <p:cNvSpPr txBox="1"/>
          <p:nvPr/>
        </p:nvSpPr>
        <p:spPr>
          <a:xfrm>
            <a:off x="2331720" y="1664208"/>
            <a:ext cx="2743200" cy="685800"/>
          </a:xfrm>
          <a:prstGeom prst="rect">
            <a:avLst/>
          </a:prstGeom>
          <a:noFill/>
        </p:spPr>
        <p:txBody>
          <a:bodyPr wrap="square" anchor="ctr" lIns="73152" rIns="73152" tIns="73152" bIns="73152">
            <a:spAutoFit/>
          </a:bodyPr>
          <a:lstStyle/>
          <a:p>
            <a:pPr algn="l"/>
            <a:r>
              <a:rPr sz="1300" b="0">
                <a:solidFill>
                  <a:srgbClr val="161B26"/>
                </a:solidFill>
                <a:latin typeface="Arial"/>
              </a:rPr>
              <a:t>Person presses Run</a:t>
            </a:r>
          </a:p>
        </p:txBody>
      </p:sp>
      <p:sp>
        <p:nvSpPr>
          <p:cNvPr id="9" name="TextBox 8"/>
          <p:cNvSpPr txBox="1"/>
          <p:nvPr/>
        </p:nvSpPr>
        <p:spPr>
          <a:xfrm>
            <a:off x="5257800" y="1664208"/>
            <a:ext cx="1234440" cy="685800"/>
          </a:xfrm>
          <a:prstGeom prst="rect">
            <a:avLst/>
          </a:prstGeom>
          <a:noFill/>
        </p:spPr>
        <p:txBody>
          <a:bodyPr wrap="square" anchor="ctr" lIns="73152" rIns="73152" tIns="73152" bIns="73152">
            <a:spAutoFit/>
          </a:bodyPr>
          <a:lstStyle/>
          <a:p>
            <a:pPr algn="ctr"/>
            <a:r>
              <a:rPr sz="1300" b="1">
                <a:solidFill>
                  <a:srgbClr val="1F6FEB"/>
                </a:solidFill>
                <a:latin typeface="Arial"/>
              </a:rPr>
              <a:t>Labs 1–2</a:t>
            </a:r>
          </a:p>
        </p:txBody>
      </p:sp>
      <p:sp>
        <p:nvSpPr>
          <p:cNvPr id="10" name="TextBox 9"/>
          <p:cNvSpPr txBox="1"/>
          <p:nvPr/>
        </p:nvSpPr>
        <p:spPr>
          <a:xfrm>
            <a:off x="6629400" y="1664208"/>
            <a:ext cx="4572000" cy="685800"/>
          </a:xfrm>
          <a:prstGeom prst="rect">
            <a:avLst/>
          </a:prstGeom>
          <a:noFill/>
        </p:spPr>
        <p:txBody>
          <a:bodyPr wrap="square" anchor="ctr" lIns="73152" rIns="73152" tIns="73152" bIns="73152">
            <a:spAutoFit/>
          </a:bodyPr>
          <a:lstStyle/>
          <a:p>
            <a:pPr algn="l"/>
            <a:r>
              <a:rPr sz="1300" b="0">
                <a:solidFill>
                  <a:srgbClr val="5B6372"/>
                </a:solidFill>
                <a:latin typeface="Arial"/>
              </a:rPr>
              <a:t>Learn actions and data mapping</a:t>
            </a:r>
          </a:p>
        </p:txBody>
      </p:sp>
      <p:sp>
        <p:nvSpPr>
          <p:cNvPr id="11" name="Rounded Rectangle 10"/>
          <p:cNvSpPr/>
          <p:nvPr/>
        </p:nvSpPr>
        <p:spPr>
          <a:xfrm>
            <a:off x="658368" y="2523744"/>
            <a:ext cx="10835640" cy="6858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523744"/>
            <a:ext cx="1417320" cy="685800"/>
          </a:xfrm>
          <a:prstGeom prst="rect">
            <a:avLst/>
          </a:prstGeom>
          <a:noFill/>
        </p:spPr>
        <p:txBody>
          <a:bodyPr wrap="square" anchor="ctr" lIns="73152" rIns="73152" tIns="73152" bIns="73152">
            <a:spAutoFit/>
          </a:bodyPr>
          <a:lstStyle/>
          <a:p>
            <a:pPr algn="l"/>
            <a:r>
              <a:rPr sz="1500" b="1">
                <a:solidFill>
                  <a:srgbClr val="108A73"/>
                </a:solidFill>
                <a:latin typeface="Arial"/>
              </a:rPr>
              <a:t>Scheduled</a:t>
            </a:r>
          </a:p>
        </p:txBody>
      </p:sp>
      <p:sp>
        <p:nvSpPr>
          <p:cNvPr id="13" name="TextBox 12"/>
          <p:cNvSpPr txBox="1"/>
          <p:nvPr/>
        </p:nvSpPr>
        <p:spPr>
          <a:xfrm>
            <a:off x="2331720" y="2523744"/>
            <a:ext cx="2743200" cy="685800"/>
          </a:xfrm>
          <a:prstGeom prst="rect">
            <a:avLst/>
          </a:prstGeom>
          <a:noFill/>
        </p:spPr>
        <p:txBody>
          <a:bodyPr wrap="square" anchor="ctr" lIns="73152" rIns="73152" tIns="73152" bIns="73152">
            <a:spAutoFit/>
          </a:bodyPr>
          <a:lstStyle/>
          <a:p>
            <a:pPr algn="l"/>
            <a:r>
              <a:rPr sz="1300" b="0">
                <a:solidFill>
                  <a:srgbClr val="161B26"/>
                </a:solidFill>
                <a:latin typeface="Arial"/>
              </a:rPr>
              <a:t>Recurrence</a:t>
            </a:r>
          </a:p>
        </p:txBody>
      </p:sp>
      <p:sp>
        <p:nvSpPr>
          <p:cNvPr id="14" name="TextBox 13"/>
          <p:cNvSpPr txBox="1"/>
          <p:nvPr/>
        </p:nvSpPr>
        <p:spPr>
          <a:xfrm>
            <a:off x="5257800" y="2523744"/>
            <a:ext cx="1234440" cy="685800"/>
          </a:xfrm>
          <a:prstGeom prst="rect">
            <a:avLst/>
          </a:prstGeom>
          <a:noFill/>
        </p:spPr>
        <p:txBody>
          <a:bodyPr wrap="square" anchor="ctr" lIns="73152" rIns="73152" tIns="73152" bIns="73152">
            <a:spAutoFit/>
          </a:bodyPr>
          <a:lstStyle/>
          <a:p>
            <a:pPr algn="ctr"/>
            <a:r>
              <a:rPr sz="1300" b="1">
                <a:solidFill>
                  <a:srgbClr val="1F6FEB"/>
                </a:solidFill>
                <a:latin typeface="Arial"/>
              </a:rPr>
              <a:t>Lab 3</a:t>
            </a:r>
          </a:p>
        </p:txBody>
      </p:sp>
      <p:sp>
        <p:nvSpPr>
          <p:cNvPr id="15" name="TextBox 14"/>
          <p:cNvSpPr txBox="1"/>
          <p:nvPr/>
        </p:nvSpPr>
        <p:spPr>
          <a:xfrm>
            <a:off x="6629400" y="2523744"/>
            <a:ext cx="4572000" cy="685800"/>
          </a:xfrm>
          <a:prstGeom prst="rect">
            <a:avLst/>
          </a:prstGeom>
          <a:noFill/>
        </p:spPr>
        <p:txBody>
          <a:bodyPr wrap="square" anchor="ctr" lIns="73152" rIns="73152" tIns="73152" bIns="73152">
            <a:spAutoFit/>
          </a:bodyPr>
          <a:lstStyle/>
          <a:p>
            <a:pPr algn="l"/>
            <a:r>
              <a:rPr sz="1300" b="0">
                <a:solidFill>
                  <a:srgbClr val="5B6372"/>
                </a:solidFill>
                <a:latin typeface="Arial"/>
              </a:rPr>
              <a:t>Run by the clock</a:t>
            </a:r>
          </a:p>
        </p:txBody>
      </p:sp>
      <p:sp>
        <p:nvSpPr>
          <p:cNvPr id="16" name="Rounded Rectangle 15"/>
          <p:cNvSpPr/>
          <p:nvPr/>
        </p:nvSpPr>
        <p:spPr>
          <a:xfrm>
            <a:off x="658368" y="3383280"/>
            <a:ext cx="10835640" cy="6858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 y="3383280"/>
            <a:ext cx="1417320" cy="685800"/>
          </a:xfrm>
          <a:prstGeom prst="rect">
            <a:avLst/>
          </a:prstGeom>
          <a:noFill/>
        </p:spPr>
        <p:txBody>
          <a:bodyPr wrap="square" anchor="ctr" lIns="73152" rIns="73152" tIns="73152" bIns="73152">
            <a:spAutoFit/>
          </a:bodyPr>
          <a:lstStyle/>
          <a:p>
            <a:pPr algn="l"/>
            <a:r>
              <a:rPr sz="1500" b="1">
                <a:solidFill>
                  <a:srgbClr val="6D3FD2"/>
                </a:solidFill>
                <a:latin typeface="Arial"/>
              </a:rPr>
              <a:t>Automated</a:t>
            </a:r>
          </a:p>
        </p:txBody>
      </p:sp>
      <p:sp>
        <p:nvSpPr>
          <p:cNvPr id="18" name="TextBox 17"/>
          <p:cNvSpPr txBox="1"/>
          <p:nvPr/>
        </p:nvSpPr>
        <p:spPr>
          <a:xfrm>
            <a:off x="2331720" y="3383280"/>
            <a:ext cx="2743200" cy="685800"/>
          </a:xfrm>
          <a:prstGeom prst="rect">
            <a:avLst/>
          </a:prstGeom>
          <a:noFill/>
        </p:spPr>
        <p:txBody>
          <a:bodyPr wrap="square" anchor="ctr" lIns="73152" rIns="73152" tIns="73152" bIns="73152">
            <a:spAutoFit/>
          </a:bodyPr>
          <a:lstStyle/>
          <a:p>
            <a:pPr algn="l"/>
            <a:r>
              <a:rPr sz="1300" b="0">
                <a:solidFill>
                  <a:srgbClr val="161B26"/>
                </a:solidFill>
                <a:latin typeface="Arial"/>
              </a:rPr>
              <a:t>Forms event</a:t>
            </a:r>
          </a:p>
        </p:txBody>
      </p:sp>
      <p:sp>
        <p:nvSpPr>
          <p:cNvPr id="19" name="TextBox 18"/>
          <p:cNvSpPr txBox="1"/>
          <p:nvPr/>
        </p:nvSpPr>
        <p:spPr>
          <a:xfrm>
            <a:off x="5257800" y="3383280"/>
            <a:ext cx="1234440" cy="685800"/>
          </a:xfrm>
          <a:prstGeom prst="rect">
            <a:avLst/>
          </a:prstGeom>
          <a:noFill/>
        </p:spPr>
        <p:txBody>
          <a:bodyPr wrap="square" anchor="ctr" lIns="73152" rIns="73152" tIns="73152" bIns="73152">
            <a:spAutoFit/>
          </a:bodyPr>
          <a:lstStyle/>
          <a:p>
            <a:pPr algn="ctr"/>
            <a:r>
              <a:rPr sz="1300" b="1">
                <a:solidFill>
                  <a:srgbClr val="1F6FEB"/>
                </a:solidFill>
                <a:latin typeface="Arial"/>
              </a:rPr>
              <a:t>Lab 4</a:t>
            </a:r>
          </a:p>
        </p:txBody>
      </p:sp>
      <p:sp>
        <p:nvSpPr>
          <p:cNvPr id="20" name="TextBox 19"/>
          <p:cNvSpPr txBox="1"/>
          <p:nvPr/>
        </p:nvSpPr>
        <p:spPr>
          <a:xfrm>
            <a:off x="6629400" y="3383280"/>
            <a:ext cx="4572000" cy="685800"/>
          </a:xfrm>
          <a:prstGeom prst="rect">
            <a:avLst/>
          </a:prstGeom>
          <a:noFill/>
        </p:spPr>
        <p:txBody>
          <a:bodyPr wrap="square" anchor="ctr" lIns="73152" rIns="73152" tIns="73152" bIns="73152">
            <a:spAutoFit/>
          </a:bodyPr>
          <a:lstStyle/>
          <a:p>
            <a:pPr algn="l"/>
            <a:r>
              <a:rPr sz="1300" b="0">
                <a:solidFill>
                  <a:srgbClr val="5B6372"/>
                </a:solidFill>
                <a:latin typeface="Arial"/>
              </a:rPr>
              <a:t>React to a business event</a:t>
            </a:r>
          </a:p>
        </p:txBody>
      </p:sp>
      <p:sp>
        <p:nvSpPr>
          <p:cNvPr id="21" name="Rounded Rectangle 20"/>
          <p:cNvSpPr/>
          <p:nvPr/>
        </p:nvSpPr>
        <p:spPr>
          <a:xfrm>
            <a:off x="658368" y="4242816"/>
            <a:ext cx="10835640" cy="6858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4242816"/>
            <a:ext cx="1417320" cy="685800"/>
          </a:xfrm>
          <a:prstGeom prst="rect">
            <a:avLst/>
          </a:prstGeom>
          <a:noFill/>
        </p:spPr>
        <p:txBody>
          <a:bodyPr wrap="square" anchor="ctr" lIns="73152" rIns="73152" tIns="73152" bIns="73152">
            <a:spAutoFit/>
          </a:bodyPr>
          <a:lstStyle/>
          <a:p>
            <a:pPr algn="l"/>
            <a:r>
              <a:rPr sz="1500" b="1">
                <a:solidFill>
                  <a:srgbClr val="C77600"/>
                </a:solidFill>
                <a:latin typeface="Arial"/>
              </a:rPr>
              <a:t>Approval</a:t>
            </a:r>
          </a:p>
        </p:txBody>
      </p:sp>
      <p:sp>
        <p:nvSpPr>
          <p:cNvPr id="23" name="TextBox 22"/>
          <p:cNvSpPr txBox="1"/>
          <p:nvPr/>
        </p:nvSpPr>
        <p:spPr>
          <a:xfrm>
            <a:off x="2331720" y="4242816"/>
            <a:ext cx="2743200" cy="685800"/>
          </a:xfrm>
          <a:prstGeom prst="rect">
            <a:avLst/>
          </a:prstGeom>
          <a:noFill/>
        </p:spPr>
        <p:txBody>
          <a:bodyPr wrap="square" anchor="ctr" lIns="73152" rIns="73152" tIns="73152" bIns="73152">
            <a:spAutoFit/>
          </a:bodyPr>
          <a:lstStyle/>
          <a:p>
            <a:pPr algn="l"/>
            <a:r>
              <a:rPr sz="1300" b="0">
                <a:solidFill>
                  <a:srgbClr val="161B26"/>
                </a:solidFill>
                <a:latin typeface="Arial"/>
              </a:rPr>
              <a:t>Flow pauses for a person</a:t>
            </a:r>
          </a:p>
        </p:txBody>
      </p:sp>
      <p:sp>
        <p:nvSpPr>
          <p:cNvPr id="24" name="TextBox 23"/>
          <p:cNvSpPr txBox="1"/>
          <p:nvPr/>
        </p:nvSpPr>
        <p:spPr>
          <a:xfrm>
            <a:off x="5257800" y="4242816"/>
            <a:ext cx="1234440" cy="685800"/>
          </a:xfrm>
          <a:prstGeom prst="rect">
            <a:avLst/>
          </a:prstGeom>
          <a:noFill/>
        </p:spPr>
        <p:txBody>
          <a:bodyPr wrap="square" anchor="ctr" lIns="73152" rIns="73152" tIns="73152" bIns="73152">
            <a:spAutoFit/>
          </a:bodyPr>
          <a:lstStyle/>
          <a:p>
            <a:pPr algn="ctr"/>
            <a:r>
              <a:rPr sz="1300" b="1">
                <a:solidFill>
                  <a:srgbClr val="1F6FEB"/>
                </a:solidFill>
                <a:latin typeface="Arial"/>
              </a:rPr>
              <a:t>Lab 5</a:t>
            </a:r>
          </a:p>
        </p:txBody>
      </p:sp>
      <p:sp>
        <p:nvSpPr>
          <p:cNvPr id="25" name="TextBox 24"/>
          <p:cNvSpPr txBox="1"/>
          <p:nvPr/>
        </p:nvSpPr>
        <p:spPr>
          <a:xfrm>
            <a:off x="6629400" y="4242816"/>
            <a:ext cx="4572000" cy="685800"/>
          </a:xfrm>
          <a:prstGeom prst="rect">
            <a:avLst/>
          </a:prstGeom>
          <a:noFill/>
        </p:spPr>
        <p:txBody>
          <a:bodyPr wrap="square" anchor="ctr" lIns="73152" rIns="73152" tIns="73152" bIns="73152">
            <a:spAutoFit/>
          </a:bodyPr>
          <a:lstStyle/>
          <a:p>
            <a:pPr algn="l"/>
            <a:r>
              <a:rPr sz="1300" b="0">
                <a:solidFill>
                  <a:srgbClr val="5B6372"/>
                </a:solidFill>
                <a:latin typeface="Arial"/>
              </a:rPr>
              <a:t>Add human judgement</a:t>
            </a:r>
          </a:p>
        </p:txBody>
      </p:sp>
      <p:sp>
        <p:nvSpPr>
          <p:cNvPr id="26" name="Rounded Rectangle 25"/>
          <p:cNvSpPr/>
          <p:nvPr/>
        </p:nvSpPr>
        <p:spPr>
          <a:xfrm>
            <a:off x="658368" y="5102352"/>
            <a:ext cx="10835640" cy="6858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102352"/>
            <a:ext cx="1417320" cy="685800"/>
          </a:xfrm>
          <a:prstGeom prst="rect">
            <a:avLst/>
          </a:prstGeom>
          <a:noFill/>
        </p:spPr>
        <p:txBody>
          <a:bodyPr wrap="square" anchor="ctr" lIns="73152" rIns="73152" tIns="73152" bIns="73152">
            <a:spAutoFit/>
          </a:bodyPr>
          <a:lstStyle/>
          <a:p>
            <a:pPr algn="l"/>
            <a:r>
              <a:rPr sz="1500" b="1">
                <a:solidFill>
                  <a:srgbClr val="16845B"/>
                </a:solidFill>
                <a:latin typeface="Arial"/>
              </a:rPr>
              <a:t>HTTP</a:t>
            </a:r>
          </a:p>
        </p:txBody>
      </p:sp>
      <p:sp>
        <p:nvSpPr>
          <p:cNvPr id="28" name="TextBox 27"/>
          <p:cNvSpPr txBox="1"/>
          <p:nvPr/>
        </p:nvSpPr>
        <p:spPr>
          <a:xfrm>
            <a:off x="2331720" y="5102352"/>
            <a:ext cx="2743200" cy="685800"/>
          </a:xfrm>
          <a:prstGeom prst="rect">
            <a:avLst/>
          </a:prstGeom>
          <a:noFill/>
        </p:spPr>
        <p:txBody>
          <a:bodyPr wrap="square" anchor="ctr" lIns="73152" rIns="73152" tIns="73152" bIns="73152">
            <a:spAutoFit/>
          </a:bodyPr>
          <a:lstStyle/>
          <a:p>
            <a:pPr algn="l"/>
            <a:r>
              <a:rPr sz="1300" b="0">
                <a:solidFill>
                  <a:srgbClr val="161B26"/>
                </a:solidFill>
                <a:latin typeface="Arial"/>
              </a:rPr>
              <a:t>External JSON request</a:t>
            </a:r>
          </a:p>
        </p:txBody>
      </p:sp>
      <p:sp>
        <p:nvSpPr>
          <p:cNvPr id="29" name="TextBox 28"/>
          <p:cNvSpPr txBox="1"/>
          <p:nvPr/>
        </p:nvSpPr>
        <p:spPr>
          <a:xfrm>
            <a:off x="5257800" y="5102352"/>
            <a:ext cx="1234440" cy="685800"/>
          </a:xfrm>
          <a:prstGeom prst="rect">
            <a:avLst/>
          </a:prstGeom>
          <a:noFill/>
        </p:spPr>
        <p:txBody>
          <a:bodyPr wrap="square" anchor="ctr" lIns="73152" rIns="73152" tIns="73152" bIns="73152">
            <a:spAutoFit/>
          </a:bodyPr>
          <a:lstStyle/>
          <a:p>
            <a:pPr algn="ctr"/>
            <a:r>
              <a:rPr sz="1300" b="1">
                <a:solidFill>
                  <a:srgbClr val="1F6FEB"/>
                </a:solidFill>
                <a:latin typeface="Arial"/>
              </a:rPr>
              <a:t>Labs 6A–B</a:t>
            </a:r>
          </a:p>
        </p:txBody>
      </p:sp>
      <p:sp>
        <p:nvSpPr>
          <p:cNvPr id="30" name="TextBox 29"/>
          <p:cNvSpPr txBox="1"/>
          <p:nvPr/>
        </p:nvSpPr>
        <p:spPr>
          <a:xfrm>
            <a:off x="6629400" y="5102352"/>
            <a:ext cx="4572000" cy="685800"/>
          </a:xfrm>
          <a:prstGeom prst="rect">
            <a:avLst/>
          </a:prstGeom>
          <a:noFill/>
        </p:spPr>
        <p:txBody>
          <a:bodyPr wrap="square" anchor="ctr" lIns="73152" rIns="73152" tIns="73152" bIns="73152">
            <a:spAutoFit/>
          </a:bodyPr>
          <a:lstStyle/>
          <a:p>
            <a:pPr algn="l"/>
            <a:r>
              <a:rPr sz="1300" b="0">
                <a:solidFill>
                  <a:srgbClr val="5B6372"/>
                </a:solidFill>
                <a:latin typeface="Arial"/>
              </a:rPr>
              <a:t>Connect a website or system</a:t>
            </a:r>
          </a:p>
        </p:txBody>
      </p:sp>
      <p:sp>
        <p:nvSpPr>
          <p:cNvPr id="31" name="TextBox 30"/>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47</a:t>
            </a:r>
          </a:p>
        </p:txBody>
      </p:sp>
    </p:spTree>
    <p:extLst>
      <p:ext uri="{BB962C8B-B14F-4D97-AF65-F5344CB8AC3E}">
        <p14:creationId xmlns:p14="http://schemas.microsoft.com/office/powerpoint/2010/main" val="15264767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FCFDC1-8B82-A2EB-9EB2-396F7244D9E9}"/>
              </a:ext>
            </a:extLst>
          </p:cNvPr>
          <p:cNvSpPr>
            <a:spLocks noGrp="1"/>
          </p:cNvSpPr>
          <p:nvPr>
            <p:ph type="title"/>
          </p:nvPr>
        </p:nvSpPr>
        <p:spPr/>
        <p:txBody>
          <a:bodyPr/>
          <a:lstStyle/>
          <a:p>
            <a:r>
              <a:rPr lang="en-US"/>
              <a:t>Day 2 — Building Business Agents with Copilot Studio</a:t>
            </a:r>
          </a:p>
        </p:txBody>
      </p:sp>
      <p:sp>
        <p:nvSpPr>
          <p:cNvPr id="3" name="Text Placeholder 2">
            <a:extLst>
              <a:ext uri="{FF2B5EF4-FFF2-40B4-BE49-F238E27FC236}">
                <a16:creationId xmlns:a16="http://schemas.microsoft.com/office/drawing/2014/main" id="{45CD9A7C-6FAC-8D23-F8A9-0FBBFA344045}"/>
              </a:ext>
            </a:extLst>
          </p:cNvPr>
          <p:cNvSpPr>
            <a:spLocks noGrp="1"/>
          </p:cNvSpPr>
          <p:nvPr>
            <p:ph type="body" idx="1"/>
          </p:nvPr>
        </p:nvSpPr>
        <p:spPr/>
        <p:txBody>
          <a:bodyPr>
            <a:normAutofit/>
          </a:bodyPr>
          <a:lstStyle/>
          <a:p>
            <a:r>
              <a:rPr lang="en-US" sz="1800" b="1">
                <a:solidFill>
                  <a:srgbClr val="7C3AED"/>
                </a:solidFill>
              </a:rPr>
              <a:t>Module 3  ·  Create AI agents and connect them to your flows</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extLst>
      <p:ext uri="{BB962C8B-B14F-4D97-AF65-F5344CB8AC3E}">
        <p14:creationId xmlns:p14="http://schemas.microsoft.com/office/powerpoint/2010/main" val="202602072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AGENT CAPABILITIES BUILD PROGRESSIVELY</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Day 2 Roadmap</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874519"/>
            <a:ext cx="1830628" cy="137160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47672"/>
            <a:ext cx="1684324" cy="1225296"/>
          </a:xfrm>
          <a:prstGeom prst="rect">
            <a:avLst/>
          </a:prstGeom>
          <a:noFill/>
        </p:spPr>
        <p:txBody>
          <a:bodyPr wrap="square" anchor="ctr" lIns="73152" rIns="73152" tIns="73152" bIns="73152">
            <a:spAutoFit/>
          </a:bodyPr>
          <a:lstStyle/>
          <a:p>
            <a:pPr algn="ctr"/>
            <a:r>
              <a:rPr sz="1300" b="1">
                <a:solidFill>
                  <a:srgbClr val="161B26"/>
                </a:solidFill>
                <a:latin typeface="Arial"/>
              </a:rPr>
              <a:t>Lab 7A
Agent shell</a:t>
            </a:r>
          </a:p>
        </p:txBody>
      </p:sp>
      <p:sp>
        <p:nvSpPr>
          <p:cNvPr id="8" name="Chevron 7"/>
          <p:cNvSpPr/>
          <p:nvPr/>
        </p:nvSpPr>
        <p:spPr>
          <a:xfrm>
            <a:off x="2543860" y="240487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79268"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ground</a:t>
            </a:r>
          </a:p>
        </p:txBody>
      </p:sp>
      <p:sp>
        <p:nvSpPr>
          <p:cNvPr id="10" name="Rounded Rectangle 9"/>
          <p:cNvSpPr/>
          <p:nvPr/>
        </p:nvSpPr>
        <p:spPr>
          <a:xfrm>
            <a:off x="2909620" y="1874519"/>
            <a:ext cx="1830628" cy="137160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2772" y="1947672"/>
            <a:ext cx="1684324" cy="1225296"/>
          </a:xfrm>
          <a:prstGeom prst="rect">
            <a:avLst/>
          </a:prstGeom>
          <a:noFill/>
        </p:spPr>
        <p:txBody>
          <a:bodyPr wrap="square" anchor="ctr" lIns="73152" rIns="73152" tIns="73152" bIns="73152">
            <a:spAutoFit/>
          </a:bodyPr>
          <a:lstStyle/>
          <a:p>
            <a:pPr algn="ctr"/>
            <a:r>
              <a:rPr sz="1300" b="1">
                <a:solidFill>
                  <a:srgbClr val="161B26"/>
                </a:solidFill>
                <a:latin typeface="Arial"/>
              </a:rPr>
              <a:t>Lab 7B
RAG knowledge</a:t>
            </a:r>
          </a:p>
        </p:txBody>
      </p:sp>
      <p:sp>
        <p:nvSpPr>
          <p:cNvPr id="12" name="Chevron 11"/>
          <p:cNvSpPr/>
          <p:nvPr/>
        </p:nvSpPr>
        <p:spPr>
          <a:xfrm>
            <a:off x="4795112" y="240487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0520"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publish</a:t>
            </a:r>
          </a:p>
        </p:txBody>
      </p:sp>
      <p:sp>
        <p:nvSpPr>
          <p:cNvPr id="14" name="Rounded Rectangle 13"/>
          <p:cNvSpPr/>
          <p:nvPr/>
        </p:nvSpPr>
        <p:spPr>
          <a:xfrm>
            <a:off x="5160873" y="1874519"/>
            <a:ext cx="1830628" cy="137160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4025" y="1947672"/>
            <a:ext cx="1684324" cy="1225296"/>
          </a:xfrm>
          <a:prstGeom prst="rect">
            <a:avLst/>
          </a:prstGeom>
          <a:noFill/>
        </p:spPr>
        <p:txBody>
          <a:bodyPr wrap="square" anchor="ctr" lIns="73152" rIns="73152" tIns="73152" bIns="73152">
            <a:spAutoFit/>
          </a:bodyPr>
          <a:lstStyle/>
          <a:p>
            <a:pPr algn="ctr"/>
            <a:r>
              <a:rPr sz="1300" b="1">
                <a:solidFill>
                  <a:srgbClr val="161B26"/>
                </a:solidFill>
                <a:latin typeface="Arial"/>
              </a:rPr>
              <a:t>Lab 8
Teams + website</a:t>
            </a:r>
          </a:p>
        </p:txBody>
      </p:sp>
      <p:sp>
        <p:nvSpPr>
          <p:cNvPr id="16" name="Chevron 15"/>
          <p:cNvSpPr/>
          <p:nvPr/>
        </p:nvSpPr>
        <p:spPr>
          <a:xfrm>
            <a:off x="7046365" y="240487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1773"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take action</a:t>
            </a:r>
          </a:p>
        </p:txBody>
      </p:sp>
      <p:sp>
        <p:nvSpPr>
          <p:cNvPr id="18" name="Rounded Rectangle 17"/>
          <p:cNvSpPr/>
          <p:nvPr/>
        </p:nvSpPr>
        <p:spPr>
          <a:xfrm>
            <a:off x="7412126" y="1874519"/>
            <a:ext cx="1830628" cy="137160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5278" y="1947672"/>
            <a:ext cx="1684324" cy="1225296"/>
          </a:xfrm>
          <a:prstGeom prst="rect">
            <a:avLst/>
          </a:prstGeom>
          <a:noFill/>
        </p:spPr>
        <p:txBody>
          <a:bodyPr wrap="square" anchor="ctr" lIns="73152" rIns="73152" tIns="73152" bIns="73152">
            <a:spAutoFit/>
          </a:bodyPr>
          <a:lstStyle/>
          <a:p>
            <a:pPr algn="ctr"/>
            <a:r>
              <a:rPr sz="1300" b="1">
                <a:solidFill>
                  <a:srgbClr val="161B26"/>
                </a:solidFill>
                <a:latin typeface="Arial"/>
              </a:rPr>
              <a:t>Lab 9
Agent flow</a:t>
            </a:r>
          </a:p>
        </p:txBody>
      </p:sp>
      <p:sp>
        <p:nvSpPr>
          <p:cNvPr id="20" name="Chevron 19"/>
          <p:cNvSpPr/>
          <p:nvPr/>
        </p:nvSpPr>
        <p:spPr>
          <a:xfrm>
            <a:off x="9297618" y="2404872"/>
            <a:ext cx="274320" cy="310896"/>
          </a:xfrm>
          <a:prstGeom prst="chevron">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3026"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generate</a:t>
            </a:r>
          </a:p>
        </p:txBody>
      </p:sp>
      <p:sp>
        <p:nvSpPr>
          <p:cNvPr id="22" name="Rounded Rectangle 21"/>
          <p:cNvSpPr/>
          <p:nvPr/>
        </p:nvSpPr>
        <p:spPr>
          <a:xfrm>
            <a:off x="9663379" y="1874519"/>
            <a:ext cx="1830628" cy="137160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6531" y="1947672"/>
            <a:ext cx="1684324" cy="1225296"/>
          </a:xfrm>
          <a:prstGeom prst="rect">
            <a:avLst/>
          </a:prstGeom>
          <a:noFill/>
        </p:spPr>
        <p:txBody>
          <a:bodyPr wrap="square" anchor="ctr" lIns="73152" rIns="73152" tIns="73152" bIns="73152">
            <a:spAutoFit/>
          </a:bodyPr>
          <a:lstStyle/>
          <a:p>
            <a:pPr algn="ctr"/>
            <a:r>
              <a:rPr sz="1300" b="1">
                <a:solidFill>
                  <a:srgbClr val="161B26"/>
                </a:solidFill>
                <a:latin typeface="Arial"/>
              </a:rPr>
              <a:t>Lab 10
Prompt flow</a:t>
            </a:r>
          </a:p>
        </p:txBody>
      </p:sp>
      <p:sp>
        <p:nvSpPr>
          <p:cNvPr id="24" name="TextBox 23"/>
          <p:cNvSpPr txBox="1"/>
          <p:nvPr/>
        </p:nvSpPr>
        <p:spPr>
          <a:xfrm>
            <a:off x="658368" y="3840480"/>
            <a:ext cx="10835640" cy="384048"/>
          </a:xfrm>
          <a:prstGeom prst="rect">
            <a:avLst/>
          </a:prstGeom>
          <a:noFill/>
        </p:spPr>
        <p:txBody>
          <a:bodyPr wrap="square" anchor="ctr" lIns="73152" rIns="73152" tIns="73152" bIns="73152">
            <a:spAutoFit/>
          </a:bodyPr>
          <a:lstStyle/>
          <a:p>
            <a:pPr algn="ctr"/>
            <a:r>
              <a:rPr sz="1400" b="1">
                <a:solidFill>
                  <a:srgbClr val="6D3FD2"/>
                </a:solidFill>
                <a:latin typeface="Arial"/>
              </a:rPr>
              <a:t>DAY 2 ADDS THE CONVERSATIONAL ORCHESTRATOR</a:t>
            </a:r>
          </a:p>
        </p:txBody>
      </p:sp>
      <p:sp>
        <p:nvSpPr>
          <p:cNvPr id="25" name="Rounded Rectangle 24"/>
          <p:cNvSpPr/>
          <p:nvPr/>
        </p:nvSpPr>
        <p:spPr>
          <a:xfrm>
            <a:off x="914400" y="4343400"/>
            <a:ext cx="3154680" cy="123444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00" y="4343400"/>
            <a:ext cx="82296" cy="1234440"/>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0432" y="4489704"/>
            <a:ext cx="2679192" cy="411480"/>
          </a:xfrm>
          <a:prstGeom prst="rect">
            <a:avLst/>
          </a:prstGeom>
          <a:noFill/>
        </p:spPr>
        <p:txBody>
          <a:bodyPr wrap="square" anchor="ctr" lIns="73152" rIns="73152" tIns="73152" bIns="73152">
            <a:spAutoFit/>
          </a:bodyPr>
          <a:lstStyle/>
          <a:p>
            <a:pPr algn="l"/>
            <a:r>
              <a:rPr sz="1700" b="1">
                <a:solidFill>
                  <a:srgbClr val="6D3FD2"/>
                </a:solidFill>
                <a:latin typeface="Arial"/>
              </a:rPr>
              <a:t>Understand</a:t>
            </a:r>
          </a:p>
        </p:txBody>
      </p:sp>
      <p:sp>
        <p:nvSpPr>
          <p:cNvPr id="28" name="TextBox 27"/>
          <p:cNvSpPr txBox="1"/>
          <p:nvPr/>
        </p:nvSpPr>
        <p:spPr>
          <a:xfrm>
            <a:off x="1170432" y="4983480"/>
            <a:ext cx="2679192" cy="484632"/>
          </a:xfrm>
          <a:prstGeom prst="rect">
            <a:avLst/>
          </a:prstGeom>
          <a:noFill/>
        </p:spPr>
        <p:txBody>
          <a:bodyPr wrap="square" anchor="ctr" lIns="73152" rIns="73152" tIns="73152" bIns="73152">
            <a:spAutoFit/>
          </a:bodyPr>
          <a:lstStyle/>
          <a:p>
            <a:pPr algn="l"/>
            <a:r>
              <a:rPr sz="1400" b="0">
                <a:solidFill>
                  <a:srgbClr val="5B6372"/>
                </a:solidFill>
                <a:latin typeface="Arial"/>
              </a:rPr>
              <a:t>Instructions and confirmed user intent</a:t>
            </a:r>
          </a:p>
        </p:txBody>
      </p:sp>
      <p:sp>
        <p:nvSpPr>
          <p:cNvPr id="29" name="Rounded Rectangle 28"/>
          <p:cNvSpPr/>
          <p:nvPr/>
        </p:nvSpPr>
        <p:spPr>
          <a:xfrm>
            <a:off x="4526280" y="4343400"/>
            <a:ext cx="3154680" cy="123444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26280" y="4343400"/>
            <a:ext cx="82296" cy="123444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82312" y="4489704"/>
            <a:ext cx="2679192" cy="411480"/>
          </a:xfrm>
          <a:prstGeom prst="rect">
            <a:avLst/>
          </a:prstGeom>
          <a:noFill/>
        </p:spPr>
        <p:txBody>
          <a:bodyPr wrap="square" anchor="ctr" lIns="73152" rIns="73152" tIns="73152" bIns="73152">
            <a:spAutoFit/>
          </a:bodyPr>
          <a:lstStyle/>
          <a:p>
            <a:pPr algn="l"/>
            <a:r>
              <a:rPr sz="1700" b="1">
                <a:solidFill>
                  <a:srgbClr val="1F6FEB"/>
                </a:solidFill>
                <a:latin typeface="Arial"/>
              </a:rPr>
              <a:t>Ground</a:t>
            </a:r>
          </a:p>
        </p:txBody>
      </p:sp>
      <p:sp>
        <p:nvSpPr>
          <p:cNvPr id="32" name="TextBox 31"/>
          <p:cNvSpPr txBox="1"/>
          <p:nvPr/>
        </p:nvSpPr>
        <p:spPr>
          <a:xfrm>
            <a:off x="4782312" y="4983480"/>
            <a:ext cx="2679192" cy="484632"/>
          </a:xfrm>
          <a:prstGeom prst="rect">
            <a:avLst/>
          </a:prstGeom>
          <a:noFill/>
        </p:spPr>
        <p:txBody>
          <a:bodyPr wrap="square" anchor="ctr" lIns="73152" rIns="73152" tIns="73152" bIns="73152">
            <a:spAutoFit/>
          </a:bodyPr>
          <a:lstStyle/>
          <a:p>
            <a:pPr algn="l"/>
            <a:r>
              <a:rPr sz="1400" b="0">
                <a:solidFill>
                  <a:srgbClr val="5B6372"/>
                </a:solidFill>
                <a:latin typeface="Arial"/>
              </a:rPr>
              <a:t>Retrieve approved facts with RAG</a:t>
            </a:r>
          </a:p>
        </p:txBody>
      </p:sp>
      <p:sp>
        <p:nvSpPr>
          <p:cNvPr id="33" name="Rounded Rectangle 32"/>
          <p:cNvSpPr/>
          <p:nvPr/>
        </p:nvSpPr>
        <p:spPr>
          <a:xfrm>
            <a:off x="8138160" y="4343400"/>
            <a:ext cx="3154680" cy="123444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38160" y="4343400"/>
            <a:ext cx="82296" cy="1234440"/>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94192" y="4489704"/>
            <a:ext cx="2679192" cy="411480"/>
          </a:xfrm>
          <a:prstGeom prst="rect">
            <a:avLst/>
          </a:prstGeom>
          <a:noFill/>
        </p:spPr>
        <p:txBody>
          <a:bodyPr wrap="square" anchor="ctr" lIns="73152" rIns="73152" tIns="73152" bIns="73152">
            <a:spAutoFit/>
          </a:bodyPr>
          <a:lstStyle/>
          <a:p>
            <a:pPr algn="l"/>
            <a:r>
              <a:rPr sz="1700" b="1">
                <a:solidFill>
                  <a:srgbClr val="16845B"/>
                </a:solidFill>
                <a:latin typeface="Arial"/>
              </a:rPr>
              <a:t>Act</a:t>
            </a:r>
          </a:p>
        </p:txBody>
      </p:sp>
      <p:sp>
        <p:nvSpPr>
          <p:cNvPr id="36" name="TextBox 35"/>
          <p:cNvSpPr txBox="1"/>
          <p:nvPr/>
        </p:nvSpPr>
        <p:spPr>
          <a:xfrm>
            <a:off x="8394192" y="4983480"/>
            <a:ext cx="2679192" cy="484632"/>
          </a:xfrm>
          <a:prstGeom prst="rect">
            <a:avLst/>
          </a:prstGeom>
          <a:noFill/>
        </p:spPr>
        <p:txBody>
          <a:bodyPr wrap="square" anchor="ctr" lIns="73152" rIns="73152" tIns="73152" bIns="73152">
            <a:spAutoFit/>
          </a:bodyPr>
          <a:lstStyle/>
          <a:p>
            <a:pPr algn="l"/>
            <a:r>
              <a:rPr sz="1400" b="0">
                <a:solidFill>
                  <a:srgbClr val="5B6372"/>
                </a:solidFill>
                <a:latin typeface="Arial"/>
              </a:rPr>
              <a:t>Call Power Automate as a tool</a:t>
            </a:r>
          </a:p>
        </p:txBody>
      </p:sp>
      <p:sp>
        <p:nvSpPr>
          <p:cNvPr id="37" name="TextBox 36"/>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49</a:t>
            </a:r>
          </a:p>
        </p:txBody>
      </p:sp>
    </p:spTree>
    <p:extLst>
      <p:ext uri="{BB962C8B-B14F-4D97-AF65-F5344CB8AC3E}">
        <p14:creationId xmlns:p14="http://schemas.microsoft.com/office/powerpoint/2010/main" val="38157952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1FFFC-3F9F-EF25-73C6-D53E4AD542B4}"/>
              </a:ext>
            </a:extLst>
          </p:cNvPr>
          <p:cNvSpPr>
            <a:spLocks noGrp="1"/>
          </p:cNvSpPr>
          <p:nvPr>
            <p:ph type="title"/>
          </p:nvPr>
        </p:nvSpPr>
        <p:spPr/>
        <p:txBody>
          <a:bodyPr/>
          <a:lstStyle/>
          <a:p>
            <a:r>
              <a:rPr lang="en-US"/>
              <a:t>Module 3 · Building Business Agents with Copilot Studio</a:t>
            </a:r>
          </a:p>
        </p:txBody>
      </p:sp>
      <p:sp>
        <p:nvSpPr>
          <p:cNvPr id="3" name="Text Placeholder 2">
            <a:extLst>
              <a:ext uri="{FF2B5EF4-FFF2-40B4-BE49-F238E27FC236}">
                <a16:creationId xmlns:a16="http://schemas.microsoft.com/office/drawing/2014/main" id="{8FEE78CB-30D6-CCDF-F84A-0B996FBF7A10}"/>
              </a:ext>
            </a:extLst>
          </p:cNvPr>
          <p:cNvSpPr>
            <a:spLocks noGrp="1"/>
          </p:cNvSpPr>
          <p:nvPr>
            <p:ph type="body" idx="1"/>
          </p:nvPr>
        </p:nvSpPr>
        <p:spPr/>
        <p:txBody>
          <a:bodyPr>
            <a:normAutofit/>
          </a:bodyPr>
          <a:lstStyle/>
          <a:p>
            <a:r>
              <a:rPr lang="en-US" sz="1800" b="1">
                <a:solidFill>
                  <a:srgbClr val="7C3AED"/>
                </a:solidFill>
              </a:rPr>
              <a:t>From a helpful chatbot to an agent that triggers real work</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extLst>
      <p:ext uri="{BB962C8B-B14F-4D97-AF65-F5344CB8AC3E}">
        <p14:creationId xmlns:p14="http://schemas.microsoft.com/office/powerpoint/2010/main" val="40821782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992FD-56F4-4632-E07C-B2E5B3689D6E}"/>
              </a:ext>
            </a:extLst>
          </p:cNvPr>
          <p:cNvSpPr>
            <a:spLocks noGrp="1"/>
          </p:cNvSpPr>
          <p:nvPr>
            <p:ph type="title"/>
          </p:nvPr>
        </p:nvSpPr>
        <p:spPr/>
        <p:txBody>
          <a:bodyPr/>
          <a:lstStyle/>
          <a:p>
            <a:r>
              <a:rPr lang="en-US"/>
              <a:t>What Is Copilot Studio?</a:t>
            </a:r>
          </a:p>
        </p:txBody>
      </p:sp>
      <p:sp>
        <p:nvSpPr>
          <p:cNvPr id="3" name="Content Placeholder 2">
            <a:extLst>
              <a:ext uri="{FF2B5EF4-FFF2-40B4-BE49-F238E27FC236}">
                <a16:creationId xmlns:a16="http://schemas.microsoft.com/office/drawing/2014/main" id="{1CFFF989-1664-64BD-C695-2CAC2586BDDC}"/>
              </a:ext>
            </a:extLst>
          </p:cNvPr>
          <p:cNvSpPr>
            <a:spLocks noGrp="1"/>
          </p:cNvSpPr>
          <p:nvPr>
            <p:ph idx="1"/>
          </p:nvPr>
        </p:nvSpPr>
        <p:spPr/>
        <p:txBody>
          <a:bodyPr>
            <a:normAutofit/>
          </a:bodyPr>
          <a:lstStyle/>
          <a:p>
            <a:r>
              <a:rPr lang="en-US" sz="1800"/>
              <a:t>Microsoft's low-code tool for building custom AI agents
Create conversational agents that understand natural language
Ground them in your own knowledge — documents, sites, data
Agents can call Power Automate flows to take action
Publish to Teams, websites and other channels</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extLst>
      <p:ext uri="{BB962C8B-B14F-4D97-AF65-F5344CB8AC3E}">
        <p14:creationId xmlns:p14="http://schemas.microsoft.com/office/powerpoint/2010/main" val="20762356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52BFD-21C0-388E-F8AC-F4B03470DDC4}"/>
              </a:ext>
            </a:extLst>
          </p:cNvPr>
          <p:cNvSpPr>
            <a:spLocks noGrp="1"/>
          </p:cNvSpPr>
          <p:nvPr>
            <p:ph type="title"/>
          </p:nvPr>
        </p:nvSpPr>
        <p:spPr/>
        <p:txBody>
          <a:bodyPr/>
          <a:lstStyle/>
          <a:p>
            <a:r>
              <a:rPr lang="en-US"/>
              <a:t>The Copilot Studio Maker</a:t>
            </a:r>
          </a:p>
        </p:txBody>
      </p:sp>
      <p:sp>
        <p:nvSpPr>
          <p:cNvPr id="3" name="Content Placeholder 2">
            <a:extLst>
              <a:ext uri="{FF2B5EF4-FFF2-40B4-BE49-F238E27FC236}">
                <a16:creationId xmlns:a16="http://schemas.microsoft.com/office/drawing/2014/main" id="{89C7A1A4-1F57-2A5D-4EB6-6F3E00E8E5BB}"/>
              </a:ext>
            </a:extLst>
          </p:cNvPr>
          <p:cNvSpPr>
            <a:spLocks noGrp="1"/>
          </p:cNvSpPr>
          <p:nvPr>
            <p:ph idx="1"/>
          </p:nvPr>
        </p:nvSpPr>
        <p:spPr/>
        <p:txBody>
          <a:bodyPr>
            <a:normAutofit/>
          </a:bodyPr>
          <a:lstStyle/>
          <a:p>
            <a:r>
              <a:rPr lang="en-US" sz="1800"/>
              <a:t>Build agents at copilotstudio.microsoft.com
Create a blank agent, then edit its details and instructions
Add knowledge sources, topics and tools
Test live in the built-in chat panel as you build
Publish when you're happy — update any time</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extLst>
      <p:ext uri="{BB962C8B-B14F-4D97-AF65-F5344CB8AC3E}">
        <p14:creationId xmlns:p14="http://schemas.microsoft.com/office/powerpoint/2010/main" val="70417700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3FB51-CEE1-B26C-4A7A-5AA8076775A6}"/>
              </a:ext>
            </a:extLst>
          </p:cNvPr>
          <p:cNvSpPr>
            <a:spLocks noGrp="1"/>
          </p:cNvSpPr>
          <p:nvPr>
            <p:ph type="title"/>
          </p:nvPr>
        </p:nvSpPr>
        <p:spPr/>
        <p:txBody>
          <a:bodyPr/>
          <a:lstStyle/>
          <a:p>
            <a:r>
              <a:rPr lang="en-US"/>
              <a:t>How an Agent Works</a:t>
            </a:r>
          </a:p>
        </p:txBody>
      </p:sp>
      <p:sp>
        <p:nvSpPr>
          <p:cNvPr id="3" name="Content Placeholder 2">
            <a:extLst>
              <a:ext uri="{FF2B5EF4-FFF2-40B4-BE49-F238E27FC236}">
                <a16:creationId xmlns:a16="http://schemas.microsoft.com/office/drawing/2014/main" id="{5211CD51-034A-0050-CEF4-C70825EAC938}"/>
              </a:ext>
            </a:extLst>
          </p:cNvPr>
          <p:cNvSpPr>
            <a:spLocks noGrp="1"/>
          </p:cNvSpPr>
          <p:nvPr>
            <p:ph idx="1"/>
          </p:nvPr>
        </p:nvSpPr>
        <p:spPr/>
        <p:txBody>
          <a:bodyPr>
            <a:normAutofit/>
          </a:bodyPr>
          <a:lstStyle/>
          <a:p>
            <a:r>
              <a:rPr lang="en-US" sz="1800"/>
              <a:t>Instructions tell the agent its role and how to behave
Knowledge gives it the information to answer from
Topics handle specific conversations — the agent chooses one from its description
Tools let it do things — including running your flows
It interprets the user, responds, and can hand off to automation</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extLst>
      <p:ext uri="{BB962C8B-B14F-4D97-AF65-F5344CB8AC3E}">
        <p14:creationId xmlns:p14="http://schemas.microsoft.com/office/powerpoint/2010/main" val="40718705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FB79F-EE74-DA8D-C6DC-3356C375A141}"/>
              </a:ext>
            </a:extLst>
          </p:cNvPr>
          <p:cNvSpPr>
            <a:spLocks noGrp="1"/>
          </p:cNvSpPr>
          <p:nvPr>
            <p:ph type="title"/>
          </p:nvPr>
        </p:nvSpPr>
        <p:spPr/>
        <p:txBody>
          <a:bodyPr/>
          <a:lstStyle/>
          <a:p>
            <a:r>
              <a:rPr lang="en-US"/>
              <a:t>What Makes a Good Business Agent</a:t>
            </a:r>
          </a:p>
        </p:txBody>
      </p:sp>
      <p:sp>
        <p:nvSpPr>
          <p:cNvPr id="3" name="Content Placeholder 2">
            <a:extLst>
              <a:ext uri="{FF2B5EF4-FFF2-40B4-BE49-F238E27FC236}">
                <a16:creationId xmlns:a16="http://schemas.microsoft.com/office/drawing/2014/main" id="{3E5DC6E2-59CF-0CB9-5E4D-D12A83E0071A}"/>
              </a:ext>
            </a:extLst>
          </p:cNvPr>
          <p:cNvSpPr>
            <a:spLocks noGrp="1"/>
          </p:cNvSpPr>
          <p:nvPr>
            <p:ph idx="1"/>
          </p:nvPr>
        </p:nvSpPr>
        <p:spPr/>
        <p:txBody>
          <a:bodyPr>
            <a:normAutofit/>
          </a:bodyPr>
          <a:lstStyle/>
          <a:p>
            <a:r>
              <a:rPr lang="en-US" sz="1800"/>
              <a:t>A clear, narrow job — it does one thing well
A defined audience and tone of voice
Reliable, structured output the next step can use
Grounded in trustworthy knowledge — no guessing
Knows when to act: hand off to a flow at the right moment</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extLst>
      <p:ext uri="{BB962C8B-B14F-4D97-AF65-F5344CB8AC3E}">
        <p14:creationId xmlns:p14="http://schemas.microsoft.com/office/powerpoint/2010/main" val="7599357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1CFB4-BFEB-85F9-D843-6DCB08E77699}"/>
              </a:ext>
            </a:extLst>
          </p:cNvPr>
          <p:cNvSpPr>
            <a:spLocks noGrp="1"/>
          </p:cNvSpPr>
          <p:nvPr>
            <p:ph type="title"/>
          </p:nvPr>
        </p:nvSpPr>
        <p:spPr/>
        <p:txBody>
          <a:bodyPr/>
          <a:lstStyle/>
          <a:p>
            <a:r>
              <a:rPr lang="en-US"/>
              <a:t>Creating Practical Business Agents</a:t>
            </a:r>
          </a:p>
        </p:txBody>
      </p:sp>
      <p:sp>
        <p:nvSpPr>
          <p:cNvPr id="3" name="Content Placeholder 2">
            <a:extLst>
              <a:ext uri="{FF2B5EF4-FFF2-40B4-BE49-F238E27FC236}">
                <a16:creationId xmlns:a16="http://schemas.microsoft.com/office/drawing/2014/main" id="{CA3C0C69-1FCB-07E7-DFFA-DDB3929526C8}"/>
              </a:ext>
            </a:extLst>
          </p:cNvPr>
          <p:cNvSpPr>
            <a:spLocks noGrp="1"/>
          </p:cNvSpPr>
          <p:nvPr>
            <p:ph idx="1"/>
          </p:nvPr>
        </p:nvSpPr>
        <p:spPr/>
        <p:txBody>
          <a:bodyPr>
            <a:normAutofit/>
          </a:bodyPr>
          <a:lstStyle/>
          <a:p>
            <a:r>
              <a:rPr lang="en-US" sz="1800"/>
              <a:t>Start from a real task: ‘handle sales enquiries’, ‘log procurement requests’
Write clear instructions: role, scope, what to collect, what to avoid
Add knowledge: product info, policies, price lists, FAQs
Decide the output: what should the agent hand back?
Test with realistic questions before connecting any automation</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extLst>
      <p:ext uri="{BB962C8B-B14F-4D97-AF65-F5344CB8AC3E}">
        <p14:creationId xmlns:p14="http://schemas.microsoft.com/office/powerpoint/2010/main" val="175146190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94133-EB8D-D48C-E00C-FBB587521BAB}"/>
              </a:ext>
            </a:extLst>
          </p:cNvPr>
          <p:cNvSpPr>
            <a:spLocks noGrp="1"/>
          </p:cNvSpPr>
          <p:nvPr>
            <p:ph type="title"/>
          </p:nvPr>
        </p:nvSpPr>
        <p:spPr/>
        <p:txBody>
          <a:bodyPr/>
          <a:lstStyle/>
          <a:p>
            <a:r>
              <a:rPr lang="en-US"/>
              <a:t>Prompt Design Fundamentals</a:t>
            </a:r>
          </a:p>
        </p:txBody>
      </p:sp>
      <p:sp>
        <p:nvSpPr>
          <p:cNvPr id="3" name="Content Placeholder 2">
            <a:extLst>
              <a:ext uri="{FF2B5EF4-FFF2-40B4-BE49-F238E27FC236}">
                <a16:creationId xmlns:a16="http://schemas.microsoft.com/office/drawing/2014/main" id="{B91B447A-5DB7-731C-D493-1748FC1CFB8A}"/>
              </a:ext>
            </a:extLst>
          </p:cNvPr>
          <p:cNvSpPr>
            <a:spLocks noGrp="1"/>
          </p:cNvSpPr>
          <p:nvPr>
            <p:ph idx="1"/>
          </p:nvPr>
        </p:nvSpPr>
        <p:spPr/>
        <p:txBody>
          <a:bodyPr>
            <a:normAutofit/>
          </a:bodyPr>
          <a:lstStyle/>
          <a:p>
            <a:r>
              <a:rPr lang="en-US" sz="1800"/>
              <a:t>The prompt is the instruction that shapes the agent's response
Be specific: state the role, the task and the format you want
Give examples of good answers — the agent learns the pattern
Set boundaries: what to do when information is missing
Iterate: test, refine the wording, test again</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extLst>
      <p:ext uri="{BB962C8B-B14F-4D97-AF65-F5344CB8AC3E}">
        <p14:creationId xmlns:p14="http://schemas.microsoft.com/office/powerpoint/2010/main" val="23614961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D51738-FC22-06D4-AA9C-1284BA381035}"/>
              </a:ext>
            </a:extLst>
          </p:cNvPr>
          <p:cNvSpPr>
            <a:spLocks noGrp="1"/>
          </p:cNvSpPr>
          <p:nvPr>
            <p:ph type="title"/>
          </p:nvPr>
        </p:nvSpPr>
        <p:spPr/>
        <p:txBody>
          <a:bodyPr/>
          <a:lstStyle/>
          <a:p>
            <a:r>
              <a:rPr lang="en-US"/>
              <a:t>Prompt Design for Structured Outputs</a:t>
            </a:r>
          </a:p>
        </p:txBody>
      </p:sp>
      <p:sp>
        <p:nvSpPr>
          <p:cNvPr id="3" name="Content Placeholder 2">
            <a:extLst>
              <a:ext uri="{FF2B5EF4-FFF2-40B4-BE49-F238E27FC236}">
                <a16:creationId xmlns:a16="http://schemas.microsoft.com/office/drawing/2014/main" id="{EFA17231-1535-FA3E-1E29-8F01D614AAAC}"/>
              </a:ext>
            </a:extLst>
          </p:cNvPr>
          <p:cNvSpPr>
            <a:spLocks noGrp="1"/>
          </p:cNvSpPr>
          <p:nvPr>
            <p:ph idx="1"/>
          </p:nvPr>
        </p:nvSpPr>
        <p:spPr/>
        <p:txBody>
          <a:bodyPr>
            <a:normAutofit/>
          </a:bodyPr>
          <a:lstStyle/>
          <a:p>
            <a:r>
              <a:rPr lang="en-US" sz="1800"/>
              <a:t>A workflow needs predictable fields, not free-flowing prose
Ask the agent to return the same fields every time
Name each field clearly: Customer, Product, Quantity, Priority
Specify the format — a labelled list, a table, or JSON
Structured output = data your Power Automate flow can read directly</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extLst>
      <p:ext uri="{BB962C8B-B14F-4D97-AF65-F5344CB8AC3E}">
        <p14:creationId xmlns:p14="http://schemas.microsoft.com/office/powerpoint/2010/main" val="10299759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B60E9-163C-C95A-7BFB-155EB57D2AAA}"/>
              </a:ext>
            </a:extLst>
          </p:cNvPr>
          <p:cNvSpPr>
            <a:spLocks noGrp="1"/>
          </p:cNvSpPr>
          <p:nvPr>
            <p:ph type="title"/>
          </p:nvPr>
        </p:nvSpPr>
        <p:spPr/>
        <p:txBody>
          <a:bodyPr/>
          <a:lstStyle/>
          <a:p>
            <a:r>
              <a:rPr lang="en-US"/>
              <a:t>Structured Output Formats</a:t>
            </a:r>
          </a:p>
        </p:txBody>
      </p:sp>
      <p:sp>
        <p:nvSpPr>
          <p:cNvPr id="3" name="Content Placeholder 2">
            <a:extLst>
              <a:ext uri="{FF2B5EF4-FFF2-40B4-BE49-F238E27FC236}">
                <a16:creationId xmlns:a16="http://schemas.microsoft.com/office/drawing/2014/main" id="{6C9A2798-F21E-5AE9-F7E6-1A3A56553342}"/>
              </a:ext>
            </a:extLst>
          </p:cNvPr>
          <p:cNvSpPr>
            <a:spLocks noGrp="1"/>
          </p:cNvSpPr>
          <p:nvPr>
            <p:ph sz="half" idx="1"/>
          </p:nvPr>
        </p:nvSpPr>
        <p:spPr/>
        <p:txBody>
          <a:bodyPr>
            <a:normAutofit/>
          </a:bodyPr>
          <a:lstStyle/>
          <a:p>
            <a:r>
              <a:rPr lang="en-US" sz="1600"/>
              <a:t>LABELLED FIELDS
Customer: Acme Ltd
Product: Widget Pro
Quantity: 50
Priority: High
Easy to read, easy to map</a:t>
            </a:r>
          </a:p>
        </p:txBody>
      </p:sp>
      <p:sp>
        <p:nvSpPr>
          <p:cNvPr id="4" name="Content Placeholder 3">
            <a:extLst>
              <a:ext uri="{FF2B5EF4-FFF2-40B4-BE49-F238E27FC236}">
                <a16:creationId xmlns:a16="http://schemas.microsoft.com/office/drawing/2014/main" id="{2B3450F7-D16C-C4A8-CD66-BD6E44BF1072}"/>
              </a:ext>
            </a:extLst>
          </p:cNvPr>
          <p:cNvSpPr>
            <a:spLocks noGrp="1"/>
          </p:cNvSpPr>
          <p:nvPr>
            <p:ph sz="half" idx="2"/>
          </p:nvPr>
        </p:nvSpPr>
        <p:spPr/>
        <p:txBody>
          <a:bodyPr>
            <a:normAutofit/>
          </a:bodyPr>
          <a:lstStyle/>
          <a:p>
            <a:r>
              <a:rPr lang="en-US" sz="1600"/>
              <a:t>JSON
{
  “customer”: “Acme Ltd”,
  “product”: “Widget Pro”,
  “quantity”: 50,
  “priority”: “High”
}</a:t>
            </a:r>
          </a:p>
        </p:txBody>
      </p:sp>
      <p:sp>
        <p:nvSpPr>
          <p:cNvPr id="5" name="TextBox 4"/>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6" name="TextBox 5"/>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extLst>
      <p:ext uri="{BB962C8B-B14F-4D97-AF65-F5344CB8AC3E}">
        <p14:creationId xmlns:p14="http://schemas.microsoft.com/office/powerpoint/2010/main" val="30082586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2C1699-291E-C771-80D0-8DC549FA0F41}"/>
              </a:ext>
            </a:extLst>
          </p:cNvPr>
          <p:cNvSpPr>
            <a:spLocks noGrp="1"/>
          </p:cNvSpPr>
          <p:nvPr>
            <p:ph type="title"/>
          </p:nvPr>
        </p:nvSpPr>
        <p:spPr/>
        <p:txBody>
          <a:bodyPr/>
          <a:lstStyle/>
          <a:p>
            <a:r>
              <a:rPr lang="en-US"/>
              <a:t>Example: A Structured Prompt</a:t>
            </a:r>
          </a:p>
        </p:txBody>
      </p:sp>
      <p:sp>
        <p:nvSpPr>
          <p:cNvPr id="3" name="Content Placeholder 2">
            <a:extLst>
              <a:ext uri="{FF2B5EF4-FFF2-40B4-BE49-F238E27FC236}">
                <a16:creationId xmlns:a16="http://schemas.microsoft.com/office/drawing/2014/main" id="{0FEA4F5C-5ECD-D950-2703-080A2C919249}"/>
              </a:ext>
            </a:extLst>
          </p:cNvPr>
          <p:cNvSpPr>
            <a:spLocks noGrp="1"/>
          </p:cNvSpPr>
          <p:nvPr>
            <p:ph sz="half" idx="1"/>
          </p:nvPr>
        </p:nvSpPr>
        <p:spPr/>
        <p:txBody>
          <a:bodyPr>
            <a:normAutofit/>
          </a:bodyPr>
          <a:lstStyle/>
          <a:p>
            <a:r>
              <a:rPr lang="en-US" sz="1600"/>
              <a:t>THE PROMPT
“You are a sales enquiry assistant.
From the customer's message, extract:
Customer name, Product, Quantity,
and Priority (High / Medium / Low).
Return the result as labelled fields.
If a detail is missing, write ‘Not stated’.”</a:t>
            </a:r>
          </a:p>
        </p:txBody>
      </p:sp>
      <p:sp>
        <p:nvSpPr>
          <p:cNvPr id="4" name="Content Placeholder 3">
            <a:extLst>
              <a:ext uri="{FF2B5EF4-FFF2-40B4-BE49-F238E27FC236}">
                <a16:creationId xmlns:a16="http://schemas.microsoft.com/office/drawing/2014/main" id="{98BD0EC0-10E0-BFBA-4D05-E2D9D90E4D69}"/>
              </a:ext>
            </a:extLst>
          </p:cNvPr>
          <p:cNvSpPr>
            <a:spLocks noGrp="1"/>
          </p:cNvSpPr>
          <p:nvPr>
            <p:ph sz="half" idx="2"/>
          </p:nvPr>
        </p:nvSpPr>
        <p:spPr/>
        <p:txBody>
          <a:bodyPr>
            <a:normAutofit/>
          </a:bodyPr>
          <a:lstStyle/>
          <a:p>
            <a:r>
              <a:rPr lang="en-US" sz="1600"/>
              <a:t>THE OUTPUT
Customer: Acme Ltd
Product: Widget Pro
Quantity: 50
Priority: High
→ Ready to log to Excel and notify sales</a:t>
            </a:r>
          </a:p>
        </p:txBody>
      </p:sp>
      <p:sp>
        <p:nvSpPr>
          <p:cNvPr id="5" name="TextBox 4"/>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6" name="TextBox 5"/>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extLst>
      <p:ext uri="{BB962C8B-B14F-4D97-AF65-F5344CB8AC3E}">
        <p14:creationId xmlns:p14="http://schemas.microsoft.com/office/powerpoint/2010/main" val="39475096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AGENT CALLS A FLOW AS A TOOL</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Connecting Agents to Power Automate</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828800"/>
            <a:ext cx="1830628" cy="132588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0195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User</a:t>
            </a:r>
          </a:p>
        </p:txBody>
      </p:sp>
      <p:sp>
        <p:nvSpPr>
          <p:cNvPr id="8" name="Chevron 7"/>
          <p:cNvSpPr/>
          <p:nvPr/>
        </p:nvSpPr>
        <p:spPr>
          <a:xfrm>
            <a:off x="2543860" y="233629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79268"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chat</a:t>
            </a:r>
          </a:p>
        </p:txBody>
      </p:sp>
      <p:sp>
        <p:nvSpPr>
          <p:cNvPr id="10" name="Rounded Rectangle 9"/>
          <p:cNvSpPr/>
          <p:nvPr/>
        </p:nvSpPr>
        <p:spPr>
          <a:xfrm>
            <a:off x="2909620" y="1828800"/>
            <a:ext cx="1830628" cy="132588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2772" y="190195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Copilot Studio
agent</a:t>
            </a:r>
          </a:p>
        </p:txBody>
      </p:sp>
      <p:sp>
        <p:nvSpPr>
          <p:cNvPr id="12" name="Chevron 11"/>
          <p:cNvSpPr/>
          <p:nvPr/>
        </p:nvSpPr>
        <p:spPr>
          <a:xfrm>
            <a:off x="4795112" y="233629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0520"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tool call</a:t>
            </a:r>
          </a:p>
        </p:txBody>
      </p:sp>
      <p:sp>
        <p:nvSpPr>
          <p:cNvPr id="14" name="Rounded Rectangle 13"/>
          <p:cNvSpPr/>
          <p:nvPr/>
        </p:nvSpPr>
        <p:spPr>
          <a:xfrm>
            <a:off x="5160873" y="1828800"/>
            <a:ext cx="1830628" cy="132588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4025" y="190195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Power Automate
agent flow</a:t>
            </a:r>
          </a:p>
        </p:txBody>
      </p:sp>
      <p:sp>
        <p:nvSpPr>
          <p:cNvPr id="16" name="Chevron 15"/>
          <p:cNvSpPr/>
          <p:nvPr/>
        </p:nvSpPr>
        <p:spPr>
          <a:xfrm>
            <a:off x="7046365" y="2336292"/>
            <a:ext cx="274320" cy="310896"/>
          </a:xfrm>
          <a:prstGeom prst="chevron">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1773"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actions</a:t>
            </a:r>
          </a:p>
        </p:txBody>
      </p:sp>
      <p:sp>
        <p:nvSpPr>
          <p:cNvPr id="18" name="Rounded Rectangle 17"/>
          <p:cNvSpPr/>
          <p:nvPr/>
        </p:nvSpPr>
        <p:spPr>
          <a:xfrm>
            <a:off x="7412126" y="1828800"/>
            <a:ext cx="1830628" cy="132588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5278" y="190195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Business systems</a:t>
            </a:r>
          </a:p>
        </p:txBody>
      </p:sp>
      <p:sp>
        <p:nvSpPr>
          <p:cNvPr id="20" name="Chevron 19"/>
          <p:cNvSpPr/>
          <p:nvPr/>
        </p:nvSpPr>
        <p:spPr>
          <a:xfrm>
            <a:off x="9297618" y="233629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3026"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outputs</a:t>
            </a:r>
          </a:p>
        </p:txBody>
      </p:sp>
      <p:sp>
        <p:nvSpPr>
          <p:cNvPr id="22" name="Rounded Rectangle 21"/>
          <p:cNvSpPr/>
          <p:nvPr/>
        </p:nvSpPr>
        <p:spPr>
          <a:xfrm>
            <a:off x="9663379" y="1828800"/>
            <a:ext cx="1830628" cy="132588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6531" y="190195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Respond to
the agent</a:t>
            </a:r>
          </a:p>
        </p:txBody>
      </p:sp>
      <p:sp>
        <p:nvSpPr>
          <p:cNvPr id="24" name="Rounded Rectangle 23"/>
          <p:cNvSpPr/>
          <p:nvPr/>
        </p:nvSpPr>
        <p:spPr>
          <a:xfrm>
            <a:off x="777240" y="3977639"/>
            <a:ext cx="32004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3977639"/>
            <a:ext cx="82296" cy="1325880"/>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3272" y="4123943"/>
            <a:ext cx="2724912" cy="411480"/>
          </a:xfrm>
          <a:prstGeom prst="rect">
            <a:avLst/>
          </a:prstGeom>
          <a:noFill/>
        </p:spPr>
        <p:txBody>
          <a:bodyPr wrap="square" anchor="ctr" lIns="73152" rIns="73152" tIns="73152" bIns="73152">
            <a:spAutoFit/>
          </a:bodyPr>
          <a:lstStyle/>
          <a:p>
            <a:pPr algn="l"/>
            <a:r>
              <a:rPr sz="1700" b="1">
                <a:solidFill>
                  <a:srgbClr val="6D3FD2"/>
                </a:solidFill>
                <a:latin typeface="Arial"/>
              </a:rPr>
              <a:t>Agent = brain and mouth</a:t>
            </a:r>
          </a:p>
        </p:txBody>
      </p:sp>
      <p:sp>
        <p:nvSpPr>
          <p:cNvPr id="27" name="TextBox 26"/>
          <p:cNvSpPr txBox="1"/>
          <p:nvPr/>
        </p:nvSpPr>
        <p:spPr>
          <a:xfrm>
            <a:off x="1033272" y="4617719"/>
            <a:ext cx="2724912" cy="576072"/>
          </a:xfrm>
          <a:prstGeom prst="rect">
            <a:avLst/>
          </a:prstGeom>
          <a:noFill/>
        </p:spPr>
        <p:txBody>
          <a:bodyPr wrap="square" anchor="ctr" lIns="73152" rIns="73152" tIns="73152" bIns="73152">
            <a:spAutoFit/>
          </a:bodyPr>
          <a:lstStyle/>
          <a:p>
            <a:pPr algn="l"/>
            <a:r>
              <a:rPr sz="1400" b="0">
                <a:solidFill>
                  <a:srgbClr val="5B6372"/>
                </a:solidFill>
                <a:latin typeface="Arial"/>
              </a:rPr>
              <a:t>Understands, asks, confirms and chooses a tool.</a:t>
            </a:r>
          </a:p>
        </p:txBody>
      </p:sp>
      <p:sp>
        <p:nvSpPr>
          <p:cNvPr id="28" name="Rounded Rectangle 27"/>
          <p:cNvSpPr/>
          <p:nvPr/>
        </p:nvSpPr>
        <p:spPr>
          <a:xfrm>
            <a:off x="4480560" y="3977639"/>
            <a:ext cx="32004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3977639"/>
            <a:ext cx="82296" cy="1325880"/>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36592" y="4123943"/>
            <a:ext cx="2724912" cy="411480"/>
          </a:xfrm>
          <a:prstGeom prst="rect">
            <a:avLst/>
          </a:prstGeom>
          <a:noFill/>
        </p:spPr>
        <p:txBody>
          <a:bodyPr wrap="square" anchor="ctr" lIns="73152" rIns="73152" tIns="73152" bIns="73152">
            <a:spAutoFit/>
          </a:bodyPr>
          <a:lstStyle/>
          <a:p>
            <a:pPr algn="l"/>
            <a:r>
              <a:rPr sz="1700" b="1">
                <a:solidFill>
                  <a:srgbClr val="16845B"/>
                </a:solidFill>
                <a:latin typeface="Arial"/>
              </a:rPr>
              <a:t>Flow = hands</a:t>
            </a:r>
          </a:p>
        </p:txBody>
      </p:sp>
      <p:sp>
        <p:nvSpPr>
          <p:cNvPr id="31" name="TextBox 30"/>
          <p:cNvSpPr txBox="1"/>
          <p:nvPr/>
        </p:nvSpPr>
        <p:spPr>
          <a:xfrm>
            <a:off x="4736592" y="4617719"/>
            <a:ext cx="2724912" cy="576072"/>
          </a:xfrm>
          <a:prstGeom prst="rect">
            <a:avLst/>
          </a:prstGeom>
          <a:noFill/>
        </p:spPr>
        <p:txBody>
          <a:bodyPr wrap="square" anchor="ctr" lIns="73152" rIns="73152" tIns="73152" bIns="73152">
            <a:spAutoFit/>
          </a:bodyPr>
          <a:lstStyle/>
          <a:p>
            <a:pPr algn="l"/>
            <a:r>
              <a:rPr sz="1400" b="0">
                <a:solidFill>
                  <a:srgbClr val="5B6372"/>
                </a:solidFill>
                <a:latin typeface="Arial"/>
              </a:rPr>
              <a:t>Logs, emails, approves, calls APIs and applies rules.</a:t>
            </a:r>
          </a:p>
        </p:txBody>
      </p:sp>
      <p:sp>
        <p:nvSpPr>
          <p:cNvPr id="32" name="Rounded Rectangle 31"/>
          <p:cNvSpPr/>
          <p:nvPr/>
        </p:nvSpPr>
        <p:spPr>
          <a:xfrm>
            <a:off x="8183879" y="3977639"/>
            <a:ext cx="32004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3977639"/>
            <a:ext cx="82296" cy="1325880"/>
          </a:xfrm>
          <a:prstGeom prst="rect">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39911" y="4123943"/>
            <a:ext cx="2724912" cy="411480"/>
          </a:xfrm>
          <a:prstGeom prst="rect">
            <a:avLst/>
          </a:prstGeom>
          <a:noFill/>
        </p:spPr>
        <p:txBody>
          <a:bodyPr wrap="square" anchor="ctr" lIns="73152" rIns="73152" tIns="73152" bIns="73152">
            <a:spAutoFit/>
          </a:bodyPr>
          <a:lstStyle/>
          <a:p>
            <a:pPr algn="l"/>
            <a:r>
              <a:rPr sz="1700" b="1">
                <a:solidFill>
                  <a:srgbClr val="C77600"/>
                </a:solidFill>
                <a:latin typeface="Arial"/>
              </a:rPr>
              <a:t>Return value = answer</a:t>
            </a:r>
          </a:p>
        </p:txBody>
      </p:sp>
      <p:sp>
        <p:nvSpPr>
          <p:cNvPr id="35" name="TextBox 34"/>
          <p:cNvSpPr txBox="1"/>
          <p:nvPr/>
        </p:nvSpPr>
        <p:spPr>
          <a:xfrm>
            <a:off x="8439911" y="4617719"/>
            <a:ext cx="2724912" cy="576072"/>
          </a:xfrm>
          <a:prstGeom prst="rect">
            <a:avLst/>
          </a:prstGeom>
          <a:noFill/>
        </p:spPr>
        <p:txBody>
          <a:bodyPr wrap="square" anchor="ctr" lIns="73152" rIns="73152" tIns="73152" bIns="73152">
            <a:spAutoFit/>
          </a:bodyPr>
          <a:lstStyle/>
          <a:p>
            <a:pPr algn="l"/>
            <a:r>
              <a:rPr sz="1400" b="0">
                <a:solidFill>
                  <a:srgbClr val="5B6372"/>
                </a:solidFill>
                <a:latin typeface="Arial"/>
              </a:rPr>
              <a:t>Reference, decision or draft comes back into chat.</a:t>
            </a:r>
          </a:p>
        </p:txBody>
      </p:sp>
      <p:sp>
        <p:nvSpPr>
          <p:cNvPr id="36" name="TextBox 35"/>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60</a:t>
            </a:r>
          </a:p>
        </p:txBody>
      </p:sp>
    </p:spTree>
    <p:extLst>
      <p:ext uri="{BB962C8B-B14F-4D97-AF65-F5344CB8AC3E}">
        <p14:creationId xmlns:p14="http://schemas.microsoft.com/office/powerpoint/2010/main" val="25366111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5F60A6-FC38-871E-C0FC-43F5C0D2855E}"/>
              </a:ext>
            </a:extLst>
          </p:cNvPr>
          <p:cNvSpPr>
            <a:spLocks noGrp="1"/>
          </p:cNvSpPr>
          <p:nvPr>
            <p:ph type="title"/>
          </p:nvPr>
        </p:nvSpPr>
        <p:spPr/>
        <p:txBody>
          <a:bodyPr/>
          <a:lstStyle/>
          <a:p>
            <a:r>
              <a:rPr lang="en-US"/>
              <a:t>Passing Outputs into Workflows</a:t>
            </a:r>
          </a:p>
        </p:txBody>
      </p:sp>
      <p:sp>
        <p:nvSpPr>
          <p:cNvPr id="3" name="Content Placeholder 2">
            <a:extLst>
              <a:ext uri="{FF2B5EF4-FFF2-40B4-BE49-F238E27FC236}">
                <a16:creationId xmlns:a16="http://schemas.microsoft.com/office/drawing/2014/main" id="{073BF8C8-55B9-3240-CD0E-AB0847E360C8}"/>
              </a:ext>
            </a:extLst>
          </p:cNvPr>
          <p:cNvSpPr>
            <a:spLocks noGrp="1"/>
          </p:cNvSpPr>
          <p:nvPr>
            <p:ph idx="1"/>
          </p:nvPr>
        </p:nvSpPr>
        <p:spPr/>
        <p:txBody>
          <a:bodyPr>
            <a:normAutofit/>
          </a:bodyPr>
          <a:lstStyle/>
          <a:p>
            <a:r>
              <a:rPr lang="en-US" sz="1800"/>
              <a:t>The agent's structured output becomes the flow's input
Each field maps to a flow parameter: Customer, Product, Quantity
The flow uses those values in its actions — log, email, approve
Clean structured output makes mapping effortless
Garbage in, garbage out — good prompts pay off here</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extLst>
      <p:ext uri="{BB962C8B-B14F-4D97-AF65-F5344CB8AC3E}">
        <p14:creationId xmlns:p14="http://schemas.microsoft.com/office/powerpoint/2010/main" val="13979970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C2E25-47E9-7C3D-5BF6-270B2C4F7A8A}"/>
              </a:ext>
            </a:extLst>
          </p:cNvPr>
          <p:cNvSpPr>
            <a:spLocks noGrp="1"/>
          </p:cNvSpPr>
          <p:nvPr>
            <p:ph type="title"/>
          </p:nvPr>
        </p:nvSpPr>
        <p:spPr/>
        <p:txBody>
          <a:bodyPr/>
          <a:lstStyle/>
          <a:p>
            <a:r>
              <a:rPr lang="en-US"/>
              <a:t>Input and Output Mapping</a:t>
            </a:r>
          </a:p>
        </p:txBody>
      </p:sp>
      <p:sp>
        <p:nvSpPr>
          <p:cNvPr id="3" name="Content Placeholder 2">
            <a:extLst>
              <a:ext uri="{FF2B5EF4-FFF2-40B4-BE49-F238E27FC236}">
                <a16:creationId xmlns:a16="http://schemas.microsoft.com/office/drawing/2014/main" id="{D20A7C00-B18D-B4F1-3094-74D1152F6FA2}"/>
              </a:ext>
            </a:extLst>
          </p:cNvPr>
          <p:cNvSpPr>
            <a:spLocks noGrp="1"/>
          </p:cNvSpPr>
          <p:nvPr>
            <p:ph idx="1"/>
          </p:nvPr>
        </p:nvSpPr>
        <p:spPr/>
        <p:txBody>
          <a:bodyPr>
            <a:normAutofit/>
          </a:bodyPr>
          <a:lstStyle/>
          <a:p>
            <a:r>
              <a:rPr lang="en-US" sz="1800"/>
              <a:t>Define the flow's inputs to match the agent's fields
Map each agent field to the matching flow parameter
The flow can return a value back to the agent (e.g. a reference number)
The agent confirms to the user: ‘Logged — your reference is 1042’
Data flows both ways: agent → flow → agent</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extLst>
      <p:ext uri="{BB962C8B-B14F-4D97-AF65-F5344CB8AC3E}">
        <p14:creationId xmlns:p14="http://schemas.microsoft.com/office/powerpoint/2010/main" val="270757836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A429E-CAFB-6250-E072-71143608D6DE}"/>
              </a:ext>
            </a:extLst>
          </p:cNvPr>
          <p:cNvSpPr>
            <a:spLocks noGrp="1"/>
          </p:cNvSpPr>
          <p:nvPr>
            <p:ph type="title"/>
          </p:nvPr>
        </p:nvSpPr>
        <p:spPr/>
        <p:txBody>
          <a:bodyPr/>
          <a:lstStyle/>
          <a:p>
            <a:r>
              <a:rPr lang="en-US"/>
              <a:t>Best Practices for Agent + Flow</a:t>
            </a:r>
          </a:p>
        </p:txBody>
      </p:sp>
      <p:sp>
        <p:nvSpPr>
          <p:cNvPr id="3" name="Content Placeholder 2">
            <a:extLst>
              <a:ext uri="{FF2B5EF4-FFF2-40B4-BE49-F238E27FC236}">
                <a16:creationId xmlns:a16="http://schemas.microsoft.com/office/drawing/2014/main" id="{50FD0C1E-81F0-DB26-D617-CF9A75248E02}"/>
              </a:ext>
            </a:extLst>
          </p:cNvPr>
          <p:cNvSpPr>
            <a:spLocks noGrp="1"/>
          </p:cNvSpPr>
          <p:nvPr>
            <p:ph idx="1"/>
          </p:nvPr>
        </p:nvSpPr>
        <p:spPr/>
        <p:txBody>
          <a:bodyPr>
            <a:normAutofit/>
          </a:bodyPr>
          <a:lstStyle/>
          <a:p>
            <a:r>
              <a:rPr lang="en-US" sz="1800"/>
              <a:t>Keep each flow focused on one clear job
Validate inputs — handle missing or odd data gracefully
Use clear field names shared between agent and flow
Test the flow on its own before wiring it to the agent
Tell the user what happened — confirm success or explain failure</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extLst>
      <p:ext uri="{BB962C8B-B14F-4D97-AF65-F5344CB8AC3E}">
        <p14:creationId xmlns:p14="http://schemas.microsoft.com/office/powerpoint/2010/main" val="27127987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CONCEPT MAPPING</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n8n AI Agent Pattern in Microsoft</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664208"/>
            <a:ext cx="4480560" cy="320040"/>
          </a:xfrm>
          <a:prstGeom prst="rect">
            <a:avLst/>
          </a:prstGeom>
          <a:noFill/>
        </p:spPr>
        <p:txBody>
          <a:bodyPr wrap="square" anchor="ctr" lIns="73152" rIns="73152" tIns="73152" bIns="73152">
            <a:spAutoFit/>
          </a:bodyPr>
          <a:lstStyle/>
          <a:p>
            <a:pPr algn="ctr"/>
            <a:r>
              <a:rPr sz="1700" b="1">
                <a:solidFill>
                  <a:srgbClr val="161B26"/>
                </a:solidFill>
                <a:latin typeface="Arial"/>
              </a:rPr>
              <a:t>n8n AI-agent pattern</a:t>
            </a:r>
          </a:p>
        </p:txBody>
      </p:sp>
      <p:sp>
        <p:nvSpPr>
          <p:cNvPr id="7" name="TextBox 6"/>
          <p:cNvSpPr txBox="1"/>
          <p:nvPr/>
        </p:nvSpPr>
        <p:spPr>
          <a:xfrm>
            <a:off x="6839712" y="1664208"/>
            <a:ext cx="4480560" cy="320040"/>
          </a:xfrm>
          <a:prstGeom prst="rect">
            <a:avLst/>
          </a:prstGeom>
          <a:noFill/>
        </p:spPr>
        <p:txBody>
          <a:bodyPr wrap="square" anchor="ctr" lIns="73152" rIns="73152" tIns="73152" bIns="73152">
            <a:spAutoFit/>
          </a:bodyPr>
          <a:lstStyle/>
          <a:p>
            <a:pPr algn="ctr"/>
            <a:r>
              <a:rPr sz="1700" b="1">
                <a:solidFill>
                  <a:srgbClr val="161B26"/>
                </a:solidFill>
                <a:latin typeface="Arial"/>
              </a:rPr>
              <a:t>Microsoft equivalent</a:t>
            </a:r>
          </a:p>
        </p:txBody>
      </p:sp>
      <p:sp>
        <p:nvSpPr>
          <p:cNvPr id="8" name="Rounded Rectangle 7"/>
          <p:cNvSpPr/>
          <p:nvPr/>
        </p:nvSpPr>
        <p:spPr>
          <a:xfrm>
            <a:off x="804672" y="2148840"/>
            <a:ext cx="4480560" cy="4572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148840"/>
            <a:ext cx="4160520" cy="457200"/>
          </a:xfrm>
          <a:prstGeom prst="rect">
            <a:avLst/>
          </a:prstGeom>
          <a:noFill/>
        </p:spPr>
        <p:txBody>
          <a:bodyPr wrap="square" anchor="ctr" lIns="73152" rIns="73152" tIns="73152" bIns="73152">
            <a:spAutoFit/>
          </a:bodyPr>
          <a:lstStyle/>
          <a:p>
            <a:pPr algn="l"/>
            <a:r>
              <a:rPr sz="1200" b="0">
                <a:solidFill>
                  <a:srgbClr val="5B6372"/>
                </a:solidFill>
                <a:latin typeface="Arial"/>
              </a:rPr>
              <a:t>Chat Trigger</a:t>
            </a:r>
          </a:p>
        </p:txBody>
      </p:sp>
      <p:sp>
        <p:nvSpPr>
          <p:cNvPr id="10" name="Chevron 9"/>
          <p:cNvSpPr/>
          <p:nvPr/>
        </p:nvSpPr>
        <p:spPr>
          <a:xfrm>
            <a:off x="5650992" y="2212848"/>
            <a:ext cx="640080"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39712" y="2148840"/>
            <a:ext cx="4480560" cy="45720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95160" y="2148840"/>
            <a:ext cx="4160520" cy="457200"/>
          </a:xfrm>
          <a:prstGeom prst="rect">
            <a:avLst/>
          </a:prstGeom>
          <a:noFill/>
        </p:spPr>
        <p:txBody>
          <a:bodyPr wrap="square" anchor="ctr" lIns="73152" rIns="73152" tIns="73152" bIns="73152">
            <a:spAutoFit/>
          </a:bodyPr>
          <a:lstStyle/>
          <a:p>
            <a:pPr algn="l"/>
            <a:r>
              <a:rPr sz="1200" b="0">
                <a:solidFill>
                  <a:srgbClr val="161B26"/>
                </a:solidFill>
                <a:latin typeface="Arial"/>
              </a:rPr>
              <a:t>Teams / website channel</a:t>
            </a:r>
          </a:p>
        </p:txBody>
      </p:sp>
      <p:sp>
        <p:nvSpPr>
          <p:cNvPr id="13" name="Rounded Rectangle 12"/>
          <p:cNvSpPr/>
          <p:nvPr/>
        </p:nvSpPr>
        <p:spPr>
          <a:xfrm>
            <a:off x="804672" y="2752344"/>
            <a:ext cx="4480560" cy="4572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752344"/>
            <a:ext cx="4160520" cy="457200"/>
          </a:xfrm>
          <a:prstGeom prst="rect">
            <a:avLst/>
          </a:prstGeom>
          <a:noFill/>
        </p:spPr>
        <p:txBody>
          <a:bodyPr wrap="square" anchor="ctr" lIns="73152" rIns="73152" tIns="73152" bIns="73152">
            <a:spAutoFit/>
          </a:bodyPr>
          <a:lstStyle/>
          <a:p>
            <a:pPr algn="l"/>
            <a:r>
              <a:rPr sz="1200" b="1">
                <a:solidFill>
                  <a:srgbClr val="5B6372"/>
                </a:solidFill>
                <a:latin typeface="Arial"/>
              </a:rPr>
              <a:t>AI Agent node</a:t>
            </a:r>
          </a:p>
        </p:txBody>
      </p:sp>
      <p:sp>
        <p:nvSpPr>
          <p:cNvPr id="15" name="Chevron 14"/>
          <p:cNvSpPr/>
          <p:nvPr/>
        </p:nvSpPr>
        <p:spPr>
          <a:xfrm>
            <a:off x="5650992" y="2816352"/>
            <a:ext cx="640080" cy="329184"/>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839712" y="2752344"/>
            <a:ext cx="4480560" cy="45720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95160" y="2752344"/>
            <a:ext cx="4160520" cy="457200"/>
          </a:xfrm>
          <a:prstGeom prst="rect">
            <a:avLst/>
          </a:prstGeom>
          <a:noFill/>
        </p:spPr>
        <p:txBody>
          <a:bodyPr wrap="square" anchor="ctr" lIns="73152" rIns="73152" tIns="73152" bIns="73152">
            <a:spAutoFit/>
          </a:bodyPr>
          <a:lstStyle/>
          <a:p>
            <a:pPr algn="l"/>
            <a:r>
              <a:rPr sz="1200" b="1">
                <a:solidFill>
                  <a:srgbClr val="161B26"/>
                </a:solidFill>
                <a:latin typeface="Arial"/>
              </a:rPr>
              <a:t>Copilot Studio agent</a:t>
            </a:r>
          </a:p>
        </p:txBody>
      </p:sp>
      <p:sp>
        <p:nvSpPr>
          <p:cNvPr id="18" name="Rounded Rectangle 17"/>
          <p:cNvSpPr/>
          <p:nvPr/>
        </p:nvSpPr>
        <p:spPr>
          <a:xfrm>
            <a:off x="804672" y="3355848"/>
            <a:ext cx="4480560" cy="4572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355848"/>
            <a:ext cx="4160520" cy="457200"/>
          </a:xfrm>
          <a:prstGeom prst="rect">
            <a:avLst/>
          </a:prstGeom>
          <a:noFill/>
        </p:spPr>
        <p:txBody>
          <a:bodyPr wrap="square" anchor="ctr" lIns="73152" rIns="73152" tIns="73152" bIns="73152">
            <a:spAutoFit/>
          </a:bodyPr>
          <a:lstStyle/>
          <a:p>
            <a:pPr algn="l"/>
            <a:r>
              <a:rPr sz="1200" b="0">
                <a:solidFill>
                  <a:srgbClr val="5B6372"/>
                </a:solidFill>
                <a:latin typeface="Arial"/>
              </a:rPr>
              <a:t>System prompt</a:t>
            </a:r>
          </a:p>
        </p:txBody>
      </p:sp>
      <p:sp>
        <p:nvSpPr>
          <p:cNvPr id="20" name="Chevron 19"/>
          <p:cNvSpPr/>
          <p:nvPr/>
        </p:nvSpPr>
        <p:spPr>
          <a:xfrm>
            <a:off x="5650992" y="3419856"/>
            <a:ext cx="640080" cy="329184"/>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39712" y="3355848"/>
            <a:ext cx="4480560" cy="45720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3355848"/>
            <a:ext cx="4160520" cy="457200"/>
          </a:xfrm>
          <a:prstGeom prst="rect">
            <a:avLst/>
          </a:prstGeom>
          <a:noFill/>
        </p:spPr>
        <p:txBody>
          <a:bodyPr wrap="square" anchor="ctr" lIns="73152" rIns="73152" tIns="73152" bIns="73152">
            <a:spAutoFit/>
          </a:bodyPr>
          <a:lstStyle/>
          <a:p>
            <a:pPr algn="l"/>
            <a:r>
              <a:rPr sz="1200" b="0">
                <a:solidFill>
                  <a:srgbClr val="161B26"/>
                </a:solidFill>
                <a:latin typeface="Arial"/>
              </a:rPr>
              <a:t>Agent Instructions</a:t>
            </a:r>
          </a:p>
        </p:txBody>
      </p:sp>
      <p:sp>
        <p:nvSpPr>
          <p:cNvPr id="23" name="Rounded Rectangle 22"/>
          <p:cNvSpPr/>
          <p:nvPr/>
        </p:nvSpPr>
        <p:spPr>
          <a:xfrm>
            <a:off x="804672" y="3959352"/>
            <a:ext cx="4480560" cy="4572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3959352"/>
            <a:ext cx="4160520" cy="457200"/>
          </a:xfrm>
          <a:prstGeom prst="rect">
            <a:avLst/>
          </a:prstGeom>
          <a:noFill/>
        </p:spPr>
        <p:txBody>
          <a:bodyPr wrap="square" anchor="ctr" lIns="73152" rIns="73152" tIns="73152" bIns="73152">
            <a:spAutoFit/>
          </a:bodyPr>
          <a:lstStyle/>
          <a:p>
            <a:pPr algn="l"/>
            <a:r>
              <a:rPr sz="1200" b="0">
                <a:solidFill>
                  <a:srgbClr val="5B6372"/>
                </a:solidFill>
                <a:latin typeface="Arial"/>
              </a:rPr>
              <a:t>Vector / RAG tool</a:t>
            </a:r>
          </a:p>
        </p:txBody>
      </p:sp>
      <p:sp>
        <p:nvSpPr>
          <p:cNvPr id="25" name="Chevron 24"/>
          <p:cNvSpPr/>
          <p:nvPr/>
        </p:nvSpPr>
        <p:spPr>
          <a:xfrm>
            <a:off x="5650992" y="4023360"/>
            <a:ext cx="640080" cy="329184"/>
          </a:xfrm>
          <a:prstGeom prst="chevron">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839712" y="3959352"/>
            <a:ext cx="4480560" cy="45720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95160" y="3959352"/>
            <a:ext cx="4160520" cy="457200"/>
          </a:xfrm>
          <a:prstGeom prst="rect">
            <a:avLst/>
          </a:prstGeom>
          <a:noFill/>
        </p:spPr>
        <p:txBody>
          <a:bodyPr wrap="square" anchor="ctr" lIns="73152" rIns="73152" tIns="73152" bIns="73152">
            <a:spAutoFit/>
          </a:bodyPr>
          <a:lstStyle/>
          <a:p>
            <a:pPr algn="l"/>
            <a:r>
              <a:rPr sz="1200" b="0">
                <a:solidFill>
                  <a:srgbClr val="161B26"/>
                </a:solidFill>
                <a:latin typeface="Arial"/>
              </a:rPr>
              <a:t>Agent Knowledge</a:t>
            </a:r>
          </a:p>
        </p:txBody>
      </p:sp>
      <p:sp>
        <p:nvSpPr>
          <p:cNvPr id="28" name="Rounded Rectangle 27"/>
          <p:cNvSpPr/>
          <p:nvPr/>
        </p:nvSpPr>
        <p:spPr>
          <a:xfrm>
            <a:off x="804672" y="4562856"/>
            <a:ext cx="4480560" cy="4572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562856"/>
            <a:ext cx="4160520" cy="457200"/>
          </a:xfrm>
          <a:prstGeom prst="rect">
            <a:avLst/>
          </a:prstGeom>
          <a:noFill/>
        </p:spPr>
        <p:txBody>
          <a:bodyPr wrap="square" anchor="ctr" lIns="73152" rIns="73152" tIns="73152" bIns="73152">
            <a:spAutoFit/>
          </a:bodyPr>
          <a:lstStyle/>
          <a:p>
            <a:pPr algn="l"/>
            <a:r>
              <a:rPr sz="1200" b="0">
                <a:solidFill>
                  <a:srgbClr val="5B6372"/>
                </a:solidFill>
                <a:latin typeface="Arial"/>
              </a:rPr>
              <a:t>Workflow tool</a:t>
            </a:r>
          </a:p>
        </p:txBody>
      </p:sp>
      <p:sp>
        <p:nvSpPr>
          <p:cNvPr id="30" name="Chevron 29"/>
          <p:cNvSpPr/>
          <p:nvPr/>
        </p:nvSpPr>
        <p:spPr>
          <a:xfrm>
            <a:off x="5650992" y="4626864"/>
            <a:ext cx="640080" cy="329184"/>
          </a:xfrm>
          <a:prstGeom prst="chevron">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839712" y="4562856"/>
            <a:ext cx="4480560" cy="45720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95160" y="4562856"/>
            <a:ext cx="4160520" cy="457200"/>
          </a:xfrm>
          <a:prstGeom prst="rect">
            <a:avLst/>
          </a:prstGeom>
          <a:noFill/>
        </p:spPr>
        <p:txBody>
          <a:bodyPr wrap="square" anchor="ctr" lIns="73152" rIns="73152" tIns="73152" bIns="73152">
            <a:spAutoFit/>
          </a:bodyPr>
          <a:lstStyle/>
          <a:p>
            <a:pPr algn="l"/>
            <a:r>
              <a:rPr sz="1200" b="0">
                <a:solidFill>
                  <a:srgbClr val="161B26"/>
                </a:solidFill>
                <a:latin typeface="Arial"/>
              </a:rPr>
              <a:t>Power Automate agent flow</a:t>
            </a:r>
          </a:p>
        </p:txBody>
      </p:sp>
      <p:sp>
        <p:nvSpPr>
          <p:cNvPr id="33" name="Rounded Rectangle 32"/>
          <p:cNvSpPr/>
          <p:nvPr/>
        </p:nvSpPr>
        <p:spPr>
          <a:xfrm>
            <a:off x="804672" y="5166360"/>
            <a:ext cx="4480560" cy="4572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5166360"/>
            <a:ext cx="4160520" cy="457200"/>
          </a:xfrm>
          <a:prstGeom prst="rect">
            <a:avLst/>
          </a:prstGeom>
          <a:noFill/>
        </p:spPr>
        <p:txBody>
          <a:bodyPr wrap="square" anchor="ctr" lIns="73152" rIns="73152" tIns="73152" bIns="73152">
            <a:spAutoFit/>
          </a:bodyPr>
          <a:lstStyle/>
          <a:p>
            <a:pPr algn="l"/>
            <a:r>
              <a:rPr sz="1200" b="0">
                <a:solidFill>
                  <a:srgbClr val="5B6372"/>
                </a:solidFill>
                <a:latin typeface="Arial"/>
              </a:rPr>
              <a:t>Tool result</a:t>
            </a:r>
          </a:p>
        </p:txBody>
      </p:sp>
      <p:sp>
        <p:nvSpPr>
          <p:cNvPr id="35" name="Chevron 34"/>
          <p:cNvSpPr/>
          <p:nvPr/>
        </p:nvSpPr>
        <p:spPr>
          <a:xfrm>
            <a:off x="5650992" y="5230368"/>
            <a:ext cx="640080"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839712" y="5166360"/>
            <a:ext cx="4480560" cy="45720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995160" y="5166360"/>
            <a:ext cx="4160520" cy="457200"/>
          </a:xfrm>
          <a:prstGeom prst="rect">
            <a:avLst/>
          </a:prstGeom>
          <a:noFill/>
        </p:spPr>
        <p:txBody>
          <a:bodyPr wrap="square" anchor="ctr" lIns="73152" rIns="73152" tIns="73152" bIns="73152">
            <a:spAutoFit/>
          </a:bodyPr>
          <a:lstStyle/>
          <a:p>
            <a:pPr algn="l"/>
            <a:r>
              <a:rPr sz="1200" b="0">
                <a:solidFill>
                  <a:srgbClr val="161B26"/>
                </a:solidFill>
                <a:latin typeface="Arial"/>
              </a:rPr>
              <a:t>Respond to the agent</a:t>
            </a:r>
          </a:p>
        </p:txBody>
      </p:sp>
      <p:sp>
        <p:nvSpPr>
          <p:cNvPr id="38" name="TextBox 37"/>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64</a:t>
            </a:r>
          </a:p>
        </p:txBody>
      </p:sp>
    </p:spTree>
    <p:extLst>
      <p:ext uri="{BB962C8B-B14F-4D97-AF65-F5344CB8AC3E}">
        <p14:creationId xmlns:p14="http://schemas.microsoft.com/office/powerpoint/2010/main" val="22438431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DAY 2 PROGRESSION</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Hands-On Labs — Copilot Studio</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828800"/>
            <a:ext cx="1830628" cy="141732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01952"/>
            <a:ext cx="1684324" cy="1271016"/>
          </a:xfrm>
          <a:prstGeom prst="rect">
            <a:avLst/>
          </a:prstGeom>
          <a:noFill/>
        </p:spPr>
        <p:txBody>
          <a:bodyPr wrap="square" anchor="ctr" lIns="73152" rIns="73152" tIns="73152" bIns="73152">
            <a:spAutoFit/>
          </a:bodyPr>
          <a:lstStyle/>
          <a:p>
            <a:pPr algn="ctr"/>
            <a:r>
              <a:rPr sz="1300" b="1">
                <a:solidFill>
                  <a:srgbClr val="161B26"/>
                </a:solidFill>
                <a:latin typeface="Arial"/>
              </a:rPr>
              <a:t>7A
Create agent</a:t>
            </a:r>
          </a:p>
        </p:txBody>
      </p:sp>
      <p:sp>
        <p:nvSpPr>
          <p:cNvPr id="8" name="Chevron 7"/>
          <p:cNvSpPr/>
          <p:nvPr/>
        </p:nvSpPr>
        <p:spPr>
          <a:xfrm>
            <a:off x="2543860" y="238201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79268"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facts</a:t>
            </a:r>
          </a:p>
        </p:txBody>
      </p:sp>
      <p:sp>
        <p:nvSpPr>
          <p:cNvPr id="10" name="Rounded Rectangle 9"/>
          <p:cNvSpPr/>
          <p:nvPr/>
        </p:nvSpPr>
        <p:spPr>
          <a:xfrm>
            <a:off x="2909620" y="1828800"/>
            <a:ext cx="1830628" cy="141732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2772" y="1901952"/>
            <a:ext cx="1684324" cy="1271016"/>
          </a:xfrm>
          <a:prstGeom prst="rect">
            <a:avLst/>
          </a:prstGeom>
          <a:noFill/>
        </p:spPr>
        <p:txBody>
          <a:bodyPr wrap="square" anchor="ctr" lIns="73152" rIns="73152" tIns="73152" bIns="73152">
            <a:spAutoFit/>
          </a:bodyPr>
          <a:lstStyle/>
          <a:p>
            <a:pPr algn="ctr"/>
            <a:r>
              <a:rPr sz="1300" b="1">
                <a:solidFill>
                  <a:srgbClr val="161B26"/>
                </a:solidFill>
                <a:latin typeface="Arial"/>
              </a:rPr>
              <a:t>7B
Add RAG</a:t>
            </a:r>
          </a:p>
        </p:txBody>
      </p:sp>
      <p:sp>
        <p:nvSpPr>
          <p:cNvPr id="12" name="Chevron 11"/>
          <p:cNvSpPr/>
          <p:nvPr/>
        </p:nvSpPr>
        <p:spPr>
          <a:xfrm>
            <a:off x="4795112" y="238201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0520"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reach users</a:t>
            </a:r>
          </a:p>
        </p:txBody>
      </p:sp>
      <p:sp>
        <p:nvSpPr>
          <p:cNvPr id="14" name="Rounded Rectangle 13"/>
          <p:cNvSpPr/>
          <p:nvPr/>
        </p:nvSpPr>
        <p:spPr>
          <a:xfrm>
            <a:off x="5160873" y="1828800"/>
            <a:ext cx="1830628" cy="141732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4025" y="1901952"/>
            <a:ext cx="1684324" cy="1271016"/>
          </a:xfrm>
          <a:prstGeom prst="rect">
            <a:avLst/>
          </a:prstGeom>
          <a:noFill/>
        </p:spPr>
        <p:txBody>
          <a:bodyPr wrap="square" anchor="ctr" lIns="73152" rIns="73152" tIns="73152" bIns="73152">
            <a:spAutoFit/>
          </a:bodyPr>
          <a:lstStyle/>
          <a:p>
            <a:pPr algn="ctr"/>
            <a:r>
              <a:rPr sz="1300" b="1">
                <a:solidFill>
                  <a:srgbClr val="161B26"/>
                </a:solidFill>
                <a:latin typeface="Arial"/>
              </a:rPr>
              <a:t>8
Deploy channels</a:t>
            </a:r>
          </a:p>
        </p:txBody>
      </p:sp>
      <p:sp>
        <p:nvSpPr>
          <p:cNvPr id="16" name="Chevron 15"/>
          <p:cNvSpPr/>
          <p:nvPr/>
        </p:nvSpPr>
        <p:spPr>
          <a:xfrm>
            <a:off x="7046365" y="238201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1773"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deterministic action</a:t>
            </a:r>
          </a:p>
        </p:txBody>
      </p:sp>
      <p:sp>
        <p:nvSpPr>
          <p:cNvPr id="18" name="Rounded Rectangle 17"/>
          <p:cNvSpPr/>
          <p:nvPr/>
        </p:nvSpPr>
        <p:spPr>
          <a:xfrm>
            <a:off x="7412126" y="1828800"/>
            <a:ext cx="1830628" cy="141732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5278" y="1901952"/>
            <a:ext cx="1684324" cy="1271016"/>
          </a:xfrm>
          <a:prstGeom prst="rect">
            <a:avLst/>
          </a:prstGeom>
          <a:noFill/>
        </p:spPr>
        <p:txBody>
          <a:bodyPr wrap="square" anchor="ctr" lIns="73152" rIns="73152" tIns="73152" bIns="73152">
            <a:spAutoFit/>
          </a:bodyPr>
          <a:lstStyle/>
          <a:p>
            <a:pPr algn="ctr"/>
            <a:r>
              <a:rPr sz="1300" b="1">
                <a:solidFill>
                  <a:srgbClr val="161B26"/>
                </a:solidFill>
                <a:latin typeface="Arial"/>
              </a:rPr>
              <a:t>9
Agent flow</a:t>
            </a:r>
          </a:p>
        </p:txBody>
      </p:sp>
      <p:sp>
        <p:nvSpPr>
          <p:cNvPr id="20" name="Chevron 19"/>
          <p:cNvSpPr/>
          <p:nvPr/>
        </p:nvSpPr>
        <p:spPr>
          <a:xfrm>
            <a:off x="9297618" y="2382012"/>
            <a:ext cx="274320" cy="310896"/>
          </a:xfrm>
          <a:prstGeom prst="chevron">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3026"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controlled AI</a:t>
            </a:r>
          </a:p>
        </p:txBody>
      </p:sp>
      <p:sp>
        <p:nvSpPr>
          <p:cNvPr id="22" name="Rounded Rectangle 21"/>
          <p:cNvSpPr/>
          <p:nvPr/>
        </p:nvSpPr>
        <p:spPr>
          <a:xfrm>
            <a:off x="9663379" y="1828800"/>
            <a:ext cx="1830628" cy="141732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6531" y="1901952"/>
            <a:ext cx="1684324" cy="1271016"/>
          </a:xfrm>
          <a:prstGeom prst="rect">
            <a:avLst/>
          </a:prstGeom>
          <a:noFill/>
        </p:spPr>
        <p:txBody>
          <a:bodyPr wrap="square" anchor="ctr" lIns="73152" rIns="73152" tIns="73152" bIns="73152">
            <a:spAutoFit/>
          </a:bodyPr>
          <a:lstStyle/>
          <a:p>
            <a:pPr algn="ctr"/>
            <a:r>
              <a:rPr sz="1300" b="1">
                <a:solidFill>
                  <a:srgbClr val="161B26"/>
                </a:solidFill>
                <a:latin typeface="Arial"/>
              </a:rPr>
              <a:t>10
Prompt flow</a:t>
            </a:r>
          </a:p>
        </p:txBody>
      </p:sp>
      <p:sp>
        <p:nvSpPr>
          <p:cNvPr id="24" name="Rounded Rectangle 23"/>
          <p:cNvSpPr/>
          <p:nvPr/>
        </p:nvSpPr>
        <p:spPr>
          <a:xfrm>
            <a:off x="868680" y="4069080"/>
            <a:ext cx="324612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8680" y="4069080"/>
            <a:ext cx="82296" cy="1325880"/>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24712" y="4215384"/>
            <a:ext cx="2770632" cy="411480"/>
          </a:xfrm>
          <a:prstGeom prst="rect">
            <a:avLst/>
          </a:prstGeom>
          <a:noFill/>
        </p:spPr>
        <p:txBody>
          <a:bodyPr wrap="square" anchor="ctr" lIns="73152" rIns="73152" tIns="73152" bIns="73152">
            <a:spAutoFit/>
          </a:bodyPr>
          <a:lstStyle/>
          <a:p>
            <a:pPr algn="l"/>
            <a:r>
              <a:rPr sz="1700" b="1">
                <a:solidFill>
                  <a:srgbClr val="6D3FD2"/>
                </a:solidFill>
                <a:latin typeface="Arial"/>
              </a:rPr>
              <a:t>Build or configure</a:t>
            </a:r>
          </a:p>
        </p:txBody>
      </p:sp>
      <p:sp>
        <p:nvSpPr>
          <p:cNvPr id="27" name="TextBox 26"/>
          <p:cNvSpPr txBox="1"/>
          <p:nvPr/>
        </p:nvSpPr>
        <p:spPr>
          <a:xfrm>
            <a:off x="1124712" y="4709160"/>
            <a:ext cx="2770632" cy="576072"/>
          </a:xfrm>
          <a:prstGeom prst="rect">
            <a:avLst/>
          </a:prstGeom>
          <a:noFill/>
        </p:spPr>
        <p:txBody>
          <a:bodyPr wrap="square" anchor="ctr" lIns="73152" rIns="73152" tIns="73152" bIns="73152">
            <a:spAutoFit/>
          </a:bodyPr>
          <a:lstStyle/>
          <a:p>
            <a:pPr algn="l"/>
            <a:r>
              <a:rPr sz="1400" b="0">
                <a:solidFill>
                  <a:srgbClr val="5B6372"/>
                </a:solidFill>
                <a:latin typeface="Arial"/>
              </a:rPr>
              <a:t>Create the agent and inspect every generated instruction.</a:t>
            </a:r>
          </a:p>
        </p:txBody>
      </p:sp>
      <p:sp>
        <p:nvSpPr>
          <p:cNvPr id="28" name="Rounded Rectangle 27"/>
          <p:cNvSpPr/>
          <p:nvPr/>
        </p:nvSpPr>
        <p:spPr>
          <a:xfrm>
            <a:off x="4480560" y="4069080"/>
            <a:ext cx="324612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4069080"/>
            <a:ext cx="82296" cy="132588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36592" y="4215384"/>
            <a:ext cx="2770632" cy="411480"/>
          </a:xfrm>
          <a:prstGeom prst="rect">
            <a:avLst/>
          </a:prstGeom>
          <a:noFill/>
        </p:spPr>
        <p:txBody>
          <a:bodyPr wrap="square" anchor="ctr" lIns="73152" rIns="73152" tIns="73152" bIns="73152">
            <a:spAutoFit/>
          </a:bodyPr>
          <a:lstStyle/>
          <a:p>
            <a:pPr algn="l"/>
            <a:r>
              <a:rPr sz="1700" b="1">
                <a:solidFill>
                  <a:srgbClr val="1F6FEB"/>
                </a:solidFill>
                <a:latin typeface="Arial"/>
              </a:rPr>
              <a:t>Test evidence</a:t>
            </a:r>
          </a:p>
        </p:txBody>
      </p:sp>
      <p:sp>
        <p:nvSpPr>
          <p:cNvPr id="31" name="TextBox 30"/>
          <p:cNvSpPr txBox="1"/>
          <p:nvPr/>
        </p:nvSpPr>
        <p:spPr>
          <a:xfrm>
            <a:off x="4736592" y="4709160"/>
            <a:ext cx="2770632" cy="576072"/>
          </a:xfrm>
          <a:prstGeom prst="rect">
            <a:avLst/>
          </a:prstGeom>
          <a:noFill/>
        </p:spPr>
        <p:txBody>
          <a:bodyPr wrap="square" anchor="ctr" lIns="73152" rIns="73152" tIns="73152" bIns="73152">
            <a:spAutoFit/>
          </a:bodyPr>
          <a:lstStyle/>
          <a:p>
            <a:pPr algn="l"/>
            <a:r>
              <a:rPr sz="1400" b="0">
                <a:solidFill>
                  <a:srgbClr val="5B6372"/>
                </a:solidFill>
                <a:latin typeface="Arial"/>
              </a:rPr>
              <a:t>Use positive, negative and unsupported questions.</a:t>
            </a:r>
          </a:p>
        </p:txBody>
      </p:sp>
      <p:sp>
        <p:nvSpPr>
          <p:cNvPr id="32" name="Rounded Rectangle 31"/>
          <p:cNvSpPr/>
          <p:nvPr/>
        </p:nvSpPr>
        <p:spPr>
          <a:xfrm>
            <a:off x="8092440" y="4069080"/>
            <a:ext cx="324612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92440" y="4069080"/>
            <a:ext cx="82296" cy="1325880"/>
          </a:xfrm>
          <a:prstGeom prst="rect">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8472" y="4215384"/>
            <a:ext cx="2770632" cy="411480"/>
          </a:xfrm>
          <a:prstGeom prst="rect">
            <a:avLst/>
          </a:prstGeom>
          <a:noFill/>
        </p:spPr>
        <p:txBody>
          <a:bodyPr wrap="square" anchor="ctr" lIns="73152" rIns="73152" tIns="73152" bIns="73152">
            <a:spAutoFit/>
          </a:bodyPr>
          <a:lstStyle/>
          <a:p>
            <a:pPr algn="l"/>
            <a:r>
              <a:rPr sz="1700" b="1">
                <a:solidFill>
                  <a:srgbClr val="108A73"/>
                </a:solidFill>
                <a:latin typeface="Arial"/>
              </a:rPr>
              <a:t>Publish safely</a:t>
            </a:r>
          </a:p>
        </p:txBody>
      </p:sp>
      <p:sp>
        <p:nvSpPr>
          <p:cNvPr id="35" name="TextBox 34"/>
          <p:cNvSpPr txBox="1"/>
          <p:nvPr/>
        </p:nvSpPr>
        <p:spPr>
          <a:xfrm>
            <a:off x="8348472" y="4709160"/>
            <a:ext cx="2770632" cy="576072"/>
          </a:xfrm>
          <a:prstGeom prst="rect">
            <a:avLst/>
          </a:prstGeom>
          <a:noFill/>
        </p:spPr>
        <p:txBody>
          <a:bodyPr wrap="square" anchor="ctr" lIns="73152" rIns="73152" tIns="73152" bIns="73152">
            <a:spAutoFit/>
          </a:bodyPr>
          <a:lstStyle/>
          <a:p>
            <a:pPr algn="l"/>
            <a:r>
              <a:rPr sz="1400" b="0">
                <a:solidFill>
                  <a:srgbClr val="5B6372"/>
                </a:solidFill>
                <a:latin typeface="Arial"/>
              </a:rPr>
              <a:t>Validate in Preview before Teams or website channels.</a:t>
            </a:r>
          </a:p>
        </p:txBody>
      </p:sp>
      <p:sp>
        <p:nvSpPr>
          <p:cNvPr id="36" name="TextBox 35"/>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65</a:t>
            </a:r>
          </a:p>
        </p:txBody>
      </p:sp>
    </p:spTree>
    <p:extLst>
      <p:ext uri="{BB962C8B-B14F-4D97-AF65-F5344CB8AC3E}">
        <p14:creationId xmlns:p14="http://schemas.microsoft.com/office/powerpoint/2010/main" val="273418985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INSTRUCTIONS BEFORE KNOWLEDGE</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Lab 7A — Create the IT Support Agent</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874519"/>
            <a:ext cx="1830628" cy="132588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4767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Natural-language
requirement</a:t>
            </a:r>
          </a:p>
        </p:txBody>
      </p:sp>
      <p:sp>
        <p:nvSpPr>
          <p:cNvPr id="8" name="Chevron 7"/>
          <p:cNvSpPr/>
          <p:nvPr/>
        </p:nvSpPr>
        <p:spPr>
          <a:xfrm>
            <a:off x="2543860" y="238201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79268"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create</a:t>
            </a:r>
          </a:p>
        </p:txBody>
      </p:sp>
      <p:sp>
        <p:nvSpPr>
          <p:cNvPr id="10" name="Rounded Rectangle 9"/>
          <p:cNvSpPr/>
          <p:nvPr/>
        </p:nvSpPr>
        <p:spPr>
          <a:xfrm>
            <a:off x="2909620" y="1874519"/>
            <a:ext cx="1830628" cy="132588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2772" y="194767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Generated agent</a:t>
            </a:r>
          </a:p>
        </p:txBody>
      </p:sp>
      <p:sp>
        <p:nvSpPr>
          <p:cNvPr id="12" name="Chevron 11"/>
          <p:cNvSpPr/>
          <p:nvPr/>
        </p:nvSpPr>
        <p:spPr>
          <a:xfrm>
            <a:off x="4795112" y="238201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0520"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inspect</a:t>
            </a:r>
          </a:p>
        </p:txBody>
      </p:sp>
      <p:sp>
        <p:nvSpPr>
          <p:cNvPr id="14" name="Rounded Rectangle 13"/>
          <p:cNvSpPr/>
          <p:nvPr/>
        </p:nvSpPr>
        <p:spPr>
          <a:xfrm>
            <a:off x="5160873" y="1874519"/>
            <a:ext cx="1830628" cy="132588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4025" y="194767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Review
Instructions</a:t>
            </a:r>
          </a:p>
        </p:txBody>
      </p:sp>
      <p:sp>
        <p:nvSpPr>
          <p:cNvPr id="16" name="Chevron 15"/>
          <p:cNvSpPr/>
          <p:nvPr/>
        </p:nvSpPr>
        <p:spPr>
          <a:xfrm>
            <a:off x="7046365" y="238201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1773"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exercise</a:t>
            </a:r>
          </a:p>
        </p:txBody>
      </p:sp>
      <p:sp>
        <p:nvSpPr>
          <p:cNvPr id="18" name="Rounded Rectangle 17"/>
          <p:cNvSpPr/>
          <p:nvPr/>
        </p:nvSpPr>
        <p:spPr>
          <a:xfrm>
            <a:off x="7412126" y="1874519"/>
            <a:ext cx="1830628" cy="132588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5278" y="194767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Preview and test</a:t>
            </a:r>
          </a:p>
        </p:txBody>
      </p:sp>
      <p:sp>
        <p:nvSpPr>
          <p:cNvPr id="20" name="Chevron 19"/>
          <p:cNvSpPr/>
          <p:nvPr/>
        </p:nvSpPr>
        <p:spPr>
          <a:xfrm>
            <a:off x="9297618" y="238201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3026"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improve</a:t>
            </a:r>
          </a:p>
        </p:txBody>
      </p:sp>
      <p:sp>
        <p:nvSpPr>
          <p:cNvPr id="22" name="Rounded Rectangle 21"/>
          <p:cNvSpPr/>
          <p:nvPr/>
        </p:nvSpPr>
        <p:spPr>
          <a:xfrm>
            <a:off x="9663379" y="1874519"/>
            <a:ext cx="1830628" cy="132588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6531" y="194767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Refine and save</a:t>
            </a:r>
          </a:p>
        </p:txBody>
      </p:sp>
      <p:sp>
        <p:nvSpPr>
          <p:cNvPr id="24" name="Rounded Rectangle 23"/>
          <p:cNvSpPr/>
          <p:nvPr/>
        </p:nvSpPr>
        <p:spPr>
          <a:xfrm>
            <a:off x="914400" y="4069080"/>
            <a:ext cx="4800600" cy="128016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 y="4069080"/>
            <a:ext cx="82296" cy="1280160"/>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70432" y="4215384"/>
            <a:ext cx="4325112" cy="411480"/>
          </a:xfrm>
          <a:prstGeom prst="rect">
            <a:avLst/>
          </a:prstGeom>
          <a:noFill/>
        </p:spPr>
        <p:txBody>
          <a:bodyPr wrap="square" anchor="ctr" lIns="73152" rIns="73152" tIns="73152" bIns="73152">
            <a:spAutoFit/>
          </a:bodyPr>
          <a:lstStyle/>
          <a:p>
            <a:pPr algn="l"/>
            <a:r>
              <a:rPr sz="1700" b="1">
                <a:solidFill>
                  <a:srgbClr val="6D3FD2"/>
                </a:solidFill>
                <a:latin typeface="Arial"/>
              </a:rPr>
              <a:t>Workplace role</a:t>
            </a:r>
          </a:p>
        </p:txBody>
      </p:sp>
      <p:sp>
        <p:nvSpPr>
          <p:cNvPr id="27" name="TextBox 26"/>
          <p:cNvSpPr txBox="1"/>
          <p:nvPr/>
        </p:nvSpPr>
        <p:spPr>
          <a:xfrm>
            <a:off x="1170432" y="4709160"/>
            <a:ext cx="4325112" cy="530352"/>
          </a:xfrm>
          <a:prstGeom prst="rect">
            <a:avLst/>
          </a:prstGeom>
          <a:noFill/>
        </p:spPr>
        <p:txBody>
          <a:bodyPr wrap="square" anchor="ctr" lIns="73152" rIns="73152" tIns="73152" bIns="73152">
            <a:spAutoFit/>
          </a:bodyPr>
          <a:lstStyle/>
          <a:p>
            <a:pPr algn="l"/>
            <a:r>
              <a:rPr sz="1400" b="0">
                <a:solidFill>
                  <a:srgbClr val="5B6372"/>
                </a:solidFill>
                <a:latin typeface="Arial"/>
              </a:rPr>
              <a:t>First-line IT support for password, MFA, VPN and service-desk escalation.</a:t>
            </a:r>
          </a:p>
        </p:txBody>
      </p:sp>
      <p:sp>
        <p:nvSpPr>
          <p:cNvPr id="28" name="Rounded Rectangle 27"/>
          <p:cNvSpPr/>
          <p:nvPr/>
        </p:nvSpPr>
        <p:spPr>
          <a:xfrm>
            <a:off x="6172200" y="4069080"/>
            <a:ext cx="4800600" cy="128016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2200" y="4069080"/>
            <a:ext cx="82296" cy="1280160"/>
          </a:xfrm>
          <a:prstGeom prst="rect">
            <a:avLst/>
          </a:prstGeom>
          <a:solidFill>
            <a:srgbClr val="5B63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8232" y="4215384"/>
            <a:ext cx="4325112" cy="411480"/>
          </a:xfrm>
          <a:prstGeom prst="rect">
            <a:avLst/>
          </a:prstGeom>
          <a:noFill/>
        </p:spPr>
        <p:txBody>
          <a:bodyPr wrap="square" anchor="ctr" lIns="73152" rIns="73152" tIns="73152" bIns="73152">
            <a:spAutoFit/>
          </a:bodyPr>
          <a:lstStyle/>
          <a:p>
            <a:pPr algn="l"/>
            <a:r>
              <a:rPr sz="1700" b="1">
                <a:solidFill>
                  <a:srgbClr val="5B6372"/>
                </a:solidFill>
                <a:latin typeface="Arial"/>
              </a:rPr>
              <a:t>What it does not have yet</a:t>
            </a:r>
          </a:p>
        </p:txBody>
      </p:sp>
      <p:sp>
        <p:nvSpPr>
          <p:cNvPr id="31" name="TextBox 30"/>
          <p:cNvSpPr txBox="1"/>
          <p:nvPr/>
        </p:nvSpPr>
        <p:spPr>
          <a:xfrm>
            <a:off x="6428232" y="4709160"/>
            <a:ext cx="4325112" cy="530352"/>
          </a:xfrm>
          <a:prstGeom prst="rect">
            <a:avLst/>
          </a:prstGeom>
          <a:noFill/>
        </p:spPr>
        <p:txBody>
          <a:bodyPr wrap="square" anchor="ctr" lIns="73152" rIns="73152" tIns="73152" bIns="73152">
            <a:spAutoFit/>
          </a:bodyPr>
          <a:lstStyle/>
          <a:p>
            <a:pPr algn="l"/>
            <a:r>
              <a:rPr sz="1400" b="0">
                <a:solidFill>
                  <a:srgbClr val="5B6372"/>
                </a:solidFill>
                <a:latin typeface="Arial"/>
              </a:rPr>
              <a:t>No approved internal facts and no Power Automate tool.</a:t>
            </a:r>
          </a:p>
        </p:txBody>
      </p:sp>
      <p:sp>
        <p:nvSpPr>
          <p:cNvPr id="32" name="TextBox 31"/>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66</a:t>
            </a:r>
          </a:p>
        </p:txBody>
      </p:sp>
    </p:spTree>
    <p:extLst>
      <p:ext uri="{BB962C8B-B14F-4D97-AF65-F5344CB8AC3E}">
        <p14:creationId xmlns:p14="http://schemas.microsoft.com/office/powerpoint/2010/main" val="175085407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RETRIEVE BEFORE GENERATING</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Lab 7B — Ground the Agent with RAG</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874519"/>
            <a:ext cx="1830628" cy="132588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4767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User question</a:t>
            </a:r>
          </a:p>
        </p:txBody>
      </p:sp>
      <p:sp>
        <p:nvSpPr>
          <p:cNvPr id="8" name="Chevron 7"/>
          <p:cNvSpPr/>
          <p:nvPr/>
        </p:nvSpPr>
        <p:spPr>
          <a:xfrm>
            <a:off x="2543860" y="238201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79268"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query</a:t>
            </a:r>
          </a:p>
        </p:txBody>
      </p:sp>
      <p:sp>
        <p:nvSpPr>
          <p:cNvPr id="10" name="Rounded Rectangle 9"/>
          <p:cNvSpPr/>
          <p:nvPr/>
        </p:nvSpPr>
        <p:spPr>
          <a:xfrm>
            <a:off x="2909620" y="1874519"/>
            <a:ext cx="1830628" cy="132588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2772" y="194767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Agent searches</a:t>
            </a:r>
          </a:p>
        </p:txBody>
      </p:sp>
      <p:sp>
        <p:nvSpPr>
          <p:cNvPr id="12" name="Chevron 11"/>
          <p:cNvSpPr/>
          <p:nvPr/>
        </p:nvSpPr>
        <p:spPr>
          <a:xfrm>
            <a:off x="4795112" y="238201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0520"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knowledge</a:t>
            </a:r>
          </a:p>
        </p:txBody>
      </p:sp>
      <p:sp>
        <p:nvSpPr>
          <p:cNvPr id="14" name="Rounded Rectangle 13"/>
          <p:cNvSpPr/>
          <p:nvPr/>
        </p:nvSpPr>
        <p:spPr>
          <a:xfrm>
            <a:off x="5160873" y="1874519"/>
            <a:ext cx="1830628" cy="132588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4025" y="194767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Approved IT FAQ</a:t>
            </a:r>
          </a:p>
        </p:txBody>
      </p:sp>
      <p:sp>
        <p:nvSpPr>
          <p:cNvPr id="16" name="Chevron 15"/>
          <p:cNvSpPr/>
          <p:nvPr/>
        </p:nvSpPr>
        <p:spPr>
          <a:xfrm>
            <a:off x="7046365" y="238201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1773"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evidence</a:t>
            </a:r>
          </a:p>
        </p:txBody>
      </p:sp>
      <p:sp>
        <p:nvSpPr>
          <p:cNvPr id="18" name="Rounded Rectangle 17"/>
          <p:cNvSpPr/>
          <p:nvPr/>
        </p:nvSpPr>
        <p:spPr>
          <a:xfrm>
            <a:off x="7412126" y="1874519"/>
            <a:ext cx="1830628" cy="132588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5278" y="194767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Retrieve passage</a:t>
            </a:r>
          </a:p>
        </p:txBody>
      </p:sp>
      <p:sp>
        <p:nvSpPr>
          <p:cNvPr id="20" name="Chevron 19"/>
          <p:cNvSpPr/>
          <p:nvPr/>
        </p:nvSpPr>
        <p:spPr>
          <a:xfrm>
            <a:off x="9297618" y="238201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3026" y="1618487"/>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generate</a:t>
            </a:r>
          </a:p>
        </p:txBody>
      </p:sp>
      <p:sp>
        <p:nvSpPr>
          <p:cNvPr id="22" name="Rounded Rectangle 21"/>
          <p:cNvSpPr/>
          <p:nvPr/>
        </p:nvSpPr>
        <p:spPr>
          <a:xfrm>
            <a:off x="9663379" y="1874519"/>
            <a:ext cx="1830628" cy="132588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6531" y="1947672"/>
            <a:ext cx="1684324" cy="1179576"/>
          </a:xfrm>
          <a:prstGeom prst="rect">
            <a:avLst/>
          </a:prstGeom>
          <a:noFill/>
        </p:spPr>
        <p:txBody>
          <a:bodyPr wrap="square" anchor="ctr" lIns="73152" rIns="73152" tIns="73152" bIns="73152">
            <a:spAutoFit/>
          </a:bodyPr>
          <a:lstStyle/>
          <a:p>
            <a:pPr algn="ctr"/>
            <a:r>
              <a:rPr sz="1300" b="1">
                <a:solidFill>
                  <a:srgbClr val="161B26"/>
                </a:solidFill>
                <a:latin typeface="Arial"/>
              </a:rPr>
              <a:t>Grounded answer
+ citation</a:t>
            </a:r>
          </a:p>
        </p:txBody>
      </p:sp>
      <p:sp>
        <p:nvSpPr>
          <p:cNvPr id="24" name="Rounded Rectangle 23"/>
          <p:cNvSpPr/>
          <p:nvPr/>
        </p:nvSpPr>
        <p:spPr>
          <a:xfrm>
            <a:off x="914400" y="4069080"/>
            <a:ext cx="4800600" cy="128016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 y="4069080"/>
            <a:ext cx="82296" cy="1280160"/>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70432" y="4215384"/>
            <a:ext cx="4325112" cy="411480"/>
          </a:xfrm>
          <a:prstGeom prst="rect">
            <a:avLst/>
          </a:prstGeom>
          <a:noFill/>
        </p:spPr>
        <p:txBody>
          <a:bodyPr wrap="square" anchor="ctr" lIns="73152" rIns="73152" tIns="73152" bIns="73152">
            <a:spAutoFit/>
          </a:bodyPr>
          <a:lstStyle/>
          <a:p>
            <a:pPr algn="l"/>
            <a:r>
              <a:rPr sz="1700" b="1">
                <a:solidFill>
                  <a:srgbClr val="16845B"/>
                </a:solidFill>
                <a:latin typeface="Arial"/>
              </a:rPr>
              <a:t>Evidence found</a:t>
            </a:r>
          </a:p>
        </p:txBody>
      </p:sp>
      <p:sp>
        <p:nvSpPr>
          <p:cNvPr id="27" name="TextBox 26"/>
          <p:cNvSpPr txBox="1"/>
          <p:nvPr/>
        </p:nvSpPr>
        <p:spPr>
          <a:xfrm>
            <a:off x="1170432" y="4709160"/>
            <a:ext cx="4325112" cy="530352"/>
          </a:xfrm>
          <a:prstGeom prst="rect">
            <a:avLst/>
          </a:prstGeom>
          <a:noFill/>
        </p:spPr>
        <p:txBody>
          <a:bodyPr wrap="square" anchor="ctr" lIns="73152" rIns="73152" tIns="73152" bIns="73152">
            <a:spAutoFit/>
          </a:bodyPr>
          <a:lstStyle/>
          <a:p>
            <a:pPr algn="l"/>
            <a:r>
              <a:rPr sz="1400" b="0">
                <a:solidFill>
                  <a:srgbClr val="5B6372"/>
                </a:solidFill>
                <a:latin typeface="Arial"/>
              </a:rPr>
              <a:t>Give the approved VPN, password or security procedure and cite the FAQ.</a:t>
            </a:r>
          </a:p>
        </p:txBody>
      </p:sp>
      <p:sp>
        <p:nvSpPr>
          <p:cNvPr id="28" name="Rounded Rectangle 27"/>
          <p:cNvSpPr/>
          <p:nvPr/>
        </p:nvSpPr>
        <p:spPr>
          <a:xfrm>
            <a:off x="6172200" y="4069080"/>
            <a:ext cx="4800600" cy="128016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2200" y="4069080"/>
            <a:ext cx="82296" cy="1280160"/>
          </a:xfrm>
          <a:prstGeom prst="rect">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8232" y="4215384"/>
            <a:ext cx="4325112" cy="411480"/>
          </a:xfrm>
          <a:prstGeom prst="rect">
            <a:avLst/>
          </a:prstGeom>
          <a:noFill/>
        </p:spPr>
        <p:txBody>
          <a:bodyPr wrap="square" anchor="ctr" lIns="73152" rIns="73152" tIns="73152" bIns="73152">
            <a:spAutoFit/>
          </a:bodyPr>
          <a:lstStyle/>
          <a:p>
            <a:pPr algn="l"/>
            <a:r>
              <a:rPr sz="1700" b="1">
                <a:solidFill>
                  <a:srgbClr val="C2413A"/>
                </a:solidFill>
                <a:latin typeface="Arial"/>
              </a:rPr>
              <a:t>No authority</a:t>
            </a:r>
          </a:p>
        </p:txBody>
      </p:sp>
      <p:sp>
        <p:nvSpPr>
          <p:cNvPr id="31" name="TextBox 30"/>
          <p:cNvSpPr txBox="1"/>
          <p:nvPr/>
        </p:nvSpPr>
        <p:spPr>
          <a:xfrm>
            <a:off x="6428232" y="4709160"/>
            <a:ext cx="4325112" cy="530352"/>
          </a:xfrm>
          <a:prstGeom prst="rect">
            <a:avLst/>
          </a:prstGeom>
          <a:noFill/>
        </p:spPr>
        <p:txBody>
          <a:bodyPr wrap="square" anchor="ctr" lIns="73152" rIns="73152" tIns="73152" bIns="73152">
            <a:spAutoFit/>
          </a:bodyPr>
          <a:lstStyle/>
          <a:p>
            <a:pPr algn="l"/>
            <a:r>
              <a:rPr sz="1400" b="0">
                <a:solidFill>
                  <a:srgbClr val="5B6372"/>
                </a:solidFill>
                <a:latin typeface="Arial"/>
              </a:rPr>
              <a:t>Refuse access approvals and route the employee to the Service Desk.</a:t>
            </a:r>
          </a:p>
        </p:txBody>
      </p:sp>
      <p:sp>
        <p:nvSpPr>
          <p:cNvPr id="32" name="TextBox 31"/>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67</a:t>
            </a:r>
          </a:p>
        </p:txBody>
      </p:sp>
    </p:spTree>
    <p:extLst>
      <p:ext uri="{BB962C8B-B14F-4D97-AF65-F5344CB8AC3E}">
        <p14:creationId xmlns:p14="http://schemas.microsoft.com/office/powerpoint/2010/main" val="175085407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TWO CHANNELS · TWO PATHS</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Lab 8 — Deploy to Teams and Website</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737360"/>
            <a:ext cx="5166360" cy="416052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82296" cy="4160520"/>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938528"/>
            <a:ext cx="457200" cy="457200"/>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A</a:t>
            </a:r>
          </a:p>
        </p:txBody>
      </p:sp>
      <p:sp>
        <p:nvSpPr>
          <p:cNvPr id="10" name="TextBox 9"/>
          <p:cNvSpPr txBox="1"/>
          <p:nvPr/>
        </p:nvSpPr>
        <p:spPr>
          <a:xfrm>
            <a:off x="1426464" y="1883664"/>
            <a:ext cx="4206240" cy="411480"/>
          </a:xfrm>
          <a:prstGeom prst="rect">
            <a:avLst/>
          </a:prstGeom>
          <a:noFill/>
        </p:spPr>
        <p:txBody>
          <a:bodyPr wrap="square" anchor="ctr" lIns="73152" rIns="73152" tIns="73152" bIns="73152">
            <a:spAutoFit/>
          </a:bodyPr>
          <a:lstStyle/>
          <a:p>
            <a:pPr algn="l"/>
            <a:r>
              <a:rPr sz="1700" b="1">
                <a:solidFill>
                  <a:srgbClr val="6D3FD2"/>
                </a:solidFill>
                <a:latin typeface="Arial"/>
              </a:rPr>
              <a:t>Part A — Copilot agent in Teams</a:t>
            </a:r>
          </a:p>
        </p:txBody>
      </p:sp>
      <p:sp>
        <p:nvSpPr>
          <p:cNvPr id="11" name="TextBox 10"/>
          <p:cNvSpPr txBox="1"/>
          <p:nvPr/>
        </p:nvSpPr>
        <p:spPr>
          <a:xfrm>
            <a:off x="914400" y="2377440"/>
            <a:ext cx="4690872" cy="3410712"/>
          </a:xfrm>
          <a:prstGeom prst="rect">
            <a:avLst/>
          </a:prstGeom>
          <a:noFill/>
        </p:spPr>
        <p:txBody>
          <a:bodyPr wrap="square" anchor="ctr" lIns="73152" rIns="73152" tIns="73152" bIns="73152">
            <a:spAutoFit/>
          </a:bodyPr>
          <a:lstStyle/>
          <a:p>
            <a:pPr algn="l"/>
            <a:r>
              <a:rPr sz="1600" b="0">
                <a:solidFill>
                  <a:srgbClr val="5B6372"/>
                </a:solidFill>
                <a:latin typeface="Arial"/>
              </a:rPr>
              <a:t>User chats in Teams
↓
Copilot Studio agent
↓
Grounded conversation
↓
Answer in Teams</a:t>
            </a:r>
          </a:p>
        </p:txBody>
      </p:sp>
      <p:sp>
        <p:nvSpPr>
          <p:cNvPr id="12" name="Rounded Rectangle 11"/>
          <p:cNvSpPr/>
          <p:nvPr/>
        </p:nvSpPr>
        <p:spPr>
          <a:xfrm>
            <a:off x="6327648" y="1737360"/>
            <a:ext cx="5166360" cy="416052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27648" y="1737360"/>
            <a:ext cx="82296" cy="4160520"/>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28816" y="1938528"/>
            <a:ext cx="457200" cy="45720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B</a:t>
            </a:r>
          </a:p>
        </p:txBody>
      </p:sp>
      <p:sp>
        <p:nvSpPr>
          <p:cNvPr id="16" name="TextBox 15"/>
          <p:cNvSpPr txBox="1"/>
          <p:nvPr/>
        </p:nvSpPr>
        <p:spPr>
          <a:xfrm>
            <a:off x="7095744" y="1883664"/>
            <a:ext cx="4206240" cy="411480"/>
          </a:xfrm>
          <a:prstGeom prst="rect">
            <a:avLst/>
          </a:prstGeom>
          <a:noFill/>
        </p:spPr>
        <p:txBody>
          <a:bodyPr wrap="square" anchor="ctr" lIns="73152" rIns="73152" tIns="73152" bIns="73152">
            <a:spAutoFit/>
          </a:bodyPr>
          <a:lstStyle/>
          <a:p>
            <a:pPr algn="l"/>
            <a:r>
              <a:rPr sz="1700" b="1">
                <a:solidFill>
                  <a:srgbClr val="16845B"/>
                </a:solidFill>
                <a:latin typeface="Arial"/>
              </a:rPr>
              <a:t>Part B — Website calls deterministic flow</a:t>
            </a:r>
          </a:p>
        </p:txBody>
      </p:sp>
      <p:sp>
        <p:nvSpPr>
          <p:cNvPr id="17" name="TextBox 16"/>
          <p:cNvSpPr txBox="1"/>
          <p:nvPr/>
        </p:nvSpPr>
        <p:spPr>
          <a:xfrm>
            <a:off x="6583680" y="2377440"/>
            <a:ext cx="4690872" cy="3410712"/>
          </a:xfrm>
          <a:prstGeom prst="rect">
            <a:avLst/>
          </a:prstGeom>
          <a:noFill/>
        </p:spPr>
        <p:txBody>
          <a:bodyPr wrap="square" anchor="ctr" lIns="73152" rIns="73152" tIns="73152" bIns="73152">
            <a:spAutoFit/>
          </a:bodyPr>
          <a:lstStyle/>
          <a:p>
            <a:pPr algn="l"/>
            <a:r>
              <a:rPr sz="1600" b="0">
                <a:solidFill>
                  <a:srgbClr val="5B6372"/>
                </a:solidFill>
                <a:latin typeface="Arial"/>
              </a:rPr>
              <a:t>Website enquiry form
↓
HTTP POST
↓
Deterministic Power Automate
↓
JSON result on page</a:t>
            </a:r>
          </a:p>
        </p:txBody>
      </p:sp>
      <p:sp>
        <p:nvSpPr>
          <p:cNvPr id="18" name="TextBox 17"/>
          <p:cNvSpPr txBox="1"/>
          <p:nvPr/>
        </p:nvSpPr>
        <p:spPr>
          <a:xfrm>
            <a:off x="658368" y="5989320"/>
            <a:ext cx="10835640" cy="256032"/>
          </a:xfrm>
          <a:prstGeom prst="rect">
            <a:avLst/>
          </a:prstGeom>
          <a:noFill/>
        </p:spPr>
        <p:txBody>
          <a:bodyPr wrap="square" anchor="ctr" lIns="73152" rIns="73152" tIns="73152" bIns="73152">
            <a:spAutoFit/>
          </a:bodyPr>
          <a:lstStyle/>
          <a:p>
            <a:pPr algn="ctr"/>
            <a:r>
              <a:rPr sz="1300" b="1">
                <a:solidFill>
                  <a:srgbClr val="C2413A"/>
                </a:solidFill>
                <a:latin typeface="Arial"/>
              </a:rPr>
              <a:t>Comparison: Part B is automation only—the agent is not in that submission path yet.</a:t>
            </a:r>
          </a:p>
        </p:txBody>
      </p:sp>
      <p:sp>
        <p:nvSpPr>
          <p:cNvPr id="19" name="TextBox 18"/>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68</a:t>
            </a:r>
          </a:p>
        </p:txBody>
      </p:sp>
    </p:spTree>
    <p:extLst>
      <p:ext uri="{BB962C8B-B14F-4D97-AF65-F5344CB8AC3E}">
        <p14:creationId xmlns:p14="http://schemas.microsoft.com/office/powerpoint/2010/main" val="175085407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COPILOT + POWER AUTOMATE</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Lab 9 — Agent Calls a Deterministic Flow</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828800"/>
            <a:ext cx="1455420" cy="128016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01952"/>
            <a:ext cx="1309116" cy="1133856"/>
          </a:xfrm>
          <a:prstGeom prst="rect">
            <a:avLst/>
          </a:prstGeom>
          <a:noFill/>
        </p:spPr>
        <p:txBody>
          <a:bodyPr wrap="square" anchor="ctr" lIns="73152" rIns="73152" tIns="73152" bIns="73152">
            <a:spAutoFit/>
          </a:bodyPr>
          <a:lstStyle/>
          <a:p>
            <a:pPr algn="ctr"/>
            <a:r>
              <a:rPr sz="1300" b="1">
                <a:solidFill>
                  <a:srgbClr val="161B26"/>
                </a:solidFill>
                <a:latin typeface="Arial"/>
              </a:rPr>
              <a:t>Teams or website
chat</a:t>
            </a:r>
          </a:p>
        </p:txBody>
      </p:sp>
      <p:sp>
        <p:nvSpPr>
          <p:cNvPr id="8" name="Chevron 7"/>
          <p:cNvSpPr/>
          <p:nvPr/>
        </p:nvSpPr>
        <p:spPr>
          <a:xfrm>
            <a:off x="2168652" y="231343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04060"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chat</a:t>
            </a:r>
          </a:p>
        </p:txBody>
      </p:sp>
      <p:sp>
        <p:nvSpPr>
          <p:cNvPr id="10" name="Rounded Rectangle 9"/>
          <p:cNvSpPr/>
          <p:nvPr/>
        </p:nvSpPr>
        <p:spPr>
          <a:xfrm>
            <a:off x="2534412" y="1828800"/>
            <a:ext cx="1455420" cy="128016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07564" y="1901952"/>
            <a:ext cx="1309116" cy="1133856"/>
          </a:xfrm>
          <a:prstGeom prst="rect">
            <a:avLst/>
          </a:prstGeom>
          <a:noFill/>
        </p:spPr>
        <p:txBody>
          <a:bodyPr wrap="square" anchor="ctr" lIns="73152" rIns="73152" tIns="73152" bIns="73152">
            <a:spAutoFit/>
          </a:bodyPr>
          <a:lstStyle/>
          <a:p>
            <a:pPr algn="ctr"/>
            <a:r>
              <a:rPr sz="1300" b="1">
                <a:solidFill>
                  <a:srgbClr val="161B26"/>
                </a:solidFill>
                <a:latin typeface="Arial"/>
              </a:rPr>
              <a:t>Copilot agent
confirms inputs</a:t>
            </a:r>
          </a:p>
        </p:txBody>
      </p:sp>
      <p:sp>
        <p:nvSpPr>
          <p:cNvPr id="12" name="Chevron 11"/>
          <p:cNvSpPr/>
          <p:nvPr/>
        </p:nvSpPr>
        <p:spPr>
          <a:xfrm>
            <a:off x="4044696" y="231343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80104"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call</a:t>
            </a:r>
          </a:p>
        </p:txBody>
      </p:sp>
      <p:sp>
        <p:nvSpPr>
          <p:cNvPr id="14" name="Rounded Rectangle 13"/>
          <p:cNvSpPr/>
          <p:nvPr/>
        </p:nvSpPr>
        <p:spPr>
          <a:xfrm>
            <a:off x="4410456" y="1828800"/>
            <a:ext cx="1455420" cy="128016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3608" y="1901952"/>
            <a:ext cx="1309116" cy="1133856"/>
          </a:xfrm>
          <a:prstGeom prst="rect">
            <a:avLst/>
          </a:prstGeom>
          <a:noFill/>
        </p:spPr>
        <p:txBody>
          <a:bodyPr wrap="square" anchor="ctr" lIns="73152" rIns="73152" tIns="73152" bIns="73152">
            <a:spAutoFit/>
          </a:bodyPr>
          <a:lstStyle/>
          <a:p>
            <a:pPr algn="ctr"/>
            <a:r>
              <a:rPr sz="1300" b="1">
                <a:solidFill>
                  <a:srgbClr val="161B26"/>
                </a:solidFill>
                <a:latin typeface="Arial"/>
              </a:rPr>
              <a:t>Agent flow tool</a:t>
            </a:r>
          </a:p>
        </p:txBody>
      </p:sp>
      <p:sp>
        <p:nvSpPr>
          <p:cNvPr id="16" name="Chevron 15"/>
          <p:cNvSpPr/>
          <p:nvPr/>
        </p:nvSpPr>
        <p:spPr>
          <a:xfrm>
            <a:off x="5920740" y="2313432"/>
            <a:ext cx="274320" cy="310896"/>
          </a:xfrm>
          <a:prstGeom prst="chevron">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56148"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evaluate</a:t>
            </a:r>
          </a:p>
        </p:txBody>
      </p:sp>
      <p:sp>
        <p:nvSpPr>
          <p:cNvPr id="18" name="Rounded Rectangle 17"/>
          <p:cNvSpPr/>
          <p:nvPr/>
        </p:nvSpPr>
        <p:spPr>
          <a:xfrm>
            <a:off x="6286500" y="1828800"/>
            <a:ext cx="1455420" cy="128016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9652" y="1901952"/>
            <a:ext cx="1309116" cy="1133856"/>
          </a:xfrm>
          <a:prstGeom prst="rect">
            <a:avLst/>
          </a:prstGeom>
          <a:noFill/>
        </p:spPr>
        <p:txBody>
          <a:bodyPr wrap="square" anchor="ctr" lIns="73152" rIns="73152" tIns="73152" bIns="73152">
            <a:spAutoFit/>
          </a:bodyPr>
          <a:lstStyle/>
          <a:p>
            <a:pPr algn="ctr"/>
            <a:r>
              <a:rPr sz="1300" b="1">
                <a:solidFill>
                  <a:srgbClr val="161B26"/>
                </a:solidFill>
                <a:latin typeface="Arial"/>
              </a:rPr>
              <a:t>Deterministic
conditions</a:t>
            </a:r>
          </a:p>
        </p:txBody>
      </p:sp>
      <p:sp>
        <p:nvSpPr>
          <p:cNvPr id="20" name="Chevron 19"/>
          <p:cNvSpPr/>
          <p:nvPr/>
        </p:nvSpPr>
        <p:spPr>
          <a:xfrm>
            <a:off x="7796784" y="231343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32192"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outputs</a:t>
            </a:r>
          </a:p>
        </p:txBody>
      </p:sp>
      <p:sp>
        <p:nvSpPr>
          <p:cNvPr id="22" name="Rounded Rectangle 21"/>
          <p:cNvSpPr/>
          <p:nvPr/>
        </p:nvSpPr>
        <p:spPr>
          <a:xfrm>
            <a:off x="8162544" y="1828800"/>
            <a:ext cx="1455420" cy="128016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5696" y="1901952"/>
            <a:ext cx="1309116" cy="1133856"/>
          </a:xfrm>
          <a:prstGeom prst="rect">
            <a:avLst/>
          </a:prstGeom>
          <a:noFill/>
        </p:spPr>
        <p:txBody>
          <a:bodyPr wrap="square" anchor="ctr" lIns="73152" rIns="73152" tIns="73152" bIns="73152">
            <a:spAutoFit/>
          </a:bodyPr>
          <a:lstStyle/>
          <a:p>
            <a:pPr algn="ctr"/>
            <a:r>
              <a:rPr sz="1300" b="1">
                <a:solidFill>
                  <a:srgbClr val="161B26"/>
                </a:solidFill>
                <a:latin typeface="Arial"/>
              </a:rPr>
              <a:t>Respond to
agent</a:t>
            </a:r>
          </a:p>
        </p:txBody>
      </p:sp>
      <p:sp>
        <p:nvSpPr>
          <p:cNvPr id="24" name="Chevron 23"/>
          <p:cNvSpPr/>
          <p:nvPr/>
        </p:nvSpPr>
        <p:spPr>
          <a:xfrm>
            <a:off x="9672828" y="2313432"/>
            <a:ext cx="274320" cy="310896"/>
          </a:xfrm>
          <a:prstGeom prst="chevron">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8236" y="157276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present</a:t>
            </a:r>
          </a:p>
        </p:txBody>
      </p:sp>
      <p:sp>
        <p:nvSpPr>
          <p:cNvPr id="26" name="Rounded Rectangle 25"/>
          <p:cNvSpPr/>
          <p:nvPr/>
        </p:nvSpPr>
        <p:spPr>
          <a:xfrm>
            <a:off x="10038588" y="1828800"/>
            <a:ext cx="1455420" cy="128016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111740" y="1901952"/>
            <a:ext cx="1309116" cy="1133856"/>
          </a:xfrm>
          <a:prstGeom prst="rect">
            <a:avLst/>
          </a:prstGeom>
          <a:noFill/>
        </p:spPr>
        <p:txBody>
          <a:bodyPr wrap="square" anchor="ctr" lIns="73152" rIns="73152" tIns="73152" bIns="73152">
            <a:spAutoFit/>
          </a:bodyPr>
          <a:lstStyle/>
          <a:p>
            <a:pPr algn="ctr"/>
            <a:r>
              <a:rPr sz="1300" b="1">
                <a:solidFill>
                  <a:srgbClr val="161B26"/>
                </a:solidFill>
                <a:latin typeface="Arial"/>
              </a:rPr>
              <a:t>Answer in chat</a:t>
            </a:r>
          </a:p>
        </p:txBody>
      </p:sp>
      <p:sp>
        <p:nvSpPr>
          <p:cNvPr id="28" name="Rounded Rectangle 27"/>
          <p:cNvSpPr/>
          <p:nvPr/>
        </p:nvSpPr>
        <p:spPr>
          <a:xfrm>
            <a:off x="914400" y="3977639"/>
            <a:ext cx="48006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14400" y="3977639"/>
            <a:ext cx="82296" cy="1325880"/>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70432" y="4123943"/>
            <a:ext cx="4325112" cy="411480"/>
          </a:xfrm>
          <a:prstGeom prst="rect">
            <a:avLst/>
          </a:prstGeom>
          <a:noFill/>
        </p:spPr>
        <p:txBody>
          <a:bodyPr wrap="square" anchor="ctr" lIns="73152" rIns="73152" tIns="73152" bIns="73152">
            <a:spAutoFit/>
          </a:bodyPr>
          <a:lstStyle/>
          <a:p>
            <a:pPr algn="l"/>
            <a:r>
              <a:rPr sz="1700" b="1">
                <a:solidFill>
                  <a:srgbClr val="6D3FD2"/>
                </a:solidFill>
                <a:latin typeface="Arial"/>
              </a:rPr>
              <a:t>Same as n8n AI Agent + workflow tool</a:t>
            </a:r>
          </a:p>
        </p:txBody>
      </p:sp>
      <p:sp>
        <p:nvSpPr>
          <p:cNvPr id="31" name="TextBox 30"/>
          <p:cNvSpPr txBox="1"/>
          <p:nvPr/>
        </p:nvSpPr>
        <p:spPr>
          <a:xfrm>
            <a:off x="1170432" y="4617719"/>
            <a:ext cx="4325112" cy="576072"/>
          </a:xfrm>
          <a:prstGeom prst="rect">
            <a:avLst/>
          </a:prstGeom>
          <a:noFill/>
        </p:spPr>
        <p:txBody>
          <a:bodyPr wrap="square" anchor="ctr" lIns="73152" rIns="73152" tIns="73152" bIns="73152">
            <a:spAutoFit/>
          </a:bodyPr>
          <a:lstStyle/>
          <a:p>
            <a:pPr algn="l"/>
            <a:r>
              <a:rPr sz="1400" b="0">
                <a:solidFill>
                  <a:srgbClr val="5B6372"/>
                </a:solidFill>
                <a:latin typeface="Arial"/>
              </a:rPr>
              <a:t>The agent decides when to call the tool; the flow executes predictable business rules.</a:t>
            </a:r>
          </a:p>
        </p:txBody>
      </p:sp>
      <p:sp>
        <p:nvSpPr>
          <p:cNvPr id="32" name="Rounded Rectangle 31"/>
          <p:cNvSpPr/>
          <p:nvPr/>
        </p:nvSpPr>
        <p:spPr>
          <a:xfrm>
            <a:off x="6172200" y="3977639"/>
            <a:ext cx="4800600" cy="13258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2200" y="3977639"/>
            <a:ext cx="82296" cy="1325880"/>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28232" y="4123943"/>
            <a:ext cx="4325112" cy="411480"/>
          </a:xfrm>
          <a:prstGeom prst="rect">
            <a:avLst/>
          </a:prstGeom>
          <a:noFill/>
        </p:spPr>
        <p:txBody>
          <a:bodyPr wrap="square" anchor="ctr" lIns="73152" rIns="73152" tIns="73152" bIns="73152">
            <a:spAutoFit/>
          </a:bodyPr>
          <a:lstStyle/>
          <a:p>
            <a:pPr algn="l"/>
            <a:r>
              <a:rPr sz="1700" b="1">
                <a:solidFill>
                  <a:srgbClr val="16845B"/>
                </a:solidFill>
                <a:latin typeface="Arial"/>
              </a:rPr>
              <a:t>Required endpoints</a:t>
            </a:r>
          </a:p>
        </p:txBody>
      </p:sp>
      <p:sp>
        <p:nvSpPr>
          <p:cNvPr id="35" name="TextBox 34"/>
          <p:cNvSpPr txBox="1"/>
          <p:nvPr/>
        </p:nvSpPr>
        <p:spPr>
          <a:xfrm>
            <a:off x="6428232" y="4617719"/>
            <a:ext cx="4325112" cy="576072"/>
          </a:xfrm>
          <a:prstGeom prst="rect">
            <a:avLst/>
          </a:prstGeom>
          <a:noFill/>
        </p:spPr>
        <p:txBody>
          <a:bodyPr wrap="square" anchor="ctr" lIns="73152" rIns="73152" tIns="73152" bIns="73152">
            <a:spAutoFit/>
          </a:bodyPr>
          <a:lstStyle/>
          <a:p>
            <a:pPr algn="l"/>
            <a:r>
              <a:rPr sz="1400" b="0">
                <a:solidFill>
                  <a:srgbClr val="5B6372"/>
                </a:solidFill>
                <a:latin typeface="Arial"/>
              </a:rPr>
              <a:t>When an agent calls the flow → actions → Respond to the agent.</a:t>
            </a:r>
          </a:p>
        </p:txBody>
      </p:sp>
      <p:sp>
        <p:nvSpPr>
          <p:cNvPr id="36" name="TextBox 35"/>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69</a:t>
            </a:r>
          </a:p>
        </p:txBody>
      </p:sp>
    </p:spTree>
    <p:extLst>
      <p:ext uri="{BB962C8B-B14F-4D97-AF65-F5344CB8AC3E}">
        <p14:creationId xmlns:p14="http://schemas.microsoft.com/office/powerpoint/2010/main" val="17508540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AI BUILDER WITH GUARDRAILS</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Lab 10 — Agent Calls a Prompt Flow</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783080"/>
            <a:ext cx="1455420" cy="132588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56231"/>
            <a:ext cx="1309116" cy="1179576"/>
          </a:xfrm>
          <a:prstGeom prst="rect">
            <a:avLst/>
          </a:prstGeom>
          <a:noFill/>
        </p:spPr>
        <p:txBody>
          <a:bodyPr wrap="square" anchor="ctr" lIns="73152" rIns="73152" tIns="73152" bIns="73152">
            <a:spAutoFit/>
          </a:bodyPr>
          <a:lstStyle/>
          <a:p>
            <a:pPr algn="ctr"/>
            <a:r>
              <a:rPr sz="1300" b="1">
                <a:solidFill>
                  <a:srgbClr val="161B26"/>
                </a:solidFill>
                <a:latin typeface="Arial"/>
              </a:rPr>
              <a:t>Confirmed enquiry</a:t>
            </a:r>
          </a:p>
        </p:txBody>
      </p:sp>
      <p:sp>
        <p:nvSpPr>
          <p:cNvPr id="8" name="Chevron 7"/>
          <p:cNvSpPr/>
          <p:nvPr/>
        </p:nvSpPr>
        <p:spPr>
          <a:xfrm>
            <a:off x="2168652" y="229057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04060" y="1527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tool</a:t>
            </a:r>
          </a:p>
        </p:txBody>
      </p:sp>
      <p:sp>
        <p:nvSpPr>
          <p:cNvPr id="10" name="Rounded Rectangle 9"/>
          <p:cNvSpPr/>
          <p:nvPr/>
        </p:nvSpPr>
        <p:spPr>
          <a:xfrm>
            <a:off x="2534412" y="1783080"/>
            <a:ext cx="1455420" cy="132588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07564" y="1856231"/>
            <a:ext cx="1309116" cy="1179576"/>
          </a:xfrm>
          <a:prstGeom prst="rect">
            <a:avLst/>
          </a:prstGeom>
          <a:noFill/>
        </p:spPr>
        <p:txBody>
          <a:bodyPr wrap="square" anchor="ctr" lIns="73152" rIns="73152" tIns="73152" bIns="73152">
            <a:spAutoFit/>
          </a:bodyPr>
          <a:lstStyle/>
          <a:p>
            <a:pPr algn="ctr"/>
            <a:r>
              <a:rPr sz="1300" b="1">
                <a:solidFill>
                  <a:srgbClr val="161B26"/>
                </a:solidFill>
                <a:latin typeface="Arial"/>
              </a:rPr>
              <a:t>Agent calls
prompt flow</a:t>
            </a:r>
          </a:p>
        </p:txBody>
      </p:sp>
      <p:sp>
        <p:nvSpPr>
          <p:cNvPr id="12" name="Chevron 11"/>
          <p:cNvSpPr/>
          <p:nvPr/>
        </p:nvSpPr>
        <p:spPr>
          <a:xfrm>
            <a:off x="4044696" y="2290572"/>
            <a:ext cx="274320" cy="310896"/>
          </a:xfrm>
          <a:prstGeom prst="chevron">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80104" y="1527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generate</a:t>
            </a:r>
          </a:p>
        </p:txBody>
      </p:sp>
      <p:sp>
        <p:nvSpPr>
          <p:cNvPr id="14" name="Rounded Rectangle 13"/>
          <p:cNvSpPr/>
          <p:nvPr/>
        </p:nvSpPr>
        <p:spPr>
          <a:xfrm>
            <a:off x="4410456" y="1783080"/>
            <a:ext cx="1455420" cy="132588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3608" y="1856231"/>
            <a:ext cx="1309116" cy="1179576"/>
          </a:xfrm>
          <a:prstGeom prst="rect">
            <a:avLst/>
          </a:prstGeom>
          <a:noFill/>
        </p:spPr>
        <p:txBody>
          <a:bodyPr wrap="square" anchor="ctr" lIns="73152" rIns="73152" tIns="73152" bIns="73152">
            <a:spAutoFit/>
          </a:bodyPr>
          <a:lstStyle/>
          <a:p>
            <a:pPr algn="ctr"/>
            <a:r>
              <a:rPr sz="1300" b="1">
                <a:solidFill>
                  <a:srgbClr val="161B26"/>
                </a:solidFill>
                <a:latin typeface="Arial"/>
              </a:rPr>
              <a:t>AI Builder
Run a prompt</a:t>
            </a:r>
          </a:p>
        </p:txBody>
      </p:sp>
      <p:sp>
        <p:nvSpPr>
          <p:cNvPr id="16" name="Chevron 15"/>
          <p:cNvSpPr/>
          <p:nvPr/>
        </p:nvSpPr>
        <p:spPr>
          <a:xfrm>
            <a:off x="5920740" y="2290572"/>
            <a:ext cx="274320" cy="310896"/>
          </a:xfrm>
          <a:prstGeom prst="chevron">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56148" y="1527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schema</a:t>
            </a:r>
          </a:p>
        </p:txBody>
      </p:sp>
      <p:sp>
        <p:nvSpPr>
          <p:cNvPr id="18" name="Rounded Rectangle 17"/>
          <p:cNvSpPr/>
          <p:nvPr/>
        </p:nvSpPr>
        <p:spPr>
          <a:xfrm>
            <a:off x="6286500" y="1783080"/>
            <a:ext cx="1455420" cy="132588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9652" y="1856231"/>
            <a:ext cx="1309116" cy="1179576"/>
          </a:xfrm>
          <a:prstGeom prst="rect">
            <a:avLst/>
          </a:prstGeom>
          <a:noFill/>
        </p:spPr>
        <p:txBody>
          <a:bodyPr wrap="square" anchor="ctr" lIns="73152" rIns="73152" tIns="73152" bIns="73152">
            <a:spAutoFit/>
          </a:bodyPr>
          <a:lstStyle/>
          <a:p>
            <a:pPr algn="ctr"/>
            <a:r>
              <a:rPr sz="1300" b="1">
                <a:solidFill>
                  <a:srgbClr val="161B26"/>
                </a:solidFill>
                <a:latin typeface="Arial"/>
              </a:rPr>
              <a:t>Parse + validate
structured JSON</a:t>
            </a:r>
          </a:p>
        </p:txBody>
      </p:sp>
      <p:sp>
        <p:nvSpPr>
          <p:cNvPr id="20" name="Chevron 19"/>
          <p:cNvSpPr/>
          <p:nvPr/>
        </p:nvSpPr>
        <p:spPr>
          <a:xfrm>
            <a:off x="7796784" y="229057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32192" y="1527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check</a:t>
            </a:r>
          </a:p>
        </p:txBody>
      </p:sp>
      <p:sp>
        <p:nvSpPr>
          <p:cNvPr id="22" name="Rounded Rectangle 21"/>
          <p:cNvSpPr/>
          <p:nvPr/>
        </p:nvSpPr>
        <p:spPr>
          <a:xfrm>
            <a:off x="8162544" y="1783080"/>
            <a:ext cx="1455420" cy="1325880"/>
          </a:xfrm>
          <a:prstGeom prst="roundRect">
            <a:avLst/>
          </a:prstGeom>
          <a:solidFill>
            <a:srgbClr val="FFFFFF"/>
          </a:solidFill>
          <a:ln w="15240">
            <a:solidFill>
              <a:srgbClr val="C24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5696" y="1856231"/>
            <a:ext cx="1309116" cy="1179576"/>
          </a:xfrm>
          <a:prstGeom prst="rect">
            <a:avLst/>
          </a:prstGeom>
          <a:noFill/>
        </p:spPr>
        <p:txBody>
          <a:bodyPr wrap="square" anchor="ctr" lIns="73152" rIns="73152" tIns="73152" bIns="73152">
            <a:spAutoFit/>
          </a:bodyPr>
          <a:lstStyle/>
          <a:p>
            <a:pPr algn="ctr"/>
            <a:r>
              <a:rPr sz="1300" b="1">
                <a:solidFill>
                  <a:srgbClr val="161B26"/>
                </a:solidFill>
                <a:latin typeface="Arial"/>
              </a:rPr>
              <a:t>Guardrail decision</a:t>
            </a:r>
          </a:p>
        </p:txBody>
      </p:sp>
      <p:sp>
        <p:nvSpPr>
          <p:cNvPr id="24" name="Chevron 23"/>
          <p:cNvSpPr/>
          <p:nvPr/>
        </p:nvSpPr>
        <p:spPr>
          <a:xfrm>
            <a:off x="9672828" y="2290572"/>
            <a:ext cx="274320" cy="310896"/>
          </a:xfrm>
          <a:prstGeom prst="chevron">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8236" y="1527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safe output</a:t>
            </a:r>
          </a:p>
        </p:txBody>
      </p:sp>
      <p:sp>
        <p:nvSpPr>
          <p:cNvPr id="26" name="Rounded Rectangle 25"/>
          <p:cNvSpPr/>
          <p:nvPr/>
        </p:nvSpPr>
        <p:spPr>
          <a:xfrm>
            <a:off x="10038588" y="1783080"/>
            <a:ext cx="1455420" cy="132588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111740" y="1856231"/>
            <a:ext cx="1309116" cy="1179576"/>
          </a:xfrm>
          <a:prstGeom prst="rect">
            <a:avLst/>
          </a:prstGeom>
          <a:noFill/>
        </p:spPr>
        <p:txBody>
          <a:bodyPr wrap="square" anchor="ctr" lIns="73152" rIns="73152" tIns="73152" bIns="73152">
            <a:spAutoFit/>
          </a:bodyPr>
          <a:lstStyle/>
          <a:p>
            <a:pPr algn="ctr"/>
            <a:r>
              <a:rPr sz="1300" b="1">
                <a:solidFill>
                  <a:srgbClr val="161B26"/>
                </a:solidFill>
                <a:latin typeface="Arial"/>
              </a:rPr>
              <a:t>Respond to
agent</a:t>
            </a:r>
          </a:p>
        </p:txBody>
      </p:sp>
      <p:sp>
        <p:nvSpPr>
          <p:cNvPr id="28" name="Rounded Rectangle 27"/>
          <p:cNvSpPr/>
          <p:nvPr/>
        </p:nvSpPr>
        <p:spPr>
          <a:xfrm>
            <a:off x="914400" y="3977639"/>
            <a:ext cx="4800600" cy="13716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14400" y="3977639"/>
            <a:ext cx="82296" cy="1371600"/>
          </a:xfrm>
          <a:prstGeom prst="rect">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70432" y="4123943"/>
            <a:ext cx="4325112" cy="411480"/>
          </a:xfrm>
          <a:prstGeom prst="rect">
            <a:avLst/>
          </a:prstGeom>
          <a:noFill/>
        </p:spPr>
        <p:txBody>
          <a:bodyPr wrap="square" anchor="ctr" lIns="73152" rIns="73152" tIns="73152" bIns="73152">
            <a:spAutoFit/>
          </a:bodyPr>
          <a:lstStyle/>
          <a:p>
            <a:pPr algn="l"/>
            <a:r>
              <a:rPr sz="1700" b="1">
                <a:solidFill>
                  <a:srgbClr val="C77600"/>
                </a:solidFill>
                <a:latin typeface="Arial"/>
              </a:rPr>
              <a:t>Use AI where language varies</a:t>
            </a:r>
          </a:p>
        </p:txBody>
      </p:sp>
      <p:sp>
        <p:nvSpPr>
          <p:cNvPr id="31" name="TextBox 30"/>
          <p:cNvSpPr txBox="1"/>
          <p:nvPr/>
        </p:nvSpPr>
        <p:spPr>
          <a:xfrm>
            <a:off x="1170432" y="4617719"/>
            <a:ext cx="4325112" cy="621792"/>
          </a:xfrm>
          <a:prstGeom prst="rect">
            <a:avLst/>
          </a:prstGeom>
          <a:noFill/>
        </p:spPr>
        <p:txBody>
          <a:bodyPr wrap="square" anchor="ctr" lIns="73152" rIns="73152" tIns="73152" bIns="73152">
            <a:spAutoFit/>
          </a:bodyPr>
          <a:lstStyle/>
          <a:p>
            <a:pPr algn="l"/>
            <a:r>
              <a:rPr sz="1400" b="0">
                <a:solidFill>
                  <a:srgbClr val="5B6372"/>
                </a:solidFill>
                <a:latin typeface="Arial"/>
              </a:rPr>
              <a:t>Draft, classify or summarise—but keep approvals, identity checks and limits deterministic.</a:t>
            </a:r>
          </a:p>
        </p:txBody>
      </p:sp>
      <p:sp>
        <p:nvSpPr>
          <p:cNvPr id="32" name="Rounded Rectangle 31"/>
          <p:cNvSpPr/>
          <p:nvPr/>
        </p:nvSpPr>
        <p:spPr>
          <a:xfrm>
            <a:off x="6172200" y="3977639"/>
            <a:ext cx="4800600" cy="137160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2200" y="3977639"/>
            <a:ext cx="82296" cy="1371600"/>
          </a:xfrm>
          <a:prstGeom prst="rect">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28232" y="4123943"/>
            <a:ext cx="4325112" cy="411480"/>
          </a:xfrm>
          <a:prstGeom prst="rect">
            <a:avLst/>
          </a:prstGeom>
          <a:noFill/>
        </p:spPr>
        <p:txBody>
          <a:bodyPr wrap="square" anchor="ctr" lIns="73152" rIns="73152" tIns="73152" bIns="73152">
            <a:spAutoFit/>
          </a:bodyPr>
          <a:lstStyle/>
          <a:p>
            <a:pPr algn="l"/>
            <a:r>
              <a:rPr sz="1700" b="1">
                <a:solidFill>
                  <a:srgbClr val="C2413A"/>
                </a:solidFill>
                <a:latin typeface="Arial"/>
              </a:rPr>
              <a:t>Validate before returning</a:t>
            </a:r>
          </a:p>
        </p:txBody>
      </p:sp>
      <p:sp>
        <p:nvSpPr>
          <p:cNvPr id="35" name="TextBox 34"/>
          <p:cNvSpPr txBox="1"/>
          <p:nvPr/>
        </p:nvSpPr>
        <p:spPr>
          <a:xfrm>
            <a:off x="6428232" y="4617719"/>
            <a:ext cx="4325112" cy="621792"/>
          </a:xfrm>
          <a:prstGeom prst="rect">
            <a:avLst/>
          </a:prstGeom>
          <a:noFill/>
        </p:spPr>
        <p:txBody>
          <a:bodyPr wrap="square" anchor="ctr" lIns="73152" rIns="73152" tIns="73152" bIns="73152">
            <a:spAutoFit/>
          </a:bodyPr>
          <a:lstStyle/>
          <a:p>
            <a:pPr algn="l"/>
            <a:r>
              <a:rPr sz="1400" b="0">
                <a:solidFill>
                  <a:srgbClr val="5B6372"/>
                </a:solidFill>
                <a:latin typeface="Arial"/>
              </a:rPr>
              <a:t>Parse the schema, check safety rules and fall back when the output is missing or unsafe.</a:t>
            </a:r>
          </a:p>
        </p:txBody>
      </p:sp>
      <p:sp>
        <p:nvSpPr>
          <p:cNvPr id="36" name="TextBox 35"/>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70</a:t>
            </a:r>
          </a:p>
        </p:txBody>
      </p:sp>
    </p:spTree>
    <p:extLst>
      <p:ext uri="{BB962C8B-B14F-4D97-AF65-F5344CB8AC3E}">
        <p14:creationId xmlns:p14="http://schemas.microsoft.com/office/powerpoint/2010/main" val="111367917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AUTOMATION → AGENT FLOW → PROMPT FLOW</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Compare Labs 8, 9 and 10</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737360"/>
            <a:ext cx="3383280" cy="425196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82296" cy="4251960"/>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938528"/>
            <a:ext cx="457200" cy="45720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8</a:t>
            </a:r>
          </a:p>
        </p:txBody>
      </p:sp>
      <p:sp>
        <p:nvSpPr>
          <p:cNvPr id="10" name="TextBox 9"/>
          <p:cNvSpPr txBox="1"/>
          <p:nvPr/>
        </p:nvSpPr>
        <p:spPr>
          <a:xfrm>
            <a:off x="1426464" y="1883664"/>
            <a:ext cx="2423160" cy="411480"/>
          </a:xfrm>
          <a:prstGeom prst="rect">
            <a:avLst/>
          </a:prstGeom>
          <a:noFill/>
        </p:spPr>
        <p:txBody>
          <a:bodyPr wrap="square" anchor="ctr" lIns="73152" rIns="73152" tIns="73152" bIns="73152">
            <a:spAutoFit/>
          </a:bodyPr>
          <a:lstStyle/>
          <a:p>
            <a:pPr algn="l"/>
            <a:r>
              <a:rPr sz="1700" b="1">
                <a:solidFill>
                  <a:srgbClr val="16845B"/>
                </a:solidFill>
                <a:latin typeface="Arial"/>
              </a:rPr>
              <a:t>Lab 8 — Ordinary flow</a:t>
            </a:r>
          </a:p>
        </p:txBody>
      </p:sp>
      <p:sp>
        <p:nvSpPr>
          <p:cNvPr id="11" name="TextBox 10"/>
          <p:cNvSpPr txBox="1"/>
          <p:nvPr/>
        </p:nvSpPr>
        <p:spPr>
          <a:xfrm>
            <a:off x="914400" y="2377440"/>
            <a:ext cx="2907792" cy="3502152"/>
          </a:xfrm>
          <a:prstGeom prst="rect">
            <a:avLst/>
          </a:prstGeom>
          <a:noFill/>
        </p:spPr>
        <p:txBody>
          <a:bodyPr wrap="square" anchor="ctr" lIns="73152" rIns="73152" tIns="73152" bIns="73152">
            <a:spAutoFit/>
          </a:bodyPr>
          <a:lstStyle/>
          <a:p>
            <a:pPr algn="l"/>
            <a:r>
              <a:rPr sz="1300" b="0">
                <a:solidFill>
                  <a:srgbClr val="5B6372"/>
                </a:solidFill>
                <a:latin typeface="Arial"/>
              </a:rPr>
              <a:t>TRIGGER
Website HTTP request
PROCESSING
No agent in path
RETURN
JSON to webpage</a:t>
            </a:r>
          </a:p>
        </p:txBody>
      </p:sp>
      <p:sp>
        <p:nvSpPr>
          <p:cNvPr id="12" name="Rounded Rectangle 11"/>
          <p:cNvSpPr/>
          <p:nvPr/>
        </p:nvSpPr>
        <p:spPr>
          <a:xfrm>
            <a:off x="4315968" y="1737360"/>
            <a:ext cx="3383280" cy="425196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1737360"/>
            <a:ext cx="82296" cy="4251960"/>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17136" y="1938528"/>
            <a:ext cx="457200" cy="457200"/>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713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9</a:t>
            </a:r>
          </a:p>
        </p:txBody>
      </p:sp>
      <p:sp>
        <p:nvSpPr>
          <p:cNvPr id="16" name="TextBox 15"/>
          <p:cNvSpPr txBox="1"/>
          <p:nvPr/>
        </p:nvSpPr>
        <p:spPr>
          <a:xfrm>
            <a:off x="5084064" y="1883664"/>
            <a:ext cx="2423160" cy="411480"/>
          </a:xfrm>
          <a:prstGeom prst="rect">
            <a:avLst/>
          </a:prstGeom>
          <a:noFill/>
        </p:spPr>
        <p:txBody>
          <a:bodyPr wrap="square" anchor="ctr" lIns="73152" rIns="73152" tIns="73152" bIns="73152">
            <a:spAutoFit/>
          </a:bodyPr>
          <a:lstStyle/>
          <a:p>
            <a:pPr algn="l"/>
            <a:r>
              <a:rPr sz="1700" b="1">
                <a:solidFill>
                  <a:srgbClr val="6D3FD2"/>
                </a:solidFill>
                <a:latin typeface="Arial"/>
              </a:rPr>
              <a:t>Lab 9 — Agent flow</a:t>
            </a:r>
          </a:p>
        </p:txBody>
      </p:sp>
      <p:sp>
        <p:nvSpPr>
          <p:cNvPr id="17" name="TextBox 16"/>
          <p:cNvSpPr txBox="1"/>
          <p:nvPr/>
        </p:nvSpPr>
        <p:spPr>
          <a:xfrm>
            <a:off x="4572000" y="2377440"/>
            <a:ext cx="2907792" cy="3502152"/>
          </a:xfrm>
          <a:prstGeom prst="rect">
            <a:avLst/>
          </a:prstGeom>
          <a:noFill/>
        </p:spPr>
        <p:txBody>
          <a:bodyPr wrap="square" anchor="ctr" lIns="73152" rIns="73152" tIns="73152" bIns="73152">
            <a:spAutoFit/>
          </a:bodyPr>
          <a:lstStyle/>
          <a:p>
            <a:pPr algn="l"/>
            <a:r>
              <a:rPr sz="1300" b="0">
                <a:solidFill>
                  <a:srgbClr val="5B6372"/>
                </a:solidFill>
                <a:latin typeface="Arial"/>
              </a:rPr>
              <a:t>TRIGGER
Agent tool call
PROCESSING
Deterministic rules
RETURN
Structured result to chat</a:t>
            </a:r>
          </a:p>
        </p:txBody>
      </p:sp>
      <p:sp>
        <p:nvSpPr>
          <p:cNvPr id="18" name="Rounded Rectangle 17"/>
          <p:cNvSpPr/>
          <p:nvPr/>
        </p:nvSpPr>
        <p:spPr>
          <a:xfrm>
            <a:off x="7973568" y="1737360"/>
            <a:ext cx="3383280" cy="425196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73568" y="1737360"/>
            <a:ext cx="82296" cy="4251960"/>
          </a:xfrm>
          <a:prstGeom prst="rect">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74736" y="1938528"/>
            <a:ext cx="457200" cy="457200"/>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74736" y="193852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10</a:t>
            </a:r>
          </a:p>
        </p:txBody>
      </p:sp>
      <p:sp>
        <p:nvSpPr>
          <p:cNvPr id="22" name="TextBox 21"/>
          <p:cNvSpPr txBox="1"/>
          <p:nvPr/>
        </p:nvSpPr>
        <p:spPr>
          <a:xfrm>
            <a:off x="8741664" y="1883664"/>
            <a:ext cx="2423160" cy="411480"/>
          </a:xfrm>
          <a:prstGeom prst="rect">
            <a:avLst/>
          </a:prstGeom>
          <a:noFill/>
        </p:spPr>
        <p:txBody>
          <a:bodyPr wrap="square" anchor="ctr" lIns="73152" rIns="73152" tIns="73152" bIns="73152">
            <a:spAutoFit/>
          </a:bodyPr>
          <a:lstStyle/>
          <a:p>
            <a:pPr algn="l"/>
            <a:r>
              <a:rPr sz="1700" b="1">
                <a:solidFill>
                  <a:srgbClr val="C77600"/>
                </a:solidFill>
                <a:latin typeface="Arial"/>
              </a:rPr>
              <a:t>Lab 10 — Prompt flow</a:t>
            </a:r>
          </a:p>
        </p:txBody>
      </p:sp>
      <p:sp>
        <p:nvSpPr>
          <p:cNvPr id="23" name="TextBox 22"/>
          <p:cNvSpPr txBox="1"/>
          <p:nvPr/>
        </p:nvSpPr>
        <p:spPr>
          <a:xfrm>
            <a:off x="8229600" y="2377440"/>
            <a:ext cx="2907792" cy="3502152"/>
          </a:xfrm>
          <a:prstGeom prst="rect">
            <a:avLst/>
          </a:prstGeom>
          <a:noFill/>
        </p:spPr>
        <p:txBody>
          <a:bodyPr wrap="square" anchor="ctr" lIns="73152" rIns="73152" tIns="73152" bIns="73152">
            <a:spAutoFit/>
          </a:bodyPr>
          <a:lstStyle/>
          <a:p>
            <a:pPr algn="l"/>
            <a:r>
              <a:rPr sz="1300" b="0">
                <a:solidFill>
                  <a:srgbClr val="5B6372"/>
                </a:solidFill>
                <a:latin typeface="Arial"/>
              </a:rPr>
              <a:t>TRIGGER
Agent tool call
PROCESSING
AI prompt + guardrails
RETURN
Controlled draft to chat</a:t>
            </a:r>
          </a:p>
        </p:txBody>
      </p:sp>
      <p:sp>
        <p:nvSpPr>
          <p:cNvPr id="24" name="TextBox 23"/>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71</a:t>
            </a:r>
          </a:p>
        </p:txBody>
      </p:sp>
    </p:spTree>
    <p:extLst>
      <p:ext uri="{BB962C8B-B14F-4D97-AF65-F5344CB8AC3E}">
        <p14:creationId xmlns:p14="http://schemas.microsoft.com/office/powerpoint/2010/main" val="336843723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20534-FF42-5EE2-C52D-D6A875AC7764}"/>
              </a:ext>
            </a:extLst>
          </p:cNvPr>
          <p:cNvSpPr>
            <a:spLocks noGrp="1"/>
          </p:cNvSpPr>
          <p:nvPr>
            <p:ph type="title"/>
          </p:nvPr>
        </p:nvSpPr>
        <p:spPr/>
        <p:txBody>
          <a:bodyPr/>
          <a:lstStyle/>
          <a:p>
            <a:r>
              <a:rPr lang="en-US"/>
              <a:t>Testing &amp; Debugging Agents</a:t>
            </a:r>
          </a:p>
        </p:txBody>
      </p:sp>
      <p:sp>
        <p:nvSpPr>
          <p:cNvPr id="3" name="Content Placeholder 2">
            <a:extLst>
              <a:ext uri="{FF2B5EF4-FFF2-40B4-BE49-F238E27FC236}">
                <a16:creationId xmlns:a16="http://schemas.microsoft.com/office/drawing/2014/main" id="{A4B4DC5E-4545-01F1-D1EA-4BEFEB1FDD67}"/>
              </a:ext>
            </a:extLst>
          </p:cNvPr>
          <p:cNvSpPr>
            <a:spLocks noGrp="1"/>
          </p:cNvSpPr>
          <p:nvPr>
            <p:ph idx="1"/>
          </p:nvPr>
        </p:nvSpPr>
        <p:spPr/>
        <p:txBody>
          <a:bodyPr>
            <a:normAutofit/>
          </a:bodyPr>
          <a:lstStyle/>
          <a:p>
            <a:r>
              <a:rPr lang="en-US" sz="1800"/>
              <a:t>Test in the chat panel with realistic, messy inputs
Check the output format is consistent every time
Trace flow runs to see exactly what data passed through
Refine the prompt when answers drift or fields go missing
Handle the edge cases: missing info, unexpected questions</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extLst>
      <p:ext uri="{BB962C8B-B14F-4D97-AF65-F5344CB8AC3E}">
        <p14:creationId xmlns:p14="http://schemas.microsoft.com/office/powerpoint/2010/main" val="14157661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UNDERSTAND · GROUND · ACT</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Day 2 Recap — The Agentic Architecture</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783080"/>
            <a:ext cx="1830628" cy="123444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56231"/>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Instructions</a:t>
            </a:r>
          </a:p>
        </p:txBody>
      </p:sp>
      <p:sp>
        <p:nvSpPr>
          <p:cNvPr id="8" name="Chevron 7"/>
          <p:cNvSpPr/>
          <p:nvPr/>
        </p:nvSpPr>
        <p:spPr>
          <a:xfrm>
            <a:off x="2543860" y="224485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79268" y="1527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ground</a:t>
            </a:r>
          </a:p>
        </p:txBody>
      </p:sp>
      <p:sp>
        <p:nvSpPr>
          <p:cNvPr id="10" name="Rounded Rectangle 9"/>
          <p:cNvSpPr/>
          <p:nvPr/>
        </p:nvSpPr>
        <p:spPr>
          <a:xfrm>
            <a:off x="2909620" y="1783080"/>
            <a:ext cx="1830628" cy="123444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2772" y="1856231"/>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Knowledge (RAG)</a:t>
            </a:r>
          </a:p>
        </p:txBody>
      </p:sp>
      <p:sp>
        <p:nvSpPr>
          <p:cNvPr id="12" name="Chevron 11"/>
          <p:cNvSpPr/>
          <p:nvPr/>
        </p:nvSpPr>
        <p:spPr>
          <a:xfrm>
            <a:off x="4795112" y="224485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0520" y="1527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publish</a:t>
            </a:r>
          </a:p>
        </p:txBody>
      </p:sp>
      <p:sp>
        <p:nvSpPr>
          <p:cNvPr id="14" name="Rounded Rectangle 13"/>
          <p:cNvSpPr/>
          <p:nvPr/>
        </p:nvSpPr>
        <p:spPr>
          <a:xfrm>
            <a:off x="5160873" y="1783080"/>
            <a:ext cx="1830628" cy="123444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4025" y="1856231"/>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Channels</a:t>
            </a:r>
          </a:p>
        </p:txBody>
      </p:sp>
      <p:sp>
        <p:nvSpPr>
          <p:cNvPr id="16" name="Chevron 15"/>
          <p:cNvSpPr/>
          <p:nvPr/>
        </p:nvSpPr>
        <p:spPr>
          <a:xfrm>
            <a:off x="7046365" y="224485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1773" y="1527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act</a:t>
            </a:r>
          </a:p>
        </p:txBody>
      </p:sp>
      <p:sp>
        <p:nvSpPr>
          <p:cNvPr id="18" name="Rounded Rectangle 17"/>
          <p:cNvSpPr/>
          <p:nvPr/>
        </p:nvSpPr>
        <p:spPr>
          <a:xfrm>
            <a:off x="7412126" y="1783080"/>
            <a:ext cx="1830628" cy="123444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5278" y="1856231"/>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Tools</a:t>
            </a:r>
          </a:p>
        </p:txBody>
      </p:sp>
      <p:sp>
        <p:nvSpPr>
          <p:cNvPr id="20" name="Chevron 19"/>
          <p:cNvSpPr/>
          <p:nvPr/>
        </p:nvSpPr>
        <p:spPr>
          <a:xfrm>
            <a:off x="9297618" y="2244852"/>
            <a:ext cx="274320" cy="310896"/>
          </a:xfrm>
          <a:prstGeom prst="chevron">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33026" y="1527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generate</a:t>
            </a:r>
          </a:p>
        </p:txBody>
      </p:sp>
      <p:sp>
        <p:nvSpPr>
          <p:cNvPr id="22" name="Rounded Rectangle 21"/>
          <p:cNvSpPr/>
          <p:nvPr/>
        </p:nvSpPr>
        <p:spPr>
          <a:xfrm>
            <a:off x="9663379" y="1783080"/>
            <a:ext cx="1830628" cy="123444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36531" y="1856231"/>
            <a:ext cx="1684324" cy="1088136"/>
          </a:xfrm>
          <a:prstGeom prst="rect">
            <a:avLst/>
          </a:prstGeom>
          <a:noFill/>
        </p:spPr>
        <p:txBody>
          <a:bodyPr wrap="square" anchor="ctr" lIns="73152" rIns="73152" tIns="73152" bIns="73152">
            <a:spAutoFit/>
          </a:bodyPr>
          <a:lstStyle/>
          <a:p>
            <a:pPr algn="ctr"/>
            <a:r>
              <a:rPr sz="1300" b="1">
                <a:solidFill>
                  <a:srgbClr val="161B26"/>
                </a:solidFill>
                <a:latin typeface="Arial"/>
              </a:rPr>
              <a:t>Prompt + guardrails</a:t>
            </a:r>
          </a:p>
        </p:txBody>
      </p:sp>
      <p:sp>
        <p:nvSpPr>
          <p:cNvPr id="24" name="TextBox 23"/>
          <p:cNvSpPr txBox="1"/>
          <p:nvPr/>
        </p:nvSpPr>
        <p:spPr>
          <a:xfrm>
            <a:off x="658368" y="3429000"/>
            <a:ext cx="10835640" cy="438912"/>
          </a:xfrm>
          <a:prstGeom prst="rect">
            <a:avLst/>
          </a:prstGeom>
          <a:noFill/>
        </p:spPr>
        <p:txBody>
          <a:bodyPr wrap="square" anchor="ctr" lIns="73152" rIns="73152" tIns="73152" bIns="73152">
            <a:spAutoFit/>
          </a:bodyPr>
          <a:lstStyle/>
          <a:p>
            <a:pPr algn="ctr"/>
            <a:r>
              <a:rPr sz="1400" b="1">
                <a:solidFill>
                  <a:srgbClr val="6D3FD2"/>
                </a:solidFill>
                <a:latin typeface="Arial"/>
              </a:rPr>
              <a:t>THE FINAL ARCHITECTURE</a:t>
            </a:r>
          </a:p>
        </p:txBody>
      </p:sp>
      <p:sp>
        <p:nvSpPr>
          <p:cNvPr id="25" name="Rounded Rectangle 24"/>
          <p:cNvSpPr/>
          <p:nvPr/>
        </p:nvSpPr>
        <p:spPr>
          <a:xfrm>
            <a:off x="658368" y="4069080"/>
            <a:ext cx="1830628" cy="1188720"/>
          </a:xfrm>
          <a:prstGeom prst="roundRect">
            <a:avLst/>
          </a:prstGeom>
          <a:solidFill>
            <a:srgbClr val="FFFFFF"/>
          </a:solidFill>
          <a:ln w="15240">
            <a:solidFill>
              <a:srgbClr val="108A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142232"/>
            <a:ext cx="1684324" cy="1042416"/>
          </a:xfrm>
          <a:prstGeom prst="rect">
            <a:avLst/>
          </a:prstGeom>
          <a:noFill/>
        </p:spPr>
        <p:txBody>
          <a:bodyPr wrap="square" anchor="ctr" lIns="73152" rIns="73152" tIns="73152" bIns="73152">
            <a:spAutoFit/>
          </a:bodyPr>
          <a:lstStyle/>
          <a:p>
            <a:pPr algn="ctr"/>
            <a:r>
              <a:rPr sz="1300" b="1">
                <a:solidFill>
                  <a:srgbClr val="161B26"/>
                </a:solidFill>
                <a:latin typeface="Arial"/>
              </a:rPr>
              <a:t>User</a:t>
            </a:r>
          </a:p>
        </p:txBody>
      </p:sp>
      <p:sp>
        <p:nvSpPr>
          <p:cNvPr id="27" name="Chevron 26"/>
          <p:cNvSpPr/>
          <p:nvPr/>
        </p:nvSpPr>
        <p:spPr>
          <a:xfrm>
            <a:off x="2543860" y="4507992"/>
            <a:ext cx="274320" cy="310896"/>
          </a:xfrm>
          <a:prstGeom prst="chevron">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79268" y="3813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asks</a:t>
            </a:r>
          </a:p>
        </p:txBody>
      </p:sp>
      <p:sp>
        <p:nvSpPr>
          <p:cNvPr id="29" name="Rounded Rectangle 28"/>
          <p:cNvSpPr/>
          <p:nvPr/>
        </p:nvSpPr>
        <p:spPr>
          <a:xfrm>
            <a:off x="2909620" y="4069080"/>
            <a:ext cx="1830628" cy="1188720"/>
          </a:xfrm>
          <a:prstGeom prst="roundRect">
            <a:avLst/>
          </a:prstGeom>
          <a:solidFill>
            <a:srgbClr val="FFFFFF"/>
          </a:solidFill>
          <a:ln w="15240">
            <a:solidFill>
              <a:srgbClr val="6D3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82772" y="4142232"/>
            <a:ext cx="1684324" cy="1042416"/>
          </a:xfrm>
          <a:prstGeom prst="rect">
            <a:avLst/>
          </a:prstGeom>
          <a:noFill/>
        </p:spPr>
        <p:txBody>
          <a:bodyPr wrap="square" anchor="ctr" lIns="73152" rIns="73152" tIns="73152" bIns="73152">
            <a:spAutoFit/>
          </a:bodyPr>
          <a:lstStyle/>
          <a:p>
            <a:pPr algn="ctr"/>
            <a:r>
              <a:rPr sz="1300" b="1">
                <a:solidFill>
                  <a:srgbClr val="161B26"/>
                </a:solidFill>
                <a:latin typeface="Arial"/>
              </a:rPr>
              <a:t>Copilot agent</a:t>
            </a:r>
          </a:p>
        </p:txBody>
      </p:sp>
      <p:sp>
        <p:nvSpPr>
          <p:cNvPr id="31" name="Chevron 30"/>
          <p:cNvSpPr/>
          <p:nvPr/>
        </p:nvSpPr>
        <p:spPr>
          <a:xfrm>
            <a:off x="4795112" y="4507992"/>
            <a:ext cx="274320" cy="310896"/>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30520" y="3813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calls</a:t>
            </a:r>
          </a:p>
        </p:txBody>
      </p:sp>
      <p:sp>
        <p:nvSpPr>
          <p:cNvPr id="33" name="Rounded Rectangle 32"/>
          <p:cNvSpPr/>
          <p:nvPr/>
        </p:nvSpPr>
        <p:spPr>
          <a:xfrm>
            <a:off x="5160873" y="4069080"/>
            <a:ext cx="1830628" cy="1188720"/>
          </a:xfrm>
          <a:prstGeom prst="roundRect">
            <a:avLst/>
          </a:prstGeom>
          <a:solidFill>
            <a:srgbClr val="FFFFFF"/>
          </a:solidFill>
          <a:ln w="15240">
            <a:solidFill>
              <a:srgbClr val="1684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34025" y="4142232"/>
            <a:ext cx="1684324" cy="1042416"/>
          </a:xfrm>
          <a:prstGeom prst="rect">
            <a:avLst/>
          </a:prstGeom>
          <a:noFill/>
        </p:spPr>
        <p:txBody>
          <a:bodyPr wrap="square" anchor="ctr" lIns="73152" rIns="73152" tIns="73152" bIns="73152">
            <a:spAutoFit/>
          </a:bodyPr>
          <a:lstStyle/>
          <a:p>
            <a:pPr algn="ctr"/>
            <a:r>
              <a:rPr sz="1300" b="1">
                <a:solidFill>
                  <a:srgbClr val="161B26"/>
                </a:solidFill>
                <a:latin typeface="Arial"/>
              </a:rPr>
              <a:t>Power Automate tool</a:t>
            </a:r>
          </a:p>
        </p:txBody>
      </p:sp>
      <p:sp>
        <p:nvSpPr>
          <p:cNvPr id="35" name="Chevron 34"/>
          <p:cNvSpPr/>
          <p:nvPr/>
        </p:nvSpPr>
        <p:spPr>
          <a:xfrm>
            <a:off x="7046365" y="4507992"/>
            <a:ext cx="274320" cy="310896"/>
          </a:xfrm>
          <a:prstGeom prst="chevron">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81773" y="3813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returns</a:t>
            </a:r>
          </a:p>
        </p:txBody>
      </p:sp>
      <p:sp>
        <p:nvSpPr>
          <p:cNvPr id="37" name="Rounded Rectangle 36"/>
          <p:cNvSpPr/>
          <p:nvPr/>
        </p:nvSpPr>
        <p:spPr>
          <a:xfrm>
            <a:off x="7412126" y="4069080"/>
            <a:ext cx="1830628" cy="1188720"/>
          </a:xfrm>
          <a:prstGeom prst="roundRect">
            <a:avLst/>
          </a:prstGeom>
          <a:solidFill>
            <a:srgbClr val="FFFFFF"/>
          </a:solidFill>
          <a:ln w="1524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85278" y="4142232"/>
            <a:ext cx="1684324" cy="1042416"/>
          </a:xfrm>
          <a:prstGeom prst="rect">
            <a:avLst/>
          </a:prstGeom>
          <a:noFill/>
        </p:spPr>
        <p:txBody>
          <a:bodyPr wrap="square" anchor="ctr" lIns="73152" rIns="73152" tIns="73152" bIns="73152">
            <a:spAutoFit/>
          </a:bodyPr>
          <a:lstStyle/>
          <a:p>
            <a:pPr algn="ctr"/>
            <a:r>
              <a:rPr sz="1300" b="1">
                <a:solidFill>
                  <a:srgbClr val="161B26"/>
                </a:solidFill>
                <a:latin typeface="Arial"/>
              </a:rPr>
              <a:t>Business result</a:t>
            </a:r>
          </a:p>
        </p:txBody>
      </p:sp>
      <p:sp>
        <p:nvSpPr>
          <p:cNvPr id="39" name="Chevron 38"/>
          <p:cNvSpPr/>
          <p:nvPr/>
        </p:nvSpPr>
        <p:spPr>
          <a:xfrm>
            <a:off x="9297618" y="4507992"/>
            <a:ext cx="274320" cy="310896"/>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33026" y="3813048"/>
            <a:ext cx="640080" cy="228600"/>
          </a:xfrm>
          <a:prstGeom prst="rect">
            <a:avLst/>
          </a:prstGeom>
          <a:noFill/>
        </p:spPr>
        <p:txBody>
          <a:bodyPr wrap="square" anchor="ctr" lIns="73152" rIns="73152" tIns="73152" bIns="73152">
            <a:spAutoFit/>
          </a:bodyPr>
          <a:lstStyle/>
          <a:p>
            <a:pPr algn="ctr"/>
            <a:r>
              <a:rPr sz="900" b="0">
                <a:solidFill>
                  <a:srgbClr val="5B6372"/>
                </a:solidFill>
                <a:latin typeface="Arial"/>
              </a:rPr>
              <a:t>presents</a:t>
            </a:r>
          </a:p>
        </p:txBody>
      </p:sp>
      <p:sp>
        <p:nvSpPr>
          <p:cNvPr id="41" name="Rounded Rectangle 40"/>
          <p:cNvSpPr/>
          <p:nvPr/>
        </p:nvSpPr>
        <p:spPr>
          <a:xfrm>
            <a:off x="9663379" y="4069080"/>
            <a:ext cx="1830628" cy="1188720"/>
          </a:xfrm>
          <a:prstGeom prst="roundRect">
            <a:avLst/>
          </a:prstGeom>
          <a:solidFill>
            <a:srgbClr val="FFFFFF"/>
          </a:solidFill>
          <a:ln w="15240">
            <a:solidFill>
              <a:srgbClr val="C77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36531" y="4142232"/>
            <a:ext cx="1684324" cy="1042416"/>
          </a:xfrm>
          <a:prstGeom prst="rect">
            <a:avLst/>
          </a:prstGeom>
          <a:noFill/>
        </p:spPr>
        <p:txBody>
          <a:bodyPr wrap="square" anchor="ctr" lIns="73152" rIns="73152" tIns="73152" bIns="73152">
            <a:spAutoFit/>
          </a:bodyPr>
          <a:lstStyle/>
          <a:p>
            <a:pPr algn="ctr"/>
            <a:r>
              <a:rPr sz="1300" b="1">
                <a:solidFill>
                  <a:srgbClr val="161B26"/>
                </a:solidFill>
                <a:latin typeface="Arial"/>
              </a:rPr>
              <a:t>Answer in chat</a:t>
            </a:r>
          </a:p>
        </p:txBody>
      </p:sp>
      <p:sp>
        <p:nvSpPr>
          <p:cNvPr id="43" name="TextBox 42"/>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73</a:t>
            </a:r>
          </a:p>
        </p:txBody>
      </p:sp>
    </p:spTree>
    <p:extLst>
      <p:ext uri="{BB962C8B-B14F-4D97-AF65-F5344CB8AC3E}">
        <p14:creationId xmlns:p14="http://schemas.microsoft.com/office/powerpoint/2010/main" val="407574008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2DF2F9-984B-A755-BAA7-933929938195}"/>
              </a:ext>
            </a:extLst>
          </p:cNvPr>
          <p:cNvSpPr>
            <a:spLocks noGrp="1"/>
          </p:cNvSpPr>
          <p:nvPr>
            <p:ph type="title"/>
          </p:nvPr>
        </p:nvSpPr>
        <p:spPr/>
        <p:txBody>
          <a:bodyPr/>
          <a:lstStyle/>
          <a:p>
            <a:r>
              <a:rPr lang="en-US"/>
              <a:t>What You Can Automate Next</a:t>
            </a:r>
          </a:p>
        </p:txBody>
      </p:sp>
      <p:sp>
        <p:nvSpPr>
          <p:cNvPr id="3" name="Content Placeholder 2">
            <a:extLst>
              <a:ext uri="{FF2B5EF4-FFF2-40B4-BE49-F238E27FC236}">
                <a16:creationId xmlns:a16="http://schemas.microsoft.com/office/drawing/2014/main" id="{5CCF4860-8303-9DF0-5924-44910D4B4C5F}"/>
              </a:ext>
            </a:extLst>
          </p:cNvPr>
          <p:cNvSpPr>
            <a:spLocks noGrp="1"/>
          </p:cNvSpPr>
          <p:nvPr>
            <p:ph idx="1"/>
          </p:nvPr>
        </p:nvSpPr>
        <p:spPr/>
        <p:txBody>
          <a:bodyPr>
            <a:normAutofit/>
          </a:bodyPr>
          <a:lstStyle/>
          <a:p>
            <a:r>
              <a:rPr lang="en-US" sz="1800"/>
              <a:t>Onboarding: new-hire checklists and welcome emails
Reporting: scheduled data pulls and summaries
Helpdesk: triage and route incoming requests
Document handling: filing, approvals and reminders
Anywhere people copy data or chase approvals by hand</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extLst>
      <p:ext uri="{BB962C8B-B14F-4D97-AF65-F5344CB8AC3E}">
        <p14:creationId xmlns:p14="http://schemas.microsoft.com/office/powerpoint/2010/main" val="405735589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9BD2-2DB5-77C8-285D-9067CB1F67DF}"/>
              </a:ext>
            </a:extLst>
          </p:cNvPr>
          <p:cNvSpPr>
            <a:spLocks noGrp="1"/>
          </p:cNvSpPr>
          <p:nvPr>
            <p:ph type="title"/>
          </p:nvPr>
        </p:nvSpPr>
        <p:spPr/>
        <p:txBody>
          <a:bodyPr/>
          <a:lstStyle/>
          <a:p>
            <a:r>
              <a:rPr lang="en-US"/>
              <a:t>Common Pitfalls to Avoid</a:t>
            </a:r>
          </a:p>
        </p:txBody>
      </p:sp>
      <p:sp>
        <p:nvSpPr>
          <p:cNvPr id="3" name="Content Placeholder 2">
            <a:extLst>
              <a:ext uri="{FF2B5EF4-FFF2-40B4-BE49-F238E27FC236}">
                <a16:creationId xmlns:a16="http://schemas.microsoft.com/office/drawing/2014/main" id="{C26A95F9-E88D-D0F4-A860-1BA06E232A45}"/>
              </a:ext>
            </a:extLst>
          </p:cNvPr>
          <p:cNvSpPr>
            <a:spLocks noGrp="1"/>
          </p:cNvSpPr>
          <p:nvPr>
            <p:ph idx="1"/>
          </p:nvPr>
        </p:nvSpPr>
        <p:spPr/>
        <p:txBody>
          <a:bodyPr>
            <a:normAutofit/>
          </a:bodyPr>
          <a:lstStyle/>
          <a:p>
            <a:r>
              <a:rPr lang="en-US" sz="1800"/>
              <a:t>Automating a broken process — fix the process first
Trying to build everything in one giant flow
Skipping tests, then surprises in production
No error handling — failures go unnoticed
Vague agent prompts that return inconsistent data</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extLst>
      <p:ext uri="{BB962C8B-B14F-4D97-AF65-F5344CB8AC3E}">
        <p14:creationId xmlns:p14="http://schemas.microsoft.com/office/powerpoint/2010/main" val="17879579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9970F-766C-166A-5620-4126F34ABFF3}"/>
              </a:ext>
            </a:extLst>
          </p:cNvPr>
          <p:cNvSpPr>
            <a:spLocks noGrp="1"/>
          </p:cNvSpPr>
          <p:nvPr>
            <p:ph type="title"/>
          </p:nvPr>
        </p:nvSpPr>
        <p:spPr/>
        <p:txBody>
          <a:bodyPr/>
          <a:lstStyle/>
          <a:p>
            <a:r>
              <a:rPr lang="en-US"/>
              <a:t>Common Errors &amp; Quick Fixes</a:t>
            </a:r>
          </a:p>
        </p:txBody>
      </p:sp>
      <p:sp>
        <p:nvSpPr>
          <p:cNvPr id="3" name="Content Placeholder 2">
            <a:extLst>
              <a:ext uri="{FF2B5EF4-FFF2-40B4-BE49-F238E27FC236}">
                <a16:creationId xmlns:a16="http://schemas.microsoft.com/office/drawing/2014/main" id="{98BCE675-06D6-7CA1-31B0-216798C26704}"/>
              </a:ext>
            </a:extLst>
          </p:cNvPr>
          <p:cNvSpPr>
            <a:spLocks noGrp="1"/>
          </p:cNvSpPr>
          <p:nvPr>
            <p:ph idx="1"/>
          </p:nvPr>
        </p:nvSpPr>
        <p:spPr/>
        <p:txBody>
          <a:bodyPr>
            <a:normAutofit/>
          </a:bodyPr>
          <a:lstStyle/>
          <a:p>
            <a:r>
              <a:rPr lang="en-US" sz="1800"/>
              <a:t>“Unauthorized” sending email — reconnect Outlook with a mailbox-enabled account
Approval ‘valid users’ error — pick the approver from the dropdown (a real user in your tenant)
Date shows literal utcNow() — enter it via the fx / Expression editor so it becomes a token
Excel cell shows ######## — the column is just too narrow; auto-fit it
Unwanted ‘For each’, or agent can’t see its flow — use single-value fields; same environment in both tools</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extLst>
      <p:ext uri="{BB962C8B-B14F-4D97-AF65-F5344CB8AC3E}">
        <p14:creationId xmlns:p14="http://schemas.microsoft.com/office/powerpoint/2010/main" val="20836445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2B063-FE71-8DB0-46FB-13E6AB1CEA40}"/>
              </a:ext>
            </a:extLst>
          </p:cNvPr>
          <p:cNvSpPr>
            <a:spLocks noGrp="1"/>
          </p:cNvSpPr>
          <p:nvPr>
            <p:ph type="title"/>
          </p:nvPr>
        </p:nvSpPr>
        <p:spPr/>
        <p:txBody>
          <a:bodyPr/>
          <a:lstStyle/>
          <a:p>
            <a:r>
              <a:rPr lang="en-US"/>
              <a:t>Governance &amp; Security Basics</a:t>
            </a:r>
          </a:p>
        </p:txBody>
      </p:sp>
      <p:sp>
        <p:nvSpPr>
          <p:cNvPr id="3" name="Content Placeholder 2">
            <a:extLst>
              <a:ext uri="{FF2B5EF4-FFF2-40B4-BE49-F238E27FC236}">
                <a16:creationId xmlns:a16="http://schemas.microsoft.com/office/drawing/2014/main" id="{45B09298-679E-BC7E-0C15-59E0B78D509B}"/>
              </a:ext>
            </a:extLst>
          </p:cNvPr>
          <p:cNvSpPr>
            <a:spLocks noGrp="1"/>
          </p:cNvSpPr>
          <p:nvPr>
            <p:ph idx="1"/>
          </p:nvPr>
        </p:nvSpPr>
        <p:spPr/>
        <p:txBody>
          <a:bodyPr>
            <a:normAutofit/>
          </a:bodyPr>
          <a:lstStyle/>
          <a:p>
            <a:r>
              <a:rPr lang="en-US" sz="1800"/>
              <a:t>Use connections and permissions you're authorised to use
Keep sensitive data out of emails and logs where possible
Follow your organisation's data and approval policies
Document what each flow does and who owns it
Review and retire flows that are no longer needed</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extLst>
      <p:ext uri="{BB962C8B-B14F-4D97-AF65-F5344CB8AC3E}">
        <p14:creationId xmlns:p14="http://schemas.microsoft.com/office/powerpoint/2010/main" val="226233578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9F0DE-8506-42F9-AD61-C1755B9C6456}"/>
              </a:ext>
            </a:extLst>
          </p:cNvPr>
          <p:cNvSpPr>
            <a:spLocks noGrp="1"/>
          </p:cNvSpPr>
          <p:nvPr>
            <p:ph type="title"/>
          </p:nvPr>
        </p:nvSpPr>
        <p:spPr/>
        <p:txBody>
          <a:bodyPr/>
          <a:lstStyle/>
          <a:p>
            <a:r>
              <a:rPr lang="en-US"/>
              <a:t>Rolling This Out at Work</a:t>
            </a:r>
          </a:p>
        </p:txBody>
      </p:sp>
      <p:sp>
        <p:nvSpPr>
          <p:cNvPr id="3" name="Content Placeholder 2">
            <a:extLst>
              <a:ext uri="{FF2B5EF4-FFF2-40B4-BE49-F238E27FC236}">
                <a16:creationId xmlns:a16="http://schemas.microsoft.com/office/drawing/2014/main" id="{A5D77EA5-6EF6-BB98-A2E2-5494A12ADFAD}"/>
              </a:ext>
            </a:extLst>
          </p:cNvPr>
          <p:cNvSpPr>
            <a:spLocks noGrp="1"/>
          </p:cNvSpPr>
          <p:nvPr>
            <p:ph idx="1"/>
          </p:nvPr>
        </p:nvSpPr>
        <p:spPr/>
        <p:txBody>
          <a:bodyPr>
            <a:normAutofit/>
          </a:bodyPr>
          <a:lstStyle/>
          <a:p>
            <a:r>
              <a:rPr lang="en-US" sz="1800"/>
              <a:t>Pick one painful, repetitive task to automate first
Prove the value, then share the win with your team
Build a small library of reusable flows and agents
Involve the people who do the work in the design
Iterate — improve flows as needs change</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extLst>
      <p:ext uri="{BB962C8B-B14F-4D97-AF65-F5344CB8AC3E}">
        <p14:creationId xmlns:p14="http://schemas.microsoft.com/office/powerpoint/2010/main" val="191796255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135331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47472"/>
            <a:ext cx="10789920" cy="256032"/>
          </a:xfrm>
          <a:prstGeom prst="rect">
            <a:avLst/>
          </a:prstGeom>
          <a:noFill/>
        </p:spPr>
        <p:txBody>
          <a:bodyPr wrap="square" anchor="ctr" lIns="73152" rIns="73152" tIns="73152" bIns="73152">
            <a:spAutoFit/>
          </a:bodyPr>
          <a:lstStyle/>
          <a:p>
            <a:pPr algn="l"/>
            <a:r>
              <a:rPr sz="1200" b="1">
                <a:solidFill>
                  <a:srgbClr val="1F6FEB"/>
                </a:solidFill>
                <a:latin typeface="Arial"/>
              </a:rPr>
              <a:t>FROM FLOW MAKER TO AGENT BUILDER</a:t>
            </a:r>
          </a:p>
        </p:txBody>
      </p:sp>
      <p:sp>
        <p:nvSpPr>
          <p:cNvPr id="4" name="TextBox 3"/>
          <p:cNvSpPr txBox="1"/>
          <p:nvPr/>
        </p:nvSpPr>
        <p:spPr>
          <a:xfrm>
            <a:off x="658368" y="658368"/>
            <a:ext cx="10789920" cy="566928"/>
          </a:xfrm>
          <a:prstGeom prst="rect">
            <a:avLst/>
          </a:prstGeom>
          <a:noFill/>
        </p:spPr>
        <p:txBody>
          <a:bodyPr wrap="square" anchor="ctr" lIns="73152" rIns="73152" tIns="73152" bIns="73152">
            <a:spAutoFit/>
          </a:bodyPr>
          <a:lstStyle/>
          <a:p>
            <a:pPr algn="l"/>
            <a:r>
              <a:rPr sz="2900" b="1">
                <a:solidFill>
                  <a:srgbClr val="161B26"/>
                </a:solidFill>
                <a:latin typeface="Arial"/>
              </a:rPr>
              <a:t>Course Recap — The Big Picture</a:t>
            </a:r>
          </a:p>
        </p:txBody>
      </p:sp>
      <p:sp>
        <p:nvSpPr>
          <p:cNvPr id="5" name="Rectangle 4"/>
          <p:cNvSpPr/>
          <p:nvPr/>
        </p:nvSpPr>
        <p:spPr>
          <a:xfrm>
            <a:off x="658368" y="1371600"/>
            <a:ext cx="10835640" cy="13716"/>
          </a:xfrm>
          <a:prstGeom prst="rect">
            <a:avLst/>
          </a:prstGeom>
          <a:solidFill>
            <a:srgbClr val="D7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691640"/>
            <a:ext cx="3246120" cy="42976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91640"/>
            <a:ext cx="82296" cy="4297680"/>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92808"/>
            <a:ext cx="457200" cy="457200"/>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9280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1</a:t>
            </a:r>
          </a:p>
        </p:txBody>
      </p:sp>
      <p:sp>
        <p:nvSpPr>
          <p:cNvPr id="10" name="TextBox 9"/>
          <p:cNvSpPr txBox="1"/>
          <p:nvPr/>
        </p:nvSpPr>
        <p:spPr>
          <a:xfrm>
            <a:off x="1426464" y="1837944"/>
            <a:ext cx="2286000" cy="411480"/>
          </a:xfrm>
          <a:prstGeom prst="rect">
            <a:avLst/>
          </a:prstGeom>
          <a:noFill/>
        </p:spPr>
        <p:txBody>
          <a:bodyPr wrap="square" anchor="ctr" lIns="73152" rIns="73152" tIns="73152" bIns="73152">
            <a:spAutoFit/>
          </a:bodyPr>
          <a:lstStyle/>
          <a:p>
            <a:pPr algn="l"/>
            <a:r>
              <a:rPr sz="1700" b="1">
                <a:solidFill>
                  <a:srgbClr val="1F6FEB"/>
                </a:solidFill>
                <a:latin typeface="Arial"/>
              </a:rPr>
              <a:t>1 — Automate</a:t>
            </a:r>
          </a:p>
        </p:txBody>
      </p:sp>
      <p:sp>
        <p:nvSpPr>
          <p:cNvPr id="11" name="TextBox 10"/>
          <p:cNvSpPr txBox="1"/>
          <p:nvPr/>
        </p:nvSpPr>
        <p:spPr>
          <a:xfrm>
            <a:off x="914400" y="2331720"/>
            <a:ext cx="2770632" cy="3547872"/>
          </a:xfrm>
          <a:prstGeom prst="rect">
            <a:avLst/>
          </a:prstGeom>
          <a:noFill/>
        </p:spPr>
        <p:txBody>
          <a:bodyPr wrap="square" anchor="ctr" lIns="73152" rIns="73152" tIns="73152" bIns="73152">
            <a:spAutoFit/>
          </a:bodyPr>
          <a:lstStyle/>
          <a:p>
            <a:pPr algn="l"/>
            <a:r>
              <a:rPr sz="1700" b="0">
                <a:solidFill>
                  <a:srgbClr val="5B6372"/>
                </a:solidFill>
                <a:latin typeface="Arial"/>
              </a:rPr>
              <a:t>Instant
Scheduled
Automated
Approval
HTTP</a:t>
            </a:r>
          </a:p>
        </p:txBody>
      </p:sp>
      <p:sp>
        <p:nvSpPr>
          <p:cNvPr id="12" name="Chevron 11"/>
          <p:cNvSpPr/>
          <p:nvPr/>
        </p:nvSpPr>
        <p:spPr>
          <a:xfrm>
            <a:off x="4087368" y="3429000"/>
            <a:ext cx="530352" cy="457200"/>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1691640"/>
            <a:ext cx="3246120" cy="42976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09160" y="1691640"/>
            <a:ext cx="82296" cy="4297680"/>
          </a:xfrm>
          <a:prstGeom prst="rect">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910328" y="1892808"/>
            <a:ext cx="457200" cy="457200"/>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10328" y="189280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2</a:t>
            </a:r>
          </a:p>
        </p:txBody>
      </p:sp>
      <p:sp>
        <p:nvSpPr>
          <p:cNvPr id="17" name="TextBox 16"/>
          <p:cNvSpPr txBox="1"/>
          <p:nvPr/>
        </p:nvSpPr>
        <p:spPr>
          <a:xfrm>
            <a:off x="5477256" y="1837944"/>
            <a:ext cx="2286000" cy="411480"/>
          </a:xfrm>
          <a:prstGeom prst="rect">
            <a:avLst/>
          </a:prstGeom>
          <a:noFill/>
        </p:spPr>
        <p:txBody>
          <a:bodyPr wrap="square" anchor="ctr" lIns="73152" rIns="73152" tIns="73152" bIns="73152">
            <a:spAutoFit/>
          </a:bodyPr>
          <a:lstStyle/>
          <a:p>
            <a:pPr algn="l"/>
            <a:r>
              <a:rPr sz="1700" b="1">
                <a:solidFill>
                  <a:srgbClr val="6D3FD2"/>
                </a:solidFill>
                <a:latin typeface="Arial"/>
              </a:rPr>
              <a:t>2 — Add the agent</a:t>
            </a:r>
          </a:p>
        </p:txBody>
      </p:sp>
      <p:sp>
        <p:nvSpPr>
          <p:cNvPr id="18" name="TextBox 17"/>
          <p:cNvSpPr txBox="1"/>
          <p:nvPr/>
        </p:nvSpPr>
        <p:spPr>
          <a:xfrm>
            <a:off x="4965192" y="2331720"/>
            <a:ext cx="2770632" cy="3547872"/>
          </a:xfrm>
          <a:prstGeom prst="rect">
            <a:avLst/>
          </a:prstGeom>
          <a:noFill/>
        </p:spPr>
        <p:txBody>
          <a:bodyPr wrap="square" anchor="ctr" lIns="73152" rIns="73152" tIns="73152" bIns="73152">
            <a:spAutoFit/>
          </a:bodyPr>
          <a:lstStyle/>
          <a:p>
            <a:pPr algn="l"/>
            <a:r>
              <a:rPr sz="1700" b="0">
                <a:solidFill>
                  <a:srgbClr val="5B6372"/>
                </a:solidFill>
                <a:latin typeface="Arial"/>
              </a:rPr>
              <a:t>Instructions
RAG knowledge
Teams + website
Confirmed inputs</a:t>
            </a:r>
          </a:p>
        </p:txBody>
      </p:sp>
      <p:sp>
        <p:nvSpPr>
          <p:cNvPr id="19" name="Chevron 18"/>
          <p:cNvSpPr/>
          <p:nvPr/>
        </p:nvSpPr>
        <p:spPr>
          <a:xfrm>
            <a:off x="8138160" y="3429000"/>
            <a:ext cx="530352" cy="457200"/>
          </a:xfrm>
          <a:prstGeom prst="chevron">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759952" y="1691640"/>
            <a:ext cx="2743200" cy="4297680"/>
          </a:xfrm>
          <a:prstGeom prst="roundRect">
            <a:avLst/>
          </a:prstGeom>
          <a:solidFill>
            <a:srgbClr val="F5F8FC"/>
          </a:solidFill>
          <a:ln w="15240">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59952" y="1691640"/>
            <a:ext cx="82296" cy="4297680"/>
          </a:xfrm>
          <a:prstGeom prst="rect">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961120" y="1892808"/>
            <a:ext cx="457200" cy="45720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0" y="1892808"/>
            <a:ext cx="457200" cy="457200"/>
          </a:xfrm>
          <a:prstGeom prst="rect">
            <a:avLst/>
          </a:prstGeom>
          <a:noFill/>
        </p:spPr>
        <p:txBody>
          <a:bodyPr wrap="square" anchor="ctr" lIns="73152" rIns="73152" tIns="73152" bIns="73152">
            <a:spAutoFit/>
          </a:bodyPr>
          <a:lstStyle/>
          <a:p>
            <a:pPr algn="ctr"/>
            <a:r>
              <a:rPr sz="1600" b="1">
                <a:solidFill>
                  <a:srgbClr val="FFFFFF"/>
                </a:solidFill>
                <a:latin typeface="Arial"/>
              </a:rPr>
              <a:t>3</a:t>
            </a:r>
          </a:p>
        </p:txBody>
      </p:sp>
      <p:sp>
        <p:nvSpPr>
          <p:cNvPr id="24" name="TextBox 23"/>
          <p:cNvSpPr txBox="1"/>
          <p:nvPr/>
        </p:nvSpPr>
        <p:spPr>
          <a:xfrm>
            <a:off x="9528048" y="1837944"/>
            <a:ext cx="1783080" cy="411480"/>
          </a:xfrm>
          <a:prstGeom prst="rect">
            <a:avLst/>
          </a:prstGeom>
          <a:noFill/>
        </p:spPr>
        <p:txBody>
          <a:bodyPr wrap="square" anchor="ctr" lIns="73152" rIns="73152" tIns="73152" bIns="73152">
            <a:spAutoFit/>
          </a:bodyPr>
          <a:lstStyle/>
          <a:p>
            <a:pPr algn="l"/>
            <a:r>
              <a:rPr sz="1700" b="1">
                <a:solidFill>
                  <a:srgbClr val="16845B"/>
                </a:solidFill>
                <a:latin typeface="Arial"/>
              </a:rPr>
              <a:t>3 — Let it act</a:t>
            </a:r>
          </a:p>
        </p:txBody>
      </p:sp>
      <p:sp>
        <p:nvSpPr>
          <p:cNvPr id="25" name="TextBox 24"/>
          <p:cNvSpPr txBox="1"/>
          <p:nvPr/>
        </p:nvSpPr>
        <p:spPr>
          <a:xfrm>
            <a:off x="9015984" y="2331720"/>
            <a:ext cx="2267712" cy="3547872"/>
          </a:xfrm>
          <a:prstGeom prst="rect">
            <a:avLst/>
          </a:prstGeom>
          <a:noFill/>
        </p:spPr>
        <p:txBody>
          <a:bodyPr wrap="square" anchor="ctr" lIns="73152" rIns="73152" tIns="73152" bIns="73152">
            <a:spAutoFit/>
          </a:bodyPr>
          <a:lstStyle/>
          <a:p>
            <a:pPr algn="l"/>
            <a:r>
              <a:rPr sz="1700" b="0">
                <a:solidFill>
                  <a:srgbClr val="5B6372"/>
                </a:solidFill>
                <a:latin typeface="Arial"/>
              </a:rPr>
              <a:t>Agent flow
Prompt flow
Guardrails
Returned result</a:t>
            </a:r>
          </a:p>
        </p:txBody>
      </p:sp>
      <p:sp>
        <p:nvSpPr>
          <p:cNvPr id="26" name="TextBox 25"/>
          <p:cNvSpPr txBox="1"/>
          <p:nvPr/>
        </p:nvSpPr>
        <p:spPr>
          <a:xfrm>
            <a:off x="658368" y="6492240"/>
            <a:ext cx="10835640" cy="182880"/>
          </a:xfrm>
          <a:prstGeom prst="rect">
            <a:avLst/>
          </a:prstGeom>
          <a:noFill/>
        </p:spPr>
        <p:txBody>
          <a:bodyPr wrap="square" anchor="ctr" lIns="73152" rIns="73152" tIns="73152" bIns="73152">
            <a:spAutoFit/>
          </a:bodyPr>
          <a:lstStyle/>
          <a:p>
            <a:pPr algn="r"/>
            <a:r>
              <a:rPr sz="800" b="0">
                <a:solidFill>
                  <a:srgbClr val="5B6372"/>
                </a:solidFill>
                <a:latin typeface="Arial"/>
              </a:rPr>
              <a:t>Business Process Automation with Power Automate and Copilot Studio Agents   |   79</a:t>
            </a:r>
          </a:p>
        </p:txBody>
      </p:sp>
    </p:spTree>
    <p:extLst>
      <p:ext uri="{BB962C8B-B14F-4D97-AF65-F5344CB8AC3E}">
        <p14:creationId xmlns:p14="http://schemas.microsoft.com/office/powerpoint/2010/main" val="276664841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056BF-B5B7-F33E-DEEB-DC95C630F1F1}"/>
              </a:ext>
            </a:extLst>
          </p:cNvPr>
          <p:cNvSpPr>
            <a:spLocks noGrp="1"/>
          </p:cNvSpPr>
          <p:nvPr>
            <p:ph type="title"/>
          </p:nvPr>
        </p:nvSpPr>
        <p:spPr/>
        <p:txBody>
          <a:bodyPr/>
          <a:lstStyle/>
          <a:p>
            <a:r>
              <a:rPr lang="en-US"/>
              <a:t>Key Takeaways</a:t>
            </a:r>
          </a:p>
        </p:txBody>
      </p:sp>
      <p:sp>
        <p:nvSpPr>
          <p:cNvPr id="3" name="Content Placeholder 2">
            <a:extLst>
              <a:ext uri="{FF2B5EF4-FFF2-40B4-BE49-F238E27FC236}">
                <a16:creationId xmlns:a16="http://schemas.microsoft.com/office/drawing/2014/main" id="{1C9D97EE-B4BF-F57E-5A6F-E19E27A9B88B}"/>
              </a:ext>
            </a:extLst>
          </p:cNvPr>
          <p:cNvSpPr>
            <a:spLocks noGrp="1"/>
          </p:cNvSpPr>
          <p:nvPr>
            <p:ph idx="1"/>
          </p:nvPr>
        </p:nvSpPr>
        <p:spPr/>
        <p:txBody>
          <a:bodyPr>
            <a:normAutofit/>
          </a:bodyPr>
          <a:lstStyle/>
          <a:p>
            <a:r>
              <a:rPr lang="en-US" sz="1800"/>
              <a:t>Every workflow is Trigger → Actions → Output
Power Automate does the work; Copilot Studio adds the intelligence
Structured agent outputs make flows reliable
Orchestration turns steps into complete processes
Start small, test, and improve — then scale</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extLst>
      <p:ext uri="{BB962C8B-B14F-4D97-AF65-F5344CB8AC3E}">
        <p14:creationId xmlns:p14="http://schemas.microsoft.com/office/powerpoint/2010/main" val="23431137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49F80-0CCC-1E84-EF12-A7286325895B}"/>
              </a:ext>
            </a:extLst>
          </p:cNvPr>
          <p:cNvSpPr>
            <a:spLocks noGrp="1"/>
          </p:cNvSpPr>
          <p:nvPr>
            <p:ph type="title"/>
          </p:nvPr>
        </p:nvSpPr>
        <p:spPr/>
        <p:txBody>
          <a:bodyPr/>
          <a:lstStyle/>
          <a:p>
            <a:r>
              <a:rPr lang="en-US"/>
              <a:t>Resources &amp; Where to Go Next</a:t>
            </a:r>
          </a:p>
        </p:txBody>
      </p:sp>
      <p:sp>
        <p:nvSpPr>
          <p:cNvPr id="3" name="Content Placeholder 2">
            <a:extLst>
              <a:ext uri="{FF2B5EF4-FFF2-40B4-BE49-F238E27FC236}">
                <a16:creationId xmlns:a16="http://schemas.microsoft.com/office/drawing/2014/main" id="{60EAC2A6-1F1A-FD31-7E7A-A792B9661E72}"/>
              </a:ext>
            </a:extLst>
          </p:cNvPr>
          <p:cNvSpPr>
            <a:spLocks noGrp="1"/>
          </p:cNvSpPr>
          <p:nvPr>
            <p:ph idx="1"/>
          </p:nvPr>
        </p:nvSpPr>
        <p:spPr/>
        <p:txBody>
          <a:bodyPr>
            <a:normAutofit/>
          </a:bodyPr>
          <a:lstStyle/>
          <a:p>
            <a:r>
              <a:rPr lang="en-US" sz="1800"/>
              <a:t>make.powerautomate.com — build and manage your flows
copilotstudio.microsoft.com — create and publish agents
Microsoft Learn — free guided learning paths
Templates gallery — start from pre-built flows
Your community — share flows and patterns with colleagues</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extLst>
      <p:ext uri="{BB962C8B-B14F-4D97-AF65-F5344CB8AC3E}">
        <p14:creationId xmlns:p14="http://schemas.microsoft.com/office/powerpoint/2010/main" val="2032098328"/>
      </p:ext>
    </p:extLst>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Courseware &amp; Assessment on the LMS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a:solidFill>
                  <a:srgbClr val="161B26"/>
                </a:solidFill>
                <a:latin typeface="Arial"/>
              </a:rPr>
              <a:t>•  Download the slides and the Learner Guide from the LMS for the open-book assessment.</a:t>
            </a:r>
          </a:p>
          <a:p>
            <a:pPr>
              <a:spcAft>
                <a:spcPts val="1000"/>
              </a:spcAft>
            </a:pPr>
            <a:r>
              <a:rPr sz="1800">
                <a:solidFill>
                  <a:srgbClr val="161B26"/>
                </a:solidFill>
                <a:latin typeface="Arial"/>
              </a:rPr>
              <a:t>•  Portal: https://lms-tms.tertiaryinfotech.com/</a:t>
            </a:r>
          </a:p>
          <a:p>
            <a:pPr>
              <a:spcAft>
                <a:spcPts val="1000"/>
              </a:spcAft>
            </a:pPr>
            <a:r>
              <a:rPr sz="1800">
                <a:solidFill>
                  <a:srgbClr val="161B26"/>
                </a:solidFill>
                <a:latin typeface="Arial"/>
              </a:rPr>
              <a:t>•  Submit your Written Assessment and Practical Performance answers on the LMS.</a:t>
            </a:r>
          </a:p>
          <a:p>
            <a:pPr>
              <a:spcAft>
                <a:spcPts val="1000"/>
              </a:spcAft>
            </a:pPr>
            <a:r>
              <a:rPr sz="1800">
                <a:solidFill>
                  <a:srgbClr val="161B26"/>
                </a:solidFill>
                <a:latin typeface="Arial"/>
              </a:rPr>
              <a:t>•  Complete the TRAQOM survey via the QR code on the LMS.</a:t>
            </a:r>
          </a:p>
        </p:txBody>
      </p:sp>
      <p:sp>
        <p:nvSpPr>
          <p:cNvPr id="8" name="TextBox 7"/>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9" name="TextBox 8"/>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a:solidFill>
                  <a:srgbClr val="161B26"/>
                </a:solidFill>
                <a:latin typeface="Arial"/>
              </a:rPr>
              <a:t>•  Written Assessment (SAQ) — 1 hour. Practical Performance (PP) — 1 hour.</a:t>
            </a:r>
          </a:p>
          <a:p>
            <a:pPr>
              <a:spcAft>
                <a:spcPts val="1000"/>
              </a:spcAft>
            </a:pPr>
            <a:r>
              <a:rPr sz="1800">
                <a:solidFill>
                  <a:srgbClr val="161B26"/>
                </a:solidFill>
                <a:latin typeface="Arial"/>
              </a:rPr>
              <a:t>•  Open book: slides, Learner Guide and approved materials only.</a:t>
            </a:r>
          </a:p>
          <a:p>
            <a:pPr>
              <a:spcAft>
                <a:spcPts val="1000"/>
              </a:spcAft>
            </a:pPr>
            <a:r>
              <a:rPr sz="1800">
                <a:solidFill>
                  <a:srgbClr val="161B26"/>
                </a:solidFill>
                <a:latin typeface="Arial"/>
              </a:rPr>
              <a:t>•  Remember to take the Assessment digital attendance (TRAQOM).</a:t>
            </a:r>
          </a:p>
          <a:p>
            <a:pPr>
              <a:spcAft>
                <a:spcPts val="1000"/>
              </a:spcAft>
            </a:pPr>
            <a:r>
              <a:rPr sz="1800">
                <a:solidFill>
                  <a:srgbClr val="161B26"/>
                </a:solidFill>
                <a:latin typeface="Arial"/>
              </a:rPr>
              <a:t>•  Submit your completed answers on the LMS at https://lms-tms.tertiaryinfotech.com/.</a:t>
            </a:r>
          </a:p>
        </p:txBody>
      </p:sp>
      <p:sp>
        <p:nvSpPr>
          <p:cNvPr id="8" name="TextBox 7"/>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9" name="TextBox 8"/>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37" name="TextBox 36"/>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a:solidFill>
                  <a:srgbClr val="161B26"/>
                </a:solidFill>
                <a:latin typeface="Arial"/>
              </a:rPr>
              <a:t>•  It is mandatory to take the AM, PM and Assessment digital attendance for WSQ-funded courses.</a:t>
            </a:r>
          </a:p>
          <a:p>
            <a:pPr>
              <a:spcAft>
                <a:spcPts val="1000"/>
              </a:spcAft>
            </a:pPr>
            <a:r>
              <a:rPr sz="1800">
                <a:solidFill>
                  <a:srgbClr val="161B26"/>
                </a:solidFill>
                <a:latin typeface="Arial"/>
              </a:rPr>
              <a:t>•  The trainer/administrator displays the digital attendance QR code from the SSG portal.</a:t>
            </a:r>
          </a:p>
          <a:p>
            <a:pPr>
              <a:spcAft>
                <a:spcPts val="1000"/>
              </a:spcAft>
            </a:pPr>
            <a:r>
              <a:rPr sz="1800">
                <a:solidFill>
                  <a:srgbClr val="161B26"/>
                </a:solidFill>
                <a:latin typeface="Arial"/>
              </a:rPr>
              <a:t>•  Scan the QR code with your mobile phone camera and submit your attendance.</a:t>
            </a:r>
          </a:p>
          <a:p>
            <a:pPr>
              <a:spcAft>
                <a:spcPts val="1000"/>
              </a:spcAft>
            </a:pPr>
            <a:r>
              <a:rPr sz="1800">
                <a:solidFill>
                  <a:srgbClr val="161B26"/>
                </a:solidFill>
                <a:latin typeface="Arial"/>
              </a:rPr>
              <a:t>•  A minimum of 75% attendance is required to be eligible for assessment and funding.</a:t>
            </a:r>
          </a:p>
        </p:txBody>
      </p:sp>
      <p:sp>
        <p:nvSpPr>
          <p:cNvPr id="8" name="TextBox 7"/>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9" name="TextBox 8"/>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FF29D-2E00-A7A1-232C-5186174A1FA9}"/>
              </a:ext>
            </a:extLst>
          </p:cNvPr>
          <p:cNvSpPr>
            <a:spLocks noGrp="1"/>
          </p:cNvSpPr>
          <p:nvPr>
            <p:ph type="title"/>
          </p:nvPr>
        </p:nvSpPr>
        <p:spPr/>
        <p:txBody>
          <a:bodyPr/>
          <a:lstStyle/>
          <a:p>
            <a:r>
              <a:rPr lang="en-US"/>
              <a:t>Thank You</a:t>
            </a:r>
          </a:p>
        </p:txBody>
      </p:sp>
      <p:sp>
        <p:nvSpPr>
          <p:cNvPr id="3" name="Text Placeholder 2">
            <a:extLst>
              <a:ext uri="{FF2B5EF4-FFF2-40B4-BE49-F238E27FC236}">
                <a16:creationId xmlns:a16="http://schemas.microsoft.com/office/drawing/2014/main" id="{0E5E0239-BFD9-3216-03B0-6B956507258A}"/>
              </a:ext>
            </a:extLst>
          </p:cNvPr>
          <p:cNvSpPr>
            <a:spLocks noGrp="1"/>
          </p:cNvSpPr>
          <p:nvPr>
            <p:ph type="body" idx="1"/>
          </p:nvPr>
        </p:nvSpPr>
        <p:spPr/>
        <p:txBody>
          <a:bodyPr>
            <a:normAutofit/>
          </a:bodyPr>
          <a:lstStyle/>
          <a:p>
            <a:r>
              <a:rPr lang="en-US" sz="1800" b="1">
                <a:solidFill>
                  <a:srgbClr val="7C3AED"/>
                </a:solidFill>
              </a:rPr>
              <a:t>Now go automate something — questions welcome</a:t>
            </a:r>
          </a:p>
        </p:txBody>
      </p:sp>
      <p:sp>
        <p:nvSpPr>
          <p:cNvPr id="4" name="TextBox 3"/>
          <p:cNvSpPr txBox="1"/>
          <p:nvPr/>
        </p:nvSpPr>
        <p:spPr>
          <a:xfrm>
            <a:off x="365760" y="6473952"/>
            <a:ext cx="8412480" cy="292608"/>
          </a:xfrm>
          <a:prstGeom prst="rect">
            <a:avLst/>
          </a:prstGeom>
          <a:noFill/>
        </p:spPr>
        <p:txBody>
          <a:bodyPr wrap="square" anchor="t">
            <a:spAutoFit/>
          </a:bodyPr>
          <a:lstStyle/>
          <a:p>
            <a:pPr algn="l">
              <a:spcAft>
                <a:spcPts val="400"/>
              </a:spcAft>
            </a:pPr>
            <a:r>
              <a:rPr sz="900" b="0">
                <a:solidFill>
                  <a:srgbClr val="5B6372"/>
                </a:solidFill>
                <a:latin typeface="Arial"/>
              </a:rPr>
              <a:t>Business Process Automation with Power Automate &amp; Copilot Studio Agents  ·  TGS-2022017524  ·  © 2026 Tertiary Infotech Academy Pte Ltd</a:t>
            </a:r>
          </a:p>
        </p:txBody>
      </p:sp>
      <p:sp>
        <p:nvSpPr>
          <p:cNvPr id="5" name="TextBox 4"/>
          <p:cNvSpPr txBox="1"/>
          <p:nvPr/>
        </p:nvSpPr>
        <p:spPr>
          <a:xfrm>
            <a:off x="11292840" y="6473952"/>
            <a:ext cx="566928" cy="292608"/>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extLst>
      <p:ext uri="{BB962C8B-B14F-4D97-AF65-F5344CB8AC3E}">
        <p14:creationId xmlns:p14="http://schemas.microsoft.com/office/powerpoint/2010/main" val="3938712014"/>
      </p:ext>
    </p:extLst>
  </p:cSld>
  <p:clrMapOvr>
    <a:masterClrMapping/>
  </p:clrMapOvr>
</p:sld>
</file>

<file path=ppt/theme/theme1.xml><?xml version="1.0" encoding="utf-8"?>
<a:theme xmlns:a="http://schemas.openxmlformats.org/drawingml/2006/main" name="Office Theme [1782148472114]">
  <a:themeElements>
    <a:clrScheme name="Office">
      <a:dk1>
        <a:srgbClr val="1B1B2F"/>
      </a:dk1>
      <a:lt1>
        <a:srgbClr val="FFFFFF"/>
      </a:lt1>
      <a:dk2>
        <a:srgbClr val="2B2B40"/>
      </a:dk2>
      <a:lt2>
        <a:srgbClr val="F3F5FB"/>
      </a:lt2>
      <a:accent1>
        <a:srgbClr val="2563EB"/>
      </a:accent1>
      <a:accent2>
        <a:srgbClr val="7C3AED"/>
      </a:accent2>
      <a:accent3>
        <a:srgbClr val="06B6D4"/>
      </a:accent3>
      <a:accent4>
        <a:srgbClr val="DB2777"/>
      </a:accent4>
      <a:accent5>
        <a:srgbClr val="10B981"/>
      </a:accent5>
      <a:accent6>
        <a:srgbClr val="F59E0B"/>
      </a:accent6>
      <a:hlink>
        <a:srgbClr val="467886"/>
      </a:hlink>
      <a:folHlink>
        <a:srgbClr val="96607D"/>
      </a:folHlink>
    </a:clrScheme>
    <a:fontScheme name="Office">
      <a:majorFont>
        <a:latin typeface="Segoe UI Semibold"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DDBB792-EE95-D44E-9920-6DFB61B67727}">
  <we:reference id="WA200010001" version="1.0.0.1" store="Omex" storeType="OMEX"/>
  <we:alternateReferences>
    <we:reference id="WA200010001" version="1.0.0.1" store="WA200010001" storeType="OMEX"/>
  </we:alternateReferences>
  <we:properties>
    <we:property name="claude.fileId" value="&quot;e129c31c-d639-492d-b1a1-2a7d8dffa55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1529</TotalTime>
  <Words>4806</Words>
  <Application>Microsoft Macintosh PowerPoint</Application>
  <PresentationFormat>Widescreen</PresentationFormat>
  <Paragraphs>225</Paragraphs>
  <Slides>87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87</vt:i4>
      </vt:variant>
    </vt:vector>
  </HeadingPairs>
  <TitlesOfParts>
    <vt:vector size="91" baseType="lpstr">
      <vt:lpstr>Arial</vt:lpstr>
      <vt:lpstr>Segoe UI</vt:lpstr>
      <vt:lpstr>Segoe UI Semibold</vt:lpstr>
      <vt:lpstr>Office Theme [1782148472114]</vt:lpstr>
      <vt:lpstr>Microsoft Copilot Studio &amp; Power Automate</vt:lpstr>
      <vt:lpstr>What You'll Learn</vt:lpstr>
      <vt:lpstr>Your 3-Day Journey</vt:lpstr>
      <vt:lpstr>How This Course Works</vt:lpstr>
      <vt:lpstr>Day 1 — Foundations &amp; Power Automate</vt:lpstr>
      <vt:lpstr>Module 1 · Introduction to Workflow Automation</vt:lpstr>
      <vt:lpstr>What Is Business Workflow Automation?</vt:lpstr>
      <vt:lpstr>Why Automate?</vt:lpstr>
      <vt:lpstr>Manual Process vs. Automated Workflow</vt:lpstr>
      <vt:lpstr>Standalone Agents vs. Integrated Workflows</vt:lpstr>
      <vt:lpstr>Introduction to Workflow Logic</vt:lpstr>
      <vt:lpstr>Triggers — What Starts a Workflow</vt:lpstr>
      <vt:lpstr>Actions — What the Workflow Does</vt:lpstr>
      <vt:lpstr>Outputs — The Result</vt:lpstr>
      <vt:lpstr>Workflow Steps — Putting It Together</vt:lpstr>
      <vt:lpstr>Anatomy of a Workflow</vt:lpstr>
      <vt:lpstr>Module 1 Recap</vt:lpstr>
      <vt:lpstr>Module 2 · Introduction to Power Automate</vt:lpstr>
      <vt:lpstr>Overview of Power Automate</vt:lpstr>
      <vt:lpstr>Types of Flow</vt:lpstr>
      <vt:lpstr>The Maker Experience</vt:lpstr>
      <vt:lpstr>Common Triggers</vt:lpstr>
      <vt:lpstr>Trigger: Email Received</vt:lpstr>
      <vt:lpstr>Trigger: File Upload</vt:lpstr>
      <vt:lpstr>Trigger: Form Submission</vt:lpstr>
      <vt:lpstr>Creating Workflow Actions</vt:lpstr>
      <vt:lpstr>Action: Send Emails</vt:lpstr>
      <vt:lpstr>Action: Create Excel Entries</vt:lpstr>
      <vt:lpstr>Action: Notifications &amp; Approvals</vt:lpstr>
      <vt:lpstr>Connectors — Linking It All Together</vt:lpstr>
      <vt:lpstr>Hands-On Labs · Power Automate</vt:lpstr>
      <vt:lpstr>Lab 1 — Automated Email Workflow</vt:lpstr>
      <vt:lpstr>Lab 2 — Excel Data Logging Workflow</vt:lpstr>
      <vt:lpstr>Lab 3 — Simple Approval Workflow</vt:lpstr>
      <vt:lpstr>Day 1 Recap</vt:lpstr>
      <vt:lpstr>Day 2 — Building Business Agents with Copilot Studio</vt:lpstr>
      <vt:lpstr>Day 2 Roadmap</vt:lpstr>
      <vt:lpstr>Module 3 · Building Business Agents with Copilot Studio</vt:lpstr>
      <vt:lpstr>What Is Copilot Studio?</vt:lpstr>
      <vt:lpstr>The Copilot Studio Maker</vt:lpstr>
      <vt:lpstr>How an Agent Works</vt:lpstr>
      <vt:lpstr>What Makes a Good Business Agent</vt:lpstr>
      <vt:lpstr>Creating Practical Business Agents</vt:lpstr>
      <vt:lpstr>Prompt Design Fundamentals</vt:lpstr>
      <vt:lpstr>Prompt Design for Structured Outputs</vt:lpstr>
      <vt:lpstr>Structured Output Formats</vt:lpstr>
      <vt:lpstr>Example: A Structured Prompt</vt:lpstr>
      <vt:lpstr>Connecting Agents to Power Automate Flows</vt:lpstr>
      <vt:lpstr>Passing Outputs into Workflows</vt:lpstr>
      <vt:lpstr>Input and Output Mapping</vt:lpstr>
      <vt:lpstr>Best Practices for Agent + Flow</vt:lpstr>
      <vt:lpstr>How Agents and Power Automate Work Together</vt:lpstr>
      <vt:lpstr>Hands-On Labs · Copilot Studio</vt:lpstr>
      <vt:lpstr>Lab 4 — Sales Enquiry Assistant</vt:lpstr>
      <vt:lpstr>Lab 5 — Procurement Request Workflow</vt:lpstr>
      <vt:lpstr>Lab 6 — Automated Response Generation</vt:lpstr>
      <vt:lpstr>Testing &amp; Debugging Agents</vt:lpstr>
      <vt:lpstr>Day 2 Recap</vt:lpstr>
      <vt:lpstr>Day 3 — End-to-End Automation &amp; Workshop</vt:lpstr>
      <vt:lpstr>Module 4 · End-to-End Workflow Automation</vt:lpstr>
      <vt:lpstr>Agents + Power Automate, End to End</vt:lpstr>
      <vt:lpstr>Workflow Orchestration</vt:lpstr>
      <vt:lpstr>Orchestration Patterns</vt:lpstr>
      <vt:lpstr>Managing Outputs &amp; Next Steps</vt:lpstr>
      <vt:lpstr>Error Handling &amp; Monitoring</vt:lpstr>
      <vt:lpstr>Business Workflow Examples</vt:lpstr>
      <vt:lpstr>Example 1 — Email Enquiry → Excel → Notification</vt:lpstr>
      <vt:lpstr>Example 2 — Invoice Upload → Approval</vt:lpstr>
      <vt:lpstr>Example 3 — Purchase Request → Approval → Notification</vt:lpstr>
      <vt:lpstr>Module 4 Recap</vt:lpstr>
      <vt:lpstr>Module 5 · Business Workflow Workshop</vt:lpstr>
      <vt:lpstr>Workshop Overview</vt:lpstr>
      <vt:lpstr>How the Workshop Works</vt:lpstr>
      <vt:lpstr>Track A — Sales</vt:lpstr>
      <vt:lpstr>Track B — Finance</vt:lpstr>
      <vt:lpstr>Track C — Procurement</vt:lpstr>
      <vt:lpstr>Track D — Order Processing</vt:lpstr>
      <vt:lpstr>Build Guidelines &amp; Success Criteria</vt:lpstr>
      <vt:lpstr>Present &amp; Get Feedback</vt:lpstr>
      <vt:lpstr>What You Can Automate Next</vt:lpstr>
      <vt:lpstr>Common Pitfalls to Avoid</vt:lpstr>
      <vt:lpstr>Governance &amp; Security Basics</vt:lpstr>
      <vt:lpstr>Rolling This Out at Work</vt:lpstr>
      <vt:lpstr>Course Recap — The Big Picture</vt:lpstr>
      <vt:lpstr>Key Takeaways</vt:lpstr>
      <vt:lpstr>Resources &amp; Where to Go Next</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Tertiary Infotech Admin</dc:creator>
  <cp:lastModifiedBy>Tertiary Infotech Admin</cp:lastModifiedBy>
  <cp:revision>2</cp:revision>
  <dcterms:created xsi:type="dcterms:W3CDTF">2026-06-22T17:06:55Z</dcterms:created>
  <dcterms:modified xsi:type="dcterms:W3CDTF">2026-06-23T18:36:15Z</dcterms:modified>
</cp:coreProperties>
</file>