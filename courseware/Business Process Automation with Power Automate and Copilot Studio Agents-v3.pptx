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8" r:id="rId2"/>
    <p:sldId id="352" r:id="rId100"/>
    <p:sldId id="353" r:id="rId101"/>
    <p:sldId id="354" r:id="rId102"/>
    <p:sldId id="355" r:id="rId103"/>
    <p:sldId id="356" r:id="rId104"/>
    <p:sldId id="259" r:id="rId3"/>
    <p:sldId id="260" r:id="rId4"/>
    <p:sldId id="261" r:id="rId5"/>
    <p:sldId id="357" r:id="rId105"/>
    <p:sldId id="358" r:id="rId106"/>
    <p:sldId id="359" r:id="rId107"/>
    <p:sldId id="360" r:id="rId108"/>
    <p:sldId id="361" r:id="rId109"/>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345" r:id="rId93"/>
    <p:sldId id="346" r:id="rId94"/>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47" r:id="rId95"/>
    <p:sldId id="348" r:id="rId96"/>
    <p:sldId id="349" r:id="rId97"/>
    <p:sldId id="311" r:id="rId55"/>
    <p:sldId id="312" r:id="rId56"/>
    <p:sldId id="313" r:id="rId57"/>
    <p:sldId id="314" r:id="rId58"/>
    <p:sldId id="315" r:id="rId59"/>
    <p:sldId id="337" r:id="rId81"/>
    <p:sldId id="338" r:id="rId82"/>
    <p:sldId id="351" r:id="rId99"/>
    <p:sldId id="339" r:id="rId83"/>
    <p:sldId id="340" r:id="rId84"/>
    <p:sldId id="341" r:id="rId85"/>
    <p:sldId id="342" r:id="rId86"/>
    <p:sldId id="343" r:id="rId87"/>
    <p:sldId id="362" r:id="rId110"/>
    <p:sldId id="363" r:id="rId111"/>
    <p:sldId id="364" r:id="rId112"/>
    <p:sldId id="365" r:id="rId113"/>
    <p:sldId id="344"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51"/>
  </p:normalViewPr>
  <p:slideViewPr>
    <p:cSldViewPr snapToGrid="0">
      <p:cViewPr varScale="1">
        <p:scale>
          <a:sx n="90" d="100"/>
          <a:sy n="90" d="100"/>
        </p:scale>
        <p:origin x="216" y="7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7.xml"/><Relationship Id="rId4" Type="http://schemas.openxmlformats.org/officeDocument/2006/relationships/slide" Target="slides/slide8.xml"/><Relationship Id="rId5" Type="http://schemas.openxmlformats.org/officeDocument/2006/relationships/slide" Target="slides/slide9.xml"/><Relationship Id="rId6" Type="http://schemas.openxmlformats.org/officeDocument/2006/relationships/slide" Target="slides/slide15.xml"/><Relationship Id="rId7" Type="http://schemas.openxmlformats.org/officeDocument/2006/relationships/slide" Target="slides/slide16.xml"/><Relationship Id="rId8" Type="http://schemas.openxmlformats.org/officeDocument/2006/relationships/slide" Target="slides/slide17.xml"/><Relationship Id="rId9" Type="http://schemas.openxmlformats.org/officeDocument/2006/relationships/slide" Target="slides/slide18.xml"/><Relationship Id="rId10" Type="http://schemas.openxmlformats.org/officeDocument/2006/relationships/slide" Target="slides/slide19.xml"/><Relationship Id="rId11" Type="http://schemas.openxmlformats.org/officeDocument/2006/relationships/slide" Target="slides/slide20.xml"/><Relationship Id="rId12" Type="http://schemas.openxmlformats.org/officeDocument/2006/relationships/slide" Target="slides/slide21.xml"/><Relationship Id="rId13" Type="http://schemas.openxmlformats.org/officeDocument/2006/relationships/slide" Target="slides/slide22.xml"/><Relationship Id="rId14" Type="http://schemas.openxmlformats.org/officeDocument/2006/relationships/slide" Target="slides/slide23.xml"/><Relationship Id="rId15" Type="http://schemas.openxmlformats.org/officeDocument/2006/relationships/slide" Target="slides/slide24.xml"/><Relationship Id="rId16" Type="http://schemas.openxmlformats.org/officeDocument/2006/relationships/slide" Target="slides/slide25.xml"/><Relationship Id="rId17" Type="http://schemas.openxmlformats.org/officeDocument/2006/relationships/slide" Target="slides/slide26.xml"/><Relationship Id="rId18" Type="http://schemas.openxmlformats.org/officeDocument/2006/relationships/slide" Target="slides/slide27.xml"/><Relationship Id="rId19" Type="http://schemas.openxmlformats.org/officeDocument/2006/relationships/slide" Target="slides/slide28.xml"/><Relationship Id="rId20" Type="http://schemas.openxmlformats.org/officeDocument/2006/relationships/slide" Target="slides/slide29.xml"/><Relationship Id="rId21" Type="http://schemas.openxmlformats.org/officeDocument/2006/relationships/slide" Target="slides/slide30.xml"/><Relationship Id="rId22" Type="http://schemas.openxmlformats.org/officeDocument/2006/relationships/slide" Target="slides/slide31.xml"/><Relationship Id="rId23" Type="http://schemas.openxmlformats.org/officeDocument/2006/relationships/slide" Target="slides/slide32.xml"/><Relationship Id="rId24" Type="http://schemas.openxmlformats.org/officeDocument/2006/relationships/slide" Target="slides/slide33.xml"/><Relationship Id="rId25" Type="http://schemas.openxmlformats.org/officeDocument/2006/relationships/slide" Target="slides/slide34.xml"/><Relationship Id="rId26" Type="http://schemas.openxmlformats.org/officeDocument/2006/relationships/slide" Target="slides/slide35.xml"/><Relationship Id="rId27" Type="http://schemas.openxmlformats.org/officeDocument/2006/relationships/slide" Target="slides/slide36.xml"/><Relationship Id="rId28" Type="http://schemas.openxmlformats.org/officeDocument/2006/relationships/slide" Target="slides/slide37.xml"/><Relationship Id="rId29" Type="http://schemas.openxmlformats.org/officeDocument/2006/relationships/slide" Target="slides/slide38.xml"/><Relationship Id="rId30" Type="http://schemas.openxmlformats.org/officeDocument/2006/relationships/slide" Target="slides/slide39.xml"/><Relationship Id="rId31" Type="http://schemas.openxmlformats.org/officeDocument/2006/relationships/slide" Target="slides/slide40.xml"/><Relationship Id="rId32" Type="http://schemas.openxmlformats.org/officeDocument/2006/relationships/slide" Target="slides/slide41.xml"/><Relationship Id="rId33" Type="http://schemas.openxmlformats.org/officeDocument/2006/relationships/slide" Target="slides/slide42.xml"/><Relationship Id="rId34" Type="http://schemas.openxmlformats.org/officeDocument/2006/relationships/slide" Target="slides/slide43.xml"/><Relationship Id="rId35" Type="http://schemas.openxmlformats.org/officeDocument/2006/relationships/slide" Target="slides/slide44.xml"/><Relationship Id="rId36" Type="http://schemas.openxmlformats.org/officeDocument/2006/relationships/slide" Target="slides/slide47.xml"/><Relationship Id="rId37" Type="http://schemas.openxmlformats.org/officeDocument/2006/relationships/slide" Target="slides/slide48.xml"/><Relationship Id="rId38" Type="http://schemas.openxmlformats.org/officeDocument/2006/relationships/slide" Target="slides/slide49.xml"/><Relationship Id="rId39" Type="http://schemas.openxmlformats.org/officeDocument/2006/relationships/slide" Target="slides/slide50.xml"/><Relationship Id="rId40" Type="http://schemas.openxmlformats.org/officeDocument/2006/relationships/slide" Target="slides/slide51.xml"/><Relationship Id="rId41" Type="http://schemas.openxmlformats.org/officeDocument/2006/relationships/slide" Target="slides/slide52.xml"/><Relationship Id="rId42" Type="http://schemas.openxmlformats.org/officeDocument/2006/relationships/slide" Target="slides/slide53.xml"/><Relationship Id="rId43" Type="http://schemas.openxmlformats.org/officeDocument/2006/relationships/slide" Target="slides/slide54.xml"/><Relationship Id="rId44" Type="http://schemas.openxmlformats.org/officeDocument/2006/relationships/slide" Target="slides/slide55.xml"/><Relationship Id="rId45" Type="http://schemas.openxmlformats.org/officeDocument/2006/relationships/slide" Target="slides/slide56.xml"/><Relationship Id="rId46" Type="http://schemas.openxmlformats.org/officeDocument/2006/relationships/slide" Target="slides/slide57.xml"/><Relationship Id="rId47" Type="http://schemas.openxmlformats.org/officeDocument/2006/relationships/slide" Target="slides/slide58.xml"/><Relationship Id="rId48" Type="http://schemas.openxmlformats.org/officeDocument/2006/relationships/slide" Target="slides/slide59.xml"/><Relationship Id="rId49" Type="http://schemas.openxmlformats.org/officeDocument/2006/relationships/slide" Target="slides/slide60.xml"/><Relationship Id="rId50" Type="http://schemas.openxmlformats.org/officeDocument/2006/relationships/slide" Target="slides/slide61.xml"/><Relationship Id="rId51" Type="http://schemas.openxmlformats.org/officeDocument/2006/relationships/slide" Target="slides/slide62.xml"/><Relationship Id="rId52" Type="http://schemas.openxmlformats.org/officeDocument/2006/relationships/slide" Target="slides/slide63.xml"/><Relationship Id="rId53" Type="http://schemas.openxmlformats.org/officeDocument/2006/relationships/slide" Target="slides/slide64.xml"/><Relationship Id="rId54" Type="http://schemas.openxmlformats.org/officeDocument/2006/relationships/slide" Target="slides/slide65.xml"/><Relationship Id="rId55" Type="http://schemas.openxmlformats.org/officeDocument/2006/relationships/slide" Target="slides/slide69.xml"/><Relationship Id="rId56" Type="http://schemas.openxmlformats.org/officeDocument/2006/relationships/slide" Target="slides/slide70.xml"/><Relationship Id="rId57" Type="http://schemas.openxmlformats.org/officeDocument/2006/relationships/slide" Target="slides/slide71.xml"/><Relationship Id="rId58" Type="http://schemas.openxmlformats.org/officeDocument/2006/relationships/slide" Target="slides/slide72.xml"/><Relationship Id="rId59"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6.xml"/><Relationship Id="rId89" Type="http://schemas.openxmlformats.org/officeDocument/2006/relationships/presProps" Target="presProps.xml"/><Relationship Id="rId90" Type="http://schemas.openxmlformats.org/officeDocument/2006/relationships/viewProps" Target="viewProps.xml"/><Relationship Id="rId91" Type="http://schemas.openxmlformats.org/officeDocument/2006/relationships/theme" Target="theme/theme1.xml"/><Relationship Id="rId92" Type="http://schemas.openxmlformats.org/officeDocument/2006/relationships/tableStyles" Target="tableStyles.xml"/><Relationship Id="rId93" Type="http://schemas.openxmlformats.org/officeDocument/2006/relationships/slide" Target="slides/slide45.xml"/><Relationship Id="rId94" Type="http://schemas.openxmlformats.org/officeDocument/2006/relationships/slide" Target="slides/slide46.xml"/><Relationship Id="rId95" Type="http://schemas.openxmlformats.org/officeDocument/2006/relationships/slide" Target="slides/slide66.xml"/><Relationship Id="rId96" Type="http://schemas.openxmlformats.org/officeDocument/2006/relationships/slide" Target="slides/slide67.xml"/><Relationship Id="rId97" Type="http://schemas.openxmlformats.org/officeDocument/2006/relationships/slide" Target="slides/slide68.xml"/><Relationship Id="rId99" Type="http://schemas.openxmlformats.org/officeDocument/2006/relationships/slide" Target="slides/slide76.xml"/><Relationship Id="rId100" Type="http://schemas.openxmlformats.org/officeDocument/2006/relationships/slide" Target="slides/slide2.xml"/><Relationship Id="rId101" Type="http://schemas.openxmlformats.org/officeDocument/2006/relationships/slide" Target="slides/slide3.xml"/><Relationship Id="rId102" Type="http://schemas.openxmlformats.org/officeDocument/2006/relationships/slide" Target="slides/slide4.xml"/><Relationship Id="rId103" Type="http://schemas.openxmlformats.org/officeDocument/2006/relationships/slide" Target="slides/slide5.xml"/><Relationship Id="rId104" Type="http://schemas.openxmlformats.org/officeDocument/2006/relationships/slide" Target="slides/slide6.xml"/><Relationship Id="rId105" Type="http://schemas.openxmlformats.org/officeDocument/2006/relationships/slide" Target="slides/slide10.xml"/><Relationship Id="rId106" Type="http://schemas.openxmlformats.org/officeDocument/2006/relationships/slide" Target="slides/slide11.xml"/><Relationship Id="rId107" Type="http://schemas.openxmlformats.org/officeDocument/2006/relationships/slide" Target="slides/slide12.xml"/><Relationship Id="rId108" Type="http://schemas.openxmlformats.org/officeDocument/2006/relationships/slide" Target="slides/slide13.xml"/><Relationship Id="rId109" Type="http://schemas.openxmlformats.org/officeDocument/2006/relationships/slide" Target="slides/slide14.xml"/><Relationship Id="rId110" Type="http://schemas.openxmlformats.org/officeDocument/2006/relationships/slide" Target="slides/slide82.xml"/><Relationship Id="rId111" Type="http://schemas.openxmlformats.org/officeDocument/2006/relationships/slide" Target="slides/slide83.xml"/><Relationship Id="rId112" Type="http://schemas.openxmlformats.org/officeDocument/2006/relationships/slide" Target="slides/slide84.xml"/><Relationship Id="rId113" Type="http://schemas.openxmlformats.org/officeDocument/2006/relationships/slide" Target="slides/slide8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46D94-6626-3BFF-0A17-61948D6E3E7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7B82959-52E1-24EA-654D-899B4BD852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DCEC601-C670-DE5C-B4B0-7A9A0C1D1642}"/>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108A4546-02A5-E0E4-1B88-DDD5C23286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E49858-4AC1-6BEE-F28D-B259566E420C}"/>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296063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708F2-2494-FD25-40BA-7A458F90F92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F4D68CF-139A-1485-F8C3-1135EBA75DA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795C4C-F738-AC92-997B-00880EDFFFB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29EB43F1-EC25-F65B-2464-2BB178DDEA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8E87FA-9C49-DA04-2AEC-CE02D08448E7}"/>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824325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621AD-FA2B-E962-1895-0B829208A4E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E0FC836-5AF6-11F1-ABDC-F6A1CD4388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6EFEB5A-83F2-D22F-1013-D078D5F9884D}"/>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59D6E6E4-9057-95F7-57F5-42B4228D00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35C075-54A9-7B26-2083-EAEF01DE4751}"/>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4290151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CEEAB-96C8-B417-18FB-A71942AA246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DED5E33-F4BD-5B41-65F4-A233430D459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D030329-B6CA-2C59-7CE7-8211A389709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89AF930-D68C-D4BB-D655-76183CA60C3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33ED846B-938E-E072-48D2-C7D94D9591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ACB0EE-912C-A444-3339-E1B54EF3B27B}"/>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251528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72965-DF3B-ED3E-7532-71CC7BC907B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90DB5A2-A181-E7B2-6ED3-6A3E56EE46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67B1024-7DAF-4B66-9FB5-FC3C33D7311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8D5716D-854D-ACD7-D87B-1AF011AEDF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AD5961B-F921-8CBD-BC63-8FE4505D574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8E2C8CF-7AD9-FDC8-5CD5-04645E926AB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8" name="Footer Placeholder 7">
            <a:extLst>
              <a:ext uri="{FF2B5EF4-FFF2-40B4-BE49-F238E27FC236}">
                <a16:creationId xmlns:a16="http://schemas.microsoft.com/office/drawing/2014/main" id="{DC47C7EC-D94D-F23D-3AD7-F978DC38F0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0BC93F-DE87-5D34-711A-0A7C96BC89B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934349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85314-FF69-9488-55AA-609B6D6C454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D0D748-7526-E5B4-882B-CD1974BE7A5D}"/>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4" name="Footer Placeholder 3">
            <a:extLst>
              <a:ext uri="{FF2B5EF4-FFF2-40B4-BE49-F238E27FC236}">
                <a16:creationId xmlns:a16="http://schemas.microsoft.com/office/drawing/2014/main" id="{A51BB65D-3C7C-330F-F2E4-68BE6A78C3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33AB25-A9B3-E208-BB21-C2850A87C7B5}"/>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582178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CC9D19-4C72-6EBE-BEBB-990F367C8E26}"/>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3" name="Footer Placeholder 2">
            <a:extLst>
              <a:ext uri="{FF2B5EF4-FFF2-40B4-BE49-F238E27FC236}">
                <a16:creationId xmlns:a16="http://schemas.microsoft.com/office/drawing/2014/main" id="{9C7E9465-1D86-3400-70F7-6C14221D64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4DA129-7B6B-7A0C-6CD8-225A88BC4943}"/>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291663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83D7A-3E00-B6C8-FC83-37E63C7A337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D8F536C-DEC8-9406-DD9A-A159888086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D01E554-74F9-4F2B-DACA-7437D1FAD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25B9C74-1F4A-2756-20E0-3A30ED8FDF6A}"/>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AFB6718F-0AFB-B05B-56DD-676CA42EC6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C6564F-EB95-772B-629C-CA39D04B366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199601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F3D48-84A0-3F37-1AE1-A5DA0976C0A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D64D8CE-7D33-3A1C-0B10-C0B372A0E3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818348-DD38-2ED9-AC93-F0E0BC5AFE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1CF0CDE-79A3-51A3-3B3F-A9FD15F51633}"/>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4FD91F49-8EAB-7B01-7B0F-F33734242F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3271A9-A83C-0006-00BD-C17BB3DE7C5A}"/>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19489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BBB60-560A-1F72-035E-D28F19A92A8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C3B78FD-69CC-9F5B-3C11-CA323EC93BB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36BB40-F65B-5299-E32D-CB9858A5948A}"/>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A8487E16-F02D-E203-D4E9-10D833FCA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882DCF-D6B7-31C6-D936-E12073FA200F}"/>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490863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FF187E-5DCA-9F88-B1CD-F03AB7AF3A1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2412709-B093-275F-2926-9D91A5824F6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56667EC-5ABA-1D42-42D4-EC9393BBC3FE}"/>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D46A2F67-6755-C1B8-DF06-6E0417CD32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80EB6B-719C-9679-CCF7-F153C3A2B75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15367043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E80EE1-0B02-5C56-7378-94DD6DA055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5AE5EFC-134F-BED3-F8A7-9FE56534CD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F202C69-0810-50C4-85CE-437D064ED2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A70AED32-ED41-42FF-749B-D7F0BB6346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8D752B-E364-D67C-7654-6A11A46BA2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6755A7-B2F0-374C-BC3B-9231083D8773}" type="slidenum">
              <a:rPr lang="en-US" smtClean="0"/>
              <a:t>‹#›</a:t>
            </a:fld>
            <a:endParaRPr lang="en-US"/>
          </a:p>
        </p:txBody>
      </p:sp>
      <p:sp>
        <p:nvSpPr>
          <p:cNvPr id="900" name="AccentBar"/>
          <p:cNvSpPr/>
          <p:nvPr/>
        </p:nvSpPr>
        <p:spPr>
          <a:xfrm>
            <a:off x="0" y="6784848"/>
            <a:ext cx="12192000" cy="73152"/>
          </a:xfrm>
          <a:prstGeom prst="rect">
            <a:avLst/>
          </a:prstGeom>
          <a:gradFill>
            <a:gsLst>
              <a:gs pos="0">
                <a:srgbClr val="2563EB"/>
              </a:gs>
              <a:gs pos="50000">
                <a:srgbClr val="7C3AED"/>
              </a:gs>
              <a:gs pos="100000">
                <a:srgbClr val="06B6D4"/>
              </a:gs>
            </a:gsLst>
            <a:lin ang="0" scaled="1"/>
          </a:gradFill>
          <a:ln>
            <a:noFill/>
          </a:ln>
        </p:spPr>
        <p:txBody>
          <a:bodyPr/>
          <a:lstStyle/>
          <a:p>
            <a:endParaRPr/>
          </a:p>
        </p:txBody>
      </p:sp>
    </p:spTree>
    <p:extLst>
      <p:ext uri="{BB962C8B-B14F-4D97-AF65-F5344CB8AC3E}">
        <p14:creationId xmlns:p14="http://schemas.microsoft.com/office/powerpoint/2010/main" val="32214053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B1B2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B2B4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2017524---Business-Process-Automation-with-Power-Automate-and-Copilot-Studio-Agent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2EDD3-BAC6-2E59-FAA8-908301B11942}"/>
              </a:ext>
            </a:extLst>
          </p:cNvPr>
          <p:cNvSpPr>
            <a:spLocks noGrp="1"/>
          </p:cNvSpPr>
          <p:nvPr>
            <p:ph type="ctrTitle"/>
          </p:nvPr>
        </p:nvSpPr>
        <p:spPr/>
        <p:txBody>
          <a:bodyPr/>
          <a:lstStyle/>
          <a:p>
            <a:pPr algn="ctr"/>
            <a:r>
              <a:rPr lang="en-US" sz="4000" b="1" dirty="0"/>
              <a:t>Business Process Automation</a:t>
            </a:r>
          </a:p>
        </p:txBody>
      </p:sp>
      <p:sp>
        <p:nvSpPr>
          <p:cNvPr id="3" name="Subtitle 2">
            <a:extLst>
              <a:ext uri="{FF2B5EF4-FFF2-40B4-BE49-F238E27FC236}">
                <a16:creationId xmlns:a16="http://schemas.microsoft.com/office/drawing/2014/main" id="{2C0574B3-66A5-8402-1E67-380A6A832EEC}"/>
              </a:ext>
            </a:extLst>
          </p:cNvPr>
          <p:cNvSpPr>
            <a:spLocks noGrp="1"/>
          </p:cNvSpPr>
          <p:nvPr>
            <p:ph type="subTitle" idx="1"/>
          </p:nvPr>
        </p:nvSpPr>
        <p:spPr/>
        <p:txBody>
          <a:bodyPr/>
          <a:lstStyle/>
          <a:p>
            <a:pPr algn="ctr"/>
            <a:r>
              <a:rPr lang="en-US" sz="2400" b="1" dirty="0">
                <a:solidFill>
                  <a:schemeClr val="accent2"/>
                </a:solidFill>
              </a:rPr>
              <a:t>with Power Automate and Copilot Studio Agents</a:t>
            </a:r>
          </a:p>
          <a:p>
            <a:pPr algn="ctr"/>
            <a:r>
              <a:rPr lang="en-US" sz="1600" dirty="0">
                <a:solidFill>
                  <a:schemeClr val="dk2"/>
                </a:solidFill>
              </a:rPr>
              <a:t>WSQ Course Code: TGS-2022017524  ·  2-Day Hands-On Training  ·  Modules 1–3</a:t>
            </a:r>
          </a:p>
        </p:txBody>
      </p:sp>
      <p:sp>
        <p:nvSpPr>
          <p:cNvPr id="4" name="TextBox 3"/>
          <p:cNvSpPr txBox="1"/>
          <p:nvPr/>
        </p:nvSpPr>
        <p:spPr>
          <a:xfrm>
            <a:off x="1527048" y="5623560"/>
            <a:ext cx="9144000" cy="777240"/>
          </a:xfrm>
          <a:prstGeom prst="rect">
            <a:avLst/>
          </a:prstGeom>
          <a:noFill/>
        </p:spPr>
        <p:txBody>
          <a:bodyPr wrap="square" anchor="t">
            <a:spAutoFit/>
          </a:bodyPr>
          <a:lstStyle/>
          <a:p>
            <a:pPr algn="ctr">
              <a:spcAft>
                <a:spcPts val="400"/>
              </a:spcAft>
            </a:pPr>
            <a:r>
              <a:rPr sz="1400" b="0">
                <a:solidFill>
                  <a:srgbClr val="5B6372"/>
                </a:solidFill>
                <a:latin typeface="Arial"/>
              </a:rPr>
              <a:t>Conducted by Tertiary Infotech Academy Pte Ltd  ·  UEN 201200696W</a:t>
            </a:r>
          </a:p>
          <a:p>
            <a:pPr algn="ctr">
              <a:spcAft>
                <a:spcPts val="400"/>
              </a:spcAft>
            </a:pPr>
            <a:r>
              <a:rPr sz="1100" b="0">
                <a:solidFill>
                  <a:srgbClr val="5B6372"/>
                </a:solidFill>
                <a:latin typeface="Arial"/>
              </a:rPr>
              <a:t>Version 3.0 (3 Jul 2026)  ·  www.tertiarycourses.com.sg  ·  https://lms-tms.tertiaryinfotech.com/</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extLst>
      <p:ext uri="{BB962C8B-B14F-4D97-AF65-F5344CB8AC3E}">
        <p14:creationId xmlns:p14="http://schemas.microsoft.com/office/powerpoint/2010/main" val="288028645"/>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It is mandatory to take the AM, PM and Assessment digital attendance for WSQ-funded courses.</a:t>
            </a:r>
          </a:p>
          <a:p>
            <a:pPr>
              <a:spcAft>
                <a:spcPts val="1000"/>
              </a:spcAft>
            </a:pPr>
            <a:r>
              <a:rPr sz="1800">
                <a:solidFill>
                  <a:srgbClr val="161B26"/>
                </a:solidFill>
                <a:latin typeface="Arial"/>
              </a:rPr>
              <a:t>•  The trainer/administrator displays the digital attendance QR code from the SSG portal.</a:t>
            </a:r>
          </a:p>
          <a:p>
            <a:pPr>
              <a:spcAft>
                <a:spcPts val="1000"/>
              </a:spcAft>
            </a:pPr>
            <a:r>
              <a:rPr sz="1800">
                <a:solidFill>
                  <a:srgbClr val="161B26"/>
                </a:solidFill>
                <a:latin typeface="Arial"/>
              </a:rPr>
              <a:t>•  Scan the QR code with your mobile phone camera and submit your attendance.</a:t>
            </a:r>
          </a:p>
          <a:p>
            <a:pPr>
              <a:spcAft>
                <a:spcPts val="1000"/>
              </a:spcAft>
            </a:pPr>
            <a:r>
              <a:rPr sz="1800">
                <a:solidFill>
                  <a:srgbClr val="161B26"/>
                </a:solidFill>
                <a:latin typeface="Arial"/>
              </a:rPr>
              <a:t>•  A minimum of 75% attendance is required to be eligible for assessment and funding.</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2" name="TextBox 31"/>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Microsoft Power Platform, AI and data analytics — 20+ years of training experience.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AI, business automation, data science and software engineering.</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26" name="TextBox 2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Your name and organisation / role.</a:t>
            </a:r>
          </a:p>
          <a:p>
            <a:pPr>
              <a:spcAft>
                <a:spcPts val="1000"/>
              </a:spcAft>
            </a:pPr>
            <a:r>
              <a:rPr sz="1800">
                <a:solidFill>
                  <a:srgbClr val="161B26"/>
                </a:solidFill>
                <a:latin typeface="Arial"/>
              </a:rPr>
              <a:t>•  Your experience with Power Automate, Copilot Studio or other automation tools (if any).</a:t>
            </a:r>
          </a:p>
          <a:p>
            <a:pPr>
              <a:spcAft>
                <a:spcPts val="1000"/>
              </a:spcAft>
            </a:pPr>
            <a:r>
              <a:rPr sz="1800">
                <a:solidFill>
                  <a:srgbClr val="161B26"/>
                </a:solidFill>
                <a:latin typeface="Arial"/>
              </a:rPr>
              <a:t>•  One repetitive business process you would love to automate after this course.</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8" name="TextBox 37"/>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03E05-11DE-3F8B-50E5-7A6EEE6C1FDF}"/>
              </a:ext>
            </a:extLst>
          </p:cNvPr>
          <p:cNvSpPr>
            <a:spLocks noGrp="1"/>
          </p:cNvSpPr>
          <p:nvPr>
            <p:ph type="title"/>
          </p:nvPr>
        </p:nvSpPr>
        <p:spPr/>
        <p:txBody>
          <a:bodyPr/>
          <a:lstStyle/>
          <a:p>
            <a:r>
              <a:rPr lang="en-US"/>
              <a:t>What You'll Learn</a:t>
            </a:r>
          </a:p>
        </p:txBody>
      </p:sp>
      <p:sp>
        <p:nvSpPr>
          <p:cNvPr id="3" name="Content Placeholder 2">
            <a:extLst>
              <a:ext uri="{FF2B5EF4-FFF2-40B4-BE49-F238E27FC236}">
                <a16:creationId xmlns:a16="http://schemas.microsoft.com/office/drawing/2014/main" id="{2BD0C846-1323-57D0-5421-832FBED406BE}"/>
              </a:ext>
            </a:extLst>
          </p:cNvPr>
          <p:cNvSpPr>
            <a:spLocks noGrp="1"/>
          </p:cNvSpPr>
          <p:nvPr>
            <p:ph idx="1"/>
          </p:nvPr>
        </p:nvSpPr>
        <p:spPr/>
        <p:txBody>
          <a:bodyPr>
            <a:normAutofit/>
          </a:bodyPr>
          <a:lstStyle/>
          <a:p>
            <a:r>
              <a:rPr lang="en-US" sz="1800"/>
              <a:t>Automate repetitive business work with Microsoft Power Automate
Build AI-powered business agents in Microsoft Copilot Studio
Connect agents to flows for true end-to-end automation
Design real workflows for sales, finance, procurement and operations
Practise in hands-on labs every day — you build working automations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extLst>
      <p:ext uri="{BB962C8B-B14F-4D97-AF65-F5344CB8AC3E}">
        <p14:creationId xmlns:p14="http://schemas.microsoft.com/office/powerpoint/2010/main" val="1350916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6F75-3095-8ABE-D50E-416B9303D236}"/>
              </a:ext>
            </a:extLst>
          </p:cNvPr>
          <p:cNvSpPr>
            <a:spLocks noGrp="1"/>
          </p:cNvSpPr>
          <p:nvPr>
            <p:ph type="title"/>
          </p:nvPr>
        </p:nvSpPr>
        <p:spPr/>
        <p:txBody>
          <a:bodyPr/>
          <a:lstStyle/>
          <a:p>
            <a:r>
              <a:rPr lang="en-US"/>
              <a:t>Your 2-Day Journey</a:t>
            </a:r>
          </a:p>
        </p:txBody>
      </p:sp>
      <p:sp>
        <p:nvSpPr>
          <p:cNvPr id="3" name="Content Placeholder 2">
            <a:extLst>
              <a:ext uri="{FF2B5EF4-FFF2-40B4-BE49-F238E27FC236}">
                <a16:creationId xmlns:a16="http://schemas.microsoft.com/office/drawing/2014/main" id="{DDDFAD1D-5614-0573-B56D-FB5CFBE222BF}"/>
              </a:ext>
            </a:extLst>
          </p:cNvPr>
          <p:cNvSpPr>
            <a:spLocks noGrp="1"/>
          </p:cNvSpPr>
          <p:nvPr>
            <p:ph idx="1"/>
          </p:nvPr>
        </p:nvSpPr>
        <p:spPr/>
        <p:txBody>
          <a:bodyPr>
            <a:normAutofit/>
          </a:bodyPr>
          <a:lstStyle/>
          <a:p>
            <a:r>
              <a:rPr lang="en-US" sz="1800"/>
              <a:t>Day 1 — Foundations &amp; Power Automate: automation logic, triggers, actions, 5 labs
Day 2 — Copilot Studio Agents: knowledge, tools, agent + flow, 6 labs + assessment
Each topic follows: concept → live demo → you build it
You finish with working automations you can take back to work</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extLst>
      <p:ext uri="{BB962C8B-B14F-4D97-AF65-F5344CB8AC3E}">
        <p14:creationId xmlns:p14="http://schemas.microsoft.com/office/powerpoint/2010/main" val="1100239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13AA7-4DA7-CC16-826D-ADE731091BB5}"/>
              </a:ext>
            </a:extLst>
          </p:cNvPr>
          <p:cNvSpPr>
            <a:spLocks noGrp="1"/>
          </p:cNvSpPr>
          <p:nvPr>
            <p:ph type="title"/>
          </p:nvPr>
        </p:nvSpPr>
        <p:spPr/>
        <p:txBody>
          <a:bodyPr/>
          <a:lstStyle/>
          <a:p>
            <a:r>
              <a:rPr lang="en-US"/>
              <a:t>How This Course Works</a:t>
            </a:r>
          </a:p>
        </p:txBody>
      </p:sp>
      <p:sp>
        <p:nvSpPr>
          <p:cNvPr id="3" name="Content Placeholder 2">
            <a:extLst>
              <a:ext uri="{FF2B5EF4-FFF2-40B4-BE49-F238E27FC236}">
                <a16:creationId xmlns:a16="http://schemas.microsoft.com/office/drawing/2014/main" id="{7B3224E6-4588-00FC-0A91-30E022E8DF8B}"/>
              </a:ext>
            </a:extLst>
          </p:cNvPr>
          <p:cNvSpPr>
            <a:spLocks noGrp="1"/>
          </p:cNvSpPr>
          <p:nvPr>
            <p:ph idx="1"/>
          </p:nvPr>
        </p:nvSpPr>
        <p:spPr/>
        <p:txBody>
          <a:bodyPr>
            <a:normAutofit/>
          </a:bodyPr>
          <a:lstStyle/>
          <a:p>
            <a:r>
              <a:rPr lang="en-US" sz="1800"/>
              <a:t>Concept, then demo, then hands-on — for every topic
Built entirely in Microsoft 365 and the Power Platform
No coding required — low-code, drag-and-drop tools
Save your flows and agents to reuse in your own role
Daily recap and open Q&amp;A to lock in what you learned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extLst>
      <p:ext uri="{BB962C8B-B14F-4D97-AF65-F5344CB8AC3E}">
        <p14:creationId xmlns:p14="http://schemas.microsoft.com/office/powerpoint/2010/main" val="2259203294"/>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2 Days, 9:00am–6:00pm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 &amp; assessment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800"/>
              </a:spcAft>
            </a:pPr>
            <a:r>
              <a:rPr sz="1500">
                <a:solidFill>
                  <a:srgbClr val="161B26"/>
                </a:solidFill>
                <a:latin typeface="Arial"/>
              </a:rPr>
              <a:t>•  Day 1 — Foundations &amp; Power Automate</a:t>
            </a:r>
          </a:p>
          <a:p>
            <a:pPr>
              <a:spcAft>
                <a:spcPts val="800"/>
              </a:spcAft>
            </a:pPr>
            <a:r>
              <a:rPr sz="1300">
                <a:solidFill>
                  <a:srgbClr val="5B6372"/>
                </a:solidFill>
                <a:latin typeface="Arial"/>
              </a:rPr>
              <a:t>–  Modules 1–2: workflow concepts, Power Automate</a:t>
            </a:r>
          </a:p>
          <a:p>
            <a:pPr>
              <a:spcAft>
                <a:spcPts val="800"/>
              </a:spcAft>
            </a:pPr>
            <a:r>
              <a:rPr sz="1300">
                <a:solidFill>
                  <a:srgbClr val="5B6372"/>
                </a:solidFill>
                <a:latin typeface="Arial"/>
              </a:rPr>
              <a:t>–  Labs 0–5: email, Excel logging, approval, scheduled, form flows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800"/>
              </a:spcAft>
            </a:pPr>
            <a:r>
              <a:rPr sz="1500">
                <a:solidFill>
                  <a:srgbClr val="161B26"/>
                </a:solidFill>
                <a:latin typeface="Arial"/>
              </a:rPr>
              <a:t>•  Day 2 — Business Agents with Copilot Studio</a:t>
            </a:r>
          </a:p>
          <a:p>
            <a:pPr>
              <a:spcAft>
                <a:spcPts val="800"/>
              </a:spcAft>
            </a:pPr>
            <a:r>
              <a:rPr sz="1300">
                <a:solidFill>
                  <a:srgbClr val="5B6372"/>
                </a:solidFill>
                <a:latin typeface="Arial"/>
              </a:rPr>
              <a:t>–  Module 3: agents, prompts, agent + flow</a:t>
            </a:r>
          </a:p>
          <a:p>
            <a:pPr>
              <a:spcAft>
                <a:spcPts val="800"/>
              </a:spcAft>
            </a:pPr>
            <a:r>
              <a:rPr sz="1300">
                <a:solidFill>
                  <a:srgbClr val="5B6372"/>
                </a:solidFill>
                <a:latin typeface="Arial"/>
              </a:rPr>
              <a:t>–  Labs 6–11: first agent, knowledge (RAG), tools, agent flows</a:t>
            </a:r>
          </a:p>
          <a:p>
            <a:pPr>
              <a:spcAft>
                <a:spcPts val="800"/>
              </a:spcAft>
            </a:pPr>
            <a:r>
              <a:rPr sz="1500">
                <a:solidFill>
                  <a:srgbClr val="161B26"/>
                </a:solidFill>
                <a:latin typeface="Arial"/>
              </a:rPr>
              <a:t>•  Assessment (Day 2, 4:00–6:00pm)</a:t>
            </a:r>
          </a:p>
          <a:p>
            <a:pPr>
              <a:spcAft>
                <a:spcPts val="800"/>
              </a:spcAft>
            </a:pPr>
            <a:r>
              <a:rPr sz="1300">
                <a:solidFill>
                  <a:srgbClr val="5B6372"/>
                </a:solidFill>
                <a:latin typeface="Arial"/>
              </a:rPr>
              <a:t>–  Written Assessment 1 hr + Practical Performance 1 hr</a:t>
            </a:r>
          </a:p>
          <a:p>
            <a:pPr>
              <a:spcAft>
                <a:spcPts val="800"/>
              </a:spcAft>
            </a:pPr>
            <a:r>
              <a:rPr sz="1500">
                <a:solidFill>
                  <a:srgbClr val="161B26"/>
                </a:solidFill>
                <a:latin typeface="Arial"/>
              </a:rPr>
              <a:t>•  Daily timing</a:t>
            </a:r>
          </a:p>
          <a:p>
            <a:pPr>
              <a:spcAft>
                <a:spcPts val="800"/>
              </a:spcAft>
            </a:pPr>
            <a:r>
              <a:rPr sz="1300">
                <a:solidFill>
                  <a:srgbClr val="5B6372"/>
                </a:solidFill>
                <a:latin typeface="Arial"/>
              </a:rPr>
              <a:t>–  9:00am–6:00pm · 1-hour lunch · tea breaks within</a:t>
            </a:r>
          </a:p>
        </p:txBody>
      </p:sp>
      <p:sp>
        <p:nvSpPr>
          <p:cNvPr id="13" name="TextBox 12"/>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14" name="TextBox 13"/>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Place phones and other materials under the table or on the floor.</a:t>
            </a:r>
          </a:p>
          <a:p>
            <a:pPr>
              <a:spcAft>
                <a:spcPts val="1000"/>
              </a:spcAft>
            </a:pPr>
            <a:r>
              <a:rPr sz="1800">
                <a:solidFill>
                  <a:srgbClr val="161B26"/>
                </a:solidFill>
                <a:latin typeface="Arial"/>
              </a:rPr>
              <a:t>•  No photos or recording of assessment scripts.</a:t>
            </a:r>
          </a:p>
          <a:p>
            <a:pPr>
              <a:spcAft>
                <a:spcPts val="1000"/>
              </a:spcAft>
            </a:pPr>
            <a:r>
              <a:rPr sz="1800">
                <a:solidFill>
                  <a:srgbClr val="161B26"/>
                </a:solidFill>
                <a:latin typeface="Arial"/>
              </a:rPr>
              <a:t>•  No discussion during the assessment.</a:t>
            </a:r>
          </a:p>
          <a:p>
            <a:pPr>
              <a:spcAft>
                <a:spcPts val="1000"/>
              </a:spcAft>
            </a:pPr>
            <a:r>
              <a:rPr sz="1800">
                <a:solidFill>
                  <a:srgbClr val="161B26"/>
                </a:solidFill>
                <a:latin typeface="Arial"/>
              </a:rPr>
              <a:t>•  Use a black/blue pen for hard-copy assessments.</a:t>
            </a:r>
          </a:p>
          <a:p>
            <a:pPr>
              <a:spcAft>
                <a:spcPts val="1000"/>
              </a:spcAft>
            </a:pPr>
            <a:r>
              <a:rPr sz="1800">
                <a:solidFill>
                  <a:srgbClr val="161B26"/>
                </a:solidFill>
                <a:latin typeface="Arial"/>
              </a:rPr>
              <a:t>•  No liquid paper / correction tape.</a:t>
            </a:r>
          </a:p>
          <a:p>
            <a:pPr>
              <a:spcAft>
                <a:spcPts val="1000"/>
              </a:spcAft>
            </a:pPr>
            <a:r>
              <a:rPr sz="1800">
                <a:solidFill>
                  <a:srgbClr val="161B26"/>
                </a:solidFill>
                <a:latin typeface="Arial"/>
              </a:rPr>
              <a:t>•  Scripts are collected when time is up.</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&amp;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Written Assessment (SAQ) — 1 hour, open book. Tests the knowledge from Modules 1–3.</a:t>
            </a:r>
          </a:p>
          <a:p>
            <a:pPr>
              <a:spcAft>
                <a:spcPts val="1000"/>
              </a:spcAft>
            </a:pPr>
            <a:r>
              <a:rPr sz="1800">
                <a:solidFill>
                  <a:srgbClr val="161B26"/>
                </a:solidFill>
                <a:latin typeface="Arial"/>
              </a:rPr>
              <a:t>•  Practical Performance (PP) — 1 hour, open book. You build a working flow + agent, as in the labs.</a:t>
            </a:r>
          </a:p>
          <a:p>
            <a:pPr>
              <a:spcAft>
                <a:spcPts val="1000"/>
              </a:spcAft>
            </a:pPr>
            <a:r>
              <a:rPr sz="1800">
                <a:solidFill>
                  <a:srgbClr val="161B26"/>
                </a:solidFill>
                <a:latin typeface="Arial"/>
              </a:rPr>
              <a:t>•  Both are taken on Day 2, 4:00–6:00pm, and submitted on the LMS.</a:t>
            </a:r>
          </a:p>
          <a:p>
            <a:pPr>
              <a:spcAft>
                <a:spcPts val="1000"/>
              </a:spcAft>
            </a:pPr>
            <a:r>
              <a:rPr sz="1800">
                <a:solidFill>
                  <a:srgbClr val="161B26"/>
                </a:solidFill>
                <a:latin typeface="Arial"/>
              </a:rPr>
              <a:t>•  WSQ funding requires 75% attendance AND passing the assessment (Competent).</a:t>
            </a:r>
          </a:p>
          <a:p>
            <a:pPr>
              <a:spcAft>
                <a:spcPts val="1000"/>
              </a:spcAft>
            </a:pPr>
            <a:r>
              <a:rPr sz="1800">
                <a:solidFill>
                  <a:srgbClr val="161B26"/>
                </a:solidFill>
                <a:latin typeface="Arial"/>
              </a:rPr>
              <a:t>•  Courseware and the assessment are on the LMS: https://lms-tms.tertiaryinfotech.com/</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7" name="TextBox 36"/>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REPOSITORY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Access the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57200"/>
          </a:xfrm>
          <a:prstGeom prst="rect">
            <a:avLst/>
          </a:prstGeom>
          <a:noFill/>
        </p:spPr>
        <p:txBody>
          <a:bodyPr wrap="square" anchor="t">
            <a:spAutoFit/>
          </a:bodyPr>
          <a:lstStyle/>
          <a:p>
            <a:pPr algn="l">
              <a:spcAft>
                <a:spcPts val="400"/>
              </a:spcAft>
            </a:pPr>
            <a:r>
              <a:rPr sz="1600" b="0">
                <a:solidFill>
                  <a:srgbClr val="161B26"/>
                </a:solidFill>
                <a:latin typeface="Arial"/>
              </a:rPr>
              <a:t>All 12 labs (Labs 0–11) + the Learner Guide live in the course GitHub repository:</a:t>
            </a:r>
          </a:p>
        </p:txBody>
      </p:sp>
      <p:sp>
        <p:nvSpPr>
          <p:cNvPr id="8" name="TextBox 7"/>
          <p:cNvSpPr txBox="1"/>
          <p:nvPr/>
        </p:nvSpPr>
        <p:spPr>
          <a:xfrm>
            <a:off x="777240" y="2240280"/>
            <a:ext cx="10607040" cy="457200"/>
          </a:xfrm>
          <a:prstGeom prst="rect">
            <a:avLst/>
          </a:prstGeom>
          <a:noFill/>
        </p:spPr>
        <p:txBody>
          <a:bodyPr wrap="none">
            <a:spAutoFit/>
          </a:bodyPr>
          <a:lstStyle/>
          <a:p>
            <a:r>
              <a:rPr sz="1500" b="1">
                <a:solidFill>
                  <a:srgbClr val="1F6FEB"/>
                </a:solidFill>
                <a:latin typeface="Arial"/>
                <a:hlinkClick r:id="rId2"/>
              </a:rPr>
              <a:t>github.com/tertiarycourses/TGS-2022017524---Business-Process-Automation-with-Power-Automate-and-Copilot-Studio-Agents</a:t>
            </a:r>
          </a:p>
        </p:txBody>
      </p:sp>
      <p:sp>
        <p:nvSpPr>
          <p:cNvPr id="9" name="Rectangle 8"/>
          <p:cNvSpPr/>
          <p:nvPr/>
        </p:nvSpPr>
        <p:spPr>
          <a:xfrm>
            <a:off x="777240" y="2926080"/>
            <a:ext cx="5074920" cy="3017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926080"/>
            <a:ext cx="507492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154680"/>
            <a:ext cx="4617720" cy="457200"/>
          </a:xfrm>
          <a:prstGeom prst="rect">
            <a:avLst/>
          </a:prstGeom>
          <a:noFill/>
        </p:spPr>
        <p:txBody>
          <a:bodyPr wrap="square" anchor="t">
            <a:spAutoFit/>
          </a:bodyPr>
          <a:lstStyle/>
          <a:p>
            <a:pPr algn="l">
              <a:spcAft>
                <a:spcPts val="400"/>
              </a:spcAft>
            </a:pPr>
            <a:r>
              <a:rPr sz="1700" b="1">
                <a:solidFill>
                  <a:srgbClr val="1F6FEB"/>
                </a:solidFill>
                <a:latin typeface="Arial"/>
              </a:rPr>
              <a:t>Option A — Clone with Git</a:t>
            </a:r>
          </a:p>
        </p:txBody>
      </p:sp>
      <p:sp>
        <p:nvSpPr>
          <p:cNvPr id="12" name="TextBox 11"/>
          <p:cNvSpPr txBox="1"/>
          <p:nvPr/>
        </p:nvSpPr>
        <p:spPr>
          <a:xfrm>
            <a:off x="1005840" y="3703320"/>
            <a:ext cx="4617720" cy="2103120"/>
          </a:xfrm>
          <a:prstGeom prst="rect">
            <a:avLst/>
          </a:prstGeom>
          <a:noFill/>
        </p:spPr>
        <p:txBody>
          <a:bodyPr wrap="square">
            <a:spAutoFit/>
          </a:bodyPr>
          <a:lstStyle/>
          <a:p>
            <a:pPr>
              <a:spcAft>
                <a:spcPts val="800"/>
              </a:spcAft>
            </a:pPr>
            <a:r>
              <a:rPr sz="1400">
                <a:solidFill>
                  <a:srgbClr val="161B26"/>
                </a:solidFill>
                <a:latin typeface="Arial"/>
              </a:rPr>
              <a:t>•  Install Git (git-scm.com) if needed.</a:t>
            </a:r>
          </a:p>
          <a:p>
            <a:pPr>
              <a:spcAft>
                <a:spcPts val="800"/>
              </a:spcAft>
            </a:pPr>
            <a:r>
              <a:rPr sz="1400">
                <a:solidFill>
                  <a:srgbClr val="161B26"/>
                </a:solidFill>
                <a:latin typeface="Arial"/>
              </a:rPr>
              <a:t>•  git clone &lt;repo URL&gt;.git</a:t>
            </a:r>
          </a:p>
          <a:p>
            <a:pPr>
              <a:spcAft>
                <a:spcPts val="800"/>
              </a:spcAft>
            </a:pPr>
            <a:r>
              <a:rPr sz="1400">
                <a:solidFill>
                  <a:srgbClr val="161B26"/>
                </a:solidFill>
                <a:latin typeface="Arial"/>
              </a:rPr>
              <a:t>•  Open the labs/ folder in your editor or browser.</a:t>
            </a:r>
          </a:p>
        </p:txBody>
      </p:sp>
      <p:sp>
        <p:nvSpPr>
          <p:cNvPr id="13" name="Rectangle 12"/>
          <p:cNvSpPr/>
          <p:nvPr/>
        </p:nvSpPr>
        <p:spPr>
          <a:xfrm>
            <a:off x="6355080" y="2926080"/>
            <a:ext cx="5074920" cy="3017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2926080"/>
            <a:ext cx="50749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3154680"/>
            <a:ext cx="4617720" cy="457200"/>
          </a:xfrm>
          <a:prstGeom prst="rect">
            <a:avLst/>
          </a:prstGeom>
          <a:noFill/>
        </p:spPr>
        <p:txBody>
          <a:bodyPr wrap="square" anchor="t">
            <a:spAutoFit/>
          </a:bodyPr>
          <a:lstStyle/>
          <a:p>
            <a:pPr algn="l">
              <a:spcAft>
                <a:spcPts val="400"/>
              </a:spcAft>
            </a:pPr>
            <a:r>
              <a:rPr sz="1700" b="1">
                <a:solidFill>
                  <a:srgbClr val="10B981"/>
                </a:solidFill>
                <a:latin typeface="Arial"/>
              </a:rPr>
              <a:t>Option B — Download the ZIP</a:t>
            </a:r>
          </a:p>
        </p:txBody>
      </p:sp>
      <p:sp>
        <p:nvSpPr>
          <p:cNvPr id="16" name="TextBox 15"/>
          <p:cNvSpPr txBox="1"/>
          <p:nvPr/>
        </p:nvSpPr>
        <p:spPr>
          <a:xfrm>
            <a:off x="6583680" y="3703320"/>
            <a:ext cx="4617720" cy="2103120"/>
          </a:xfrm>
          <a:prstGeom prst="rect">
            <a:avLst/>
          </a:prstGeom>
          <a:noFill/>
        </p:spPr>
        <p:txBody>
          <a:bodyPr wrap="square">
            <a:spAutoFit/>
          </a:bodyPr>
          <a:lstStyle/>
          <a:p>
            <a:pPr>
              <a:spcAft>
                <a:spcPts val="800"/>
              </a:spcAft>
            </a:pPr>
            <a:r>
              <a:rPr sz="1400">
                <a:solidFill>
                  <a:srgbClr val="161B26"/>
                </a:solidFill>
                <a:latin typeface="Arial"/>
              </a:rPr>
              <a:t>•  Open the repo URL in your browser.</a:t>
            </a:r>
          </a:p>
          <a:p>
            <a:pPr>
              <a:spcAft>
                <a:spcPts val="800"/>
              </a:spcAft>
            </a:pPr>
            <a:r>
              <a:rPr sz="1400">
                <a:solidFill>
                  <a:srgbClr val="161B26"/>
                </a:solidFill>
                <a:latin typeface="Arial"/>
              </a:rPr>
              <a:t>•  Code → Download ZIP, then unzip.</a:t>
            </a:r>
          </a:p>
          <a:p>
            <a:pPr>
              <a:spcAft>
                <a:spcPts val="800"/>
              </a:spcAft>
            </a:pPr>
            <a:r>
              <a:rPr sz="1400">
                <a:solidFill>
                  <a:srgbClr val="161B26"/>
                </a:solidFill>
                <a:latin typeface="Arial"/>
              </a:rPr>
              <a:t>•  Open labs/ and follow each lab's index.md.</a:t>
            </a:r>
          </a:p>
        </p:txBody>
      </p:sp>
      <p:sp>
        <p:nvSpPr>
          <p:cNvPr id="17" name="TextBox 16"/>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18" name="TextBox 17"/>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6566B-DDB3-D4E9-286D-8A7355B36992}"/>
              </a:ext>
            </a:extLst>
          </p:cNvPr>
          <p:cNvSpPr>
            <a:spLocks noGrp="1"/>
          </p:cNvSpPr>
          <p:nvPr>
            <p:ph type="title"/>
          </p:nvPr>
        </p:nvSpPr>
        <p:spPr/>
        <p:txBody>
          <a:bodyPr/>
          <a:lstStyle/>
          <a:p>
            <a:r>
              <a:rPr lang="en-US"/>
              <a:t>Day 1 — Foundations &amp; Power Automate</a:t>
            </a:r>
          </a:p>
        </p:txBody>
      </p:sp>
      <p:sp>
        <p:nvSpPr>
          <p:cNvPr id="3" name="Text Placeholder 2">
            <a:extLst>
              <a:ext uri="{FF2B5EF4-FFF2-40B4-BE49-F238E27FC236}">
                <a16:creationId xmlns:a16="http://schemas.microsoft.com/office/drawing/2014/main" id="{A4F2EA11-3469-BCFF-0FC0-4A7CEAAE105C}"/>
              </a:ext>
            </a:extLst>
          </p:cNvPr>
          <p:cNvSpPr>
            <a:spLocks noGrp="1"/>
          </p:cNvSpPr>
          <p:nvPr>
            <p:ph type="body" idx="1"/>
          </p:nvPr>
        </p:nvSpPr>
        <p:spPr/>
        <p:txBody>
          <a:bodyPr>
            <a:normAutofit/>
          </a:bodyPr>
          <a:lstStyle/>
          <a:p>
            <a:r>
              <a:rPr lang="en-US" sz="1800" b="1">
                <a:solidFill>
                  <a:srgbClr val="7C3AED"/>
                </a:solidFill>
              </a:rPr>
              <a:t>Modules 1 &amp; 2  ·  Understand automation, then build your first flows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extLst>
      <p:ext uri="{BB962C8B-B14F-4D97-AF65-F5344CB8AC3E}">
        <p14:creationId xmlns:p14="http://schemas.microsoft.com/office/powerpoint/2010/main" val="2029470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F3D06-570F-FD7F-3645-923649493285}"/>
              </a:ext>
            </a:extLst>
          </p:cNvPr>
          <p:cNvSpPr>
            <a:spLocks noGrp="1"/>
          </p:cNvSpPr>
          <p:nvPr>
            <p:ph type="title"/>
          </p:nvPr>
        </p:nvSpPr>
        <p:spPr/>
        <p:txBody>
          <a:bodyPr/>
          <a:lstStyle/>
          <a:p>
            <a:r>
              <a:rPr lang="en-US"/>
              <a:t>Module 1 · Introduction to Workflow Automation</a:t>
            </a:r>
          </a:p>
        </p:txBody>
      </p:sp>
      <p:sp>
        <p:nvSpPr>
          <p:cNvPr id="3" name="Text Placeholder 2">
            <a:extLst>
              <a:ext uri="{FF2B5EF4-FFF2-40B4-BE49-F238E27FC236}">
                <a16:creationId xmlns:a16="http://schemas.microsoft.com/office/drawing/2014/main" id="{01B7D423-F9EF-3654-C117-BB37D8EA943C}"/>
              </a:ext>
            </a:extLst>
          </p:cNvPr>
          <p:cNvSpPr>
            <a:spLocks noGrp="1"/>
          </p:cNvSpPr>
          <p:nvPr>
            <p:ph type="body" idx="1"/>
          </p:nvPr>
        </p:nvSpPr>
        <p:spPr/>
        <p:txBody>
          <a:bodyPr>
            <a:normAutofit/>
          </a:bodyPr>
          <a:lstStyle/>
          <a:p>
            <a:r>
              <a:rPr lang="en-US" sz="1800" b="1">
                <a:solidFill>
                  <a:srgbClr val="7C3AED"/>
                </a:solidFill>
              </a:rPr>
              <a:t>Why automate, and the building blocks behind every workflow</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extLst>
      <p:ext uri="{BB962C8B-B14F-4D97-AF65-F5344CB8AC3E}">
        <p14:creationId xmlns:p14="http://schemas.microsoft.com/office/powerpoint/2010/main" val="2293972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F3E1D-8293-17EA-02D6-126EFD28E80F}"/>
              </a:ext>
            </a:extLst>
          </p:cNvPr>
          <p:cNvSpPr>
            <a:spLocks noGrp="1"/>
          </p:cNvSpPr>
          <p:nvPr>
            <p:ph type="title"/>
          </p:nvPr>
        </p:nvSpPr>
        <p:spPr/>
        <p:txBody>
          <a:bodyPr/>
          <a:lstStyle/>
          <a:p>
            <a:r>
              <a:rPr lang="en-US"/>
              <a:t>What Is Business Workflow Automation?</a:t>
            </a:r>
          </a:p>
        </p:txBody>
      </p:sp>
      <p:sp>
        <p:nvSpPr>
          <p:cNvPr id="3" name="Content Placeholder 2">
            <a:extLst>
              <a:ext uri="{FF2B5EF4-FFF2-40B4-BE49-F238E27FC236}">
                <a16:creationId xmlns:a16="http://schemas.microsoft.com/office/drawing/2014/main" id="{635CBD14-D291-22AB-6BBC-F33D92DC2BEA}"/>
              </a:ext>
            </a:extLst>
          </p:cNvPr>
          <p:cNvSpPr>
            <a:spLocks noGrp="1"/>
          </p:cNvSpPr>
          <p:nvPr>
            <p:ph idx="1"/>
          </p:nvPr>
        </p:nvSpPr>
        <p:spPr/>
        <p:txBody>
          <a:bodyPr>
            <a:normAutofit/>
          </a:bodyPr>
          <a:lstStyle/>
          <a:p>
            <a:r>
              <a:rPr lang="en-US" sz="1800"/>
              <a:t>A workflow is a repeatable series of steps that gets work done
Automation lets software run those steps for you
It replaces manual, repetitive tasks — copying data, sending emails, chasing approvals
Runs reliably and consistently, with far fewer errors
People focus on judgement; software handles the routine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extLst>
      <p:ext uri="{BB962C8B-B14F-4D97-AF65-F5344CB8AC3E}">
        <p14:creationId xmlns:p14="http://schemas.microsoft.com/office/powerpoint/2010/main" val="2507022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9970F-766C-166A-5620-4126F34ABFF3}"/>
              </a:ext>
            </a:extLst>
          </p:cNvPr>
          <p:cNvSpPr>
            <a:spLocks noGrp="1"/>
          </p:cNvSpPr>
          <p:nvPr>
            <p:ph type="title"/>
          </p:nvPr>
        </p:nvSpPr>
        <p:spPr/>
        <p:txBody>
          <a:bodyPr/>
          <a:lstStyle/>
          <a:p>
            <a:r>
              <a:rPr lang="en-US"/>
              <a:t>Why Automate?</a:t>
            </a:r>
          </a:p>
        </p:txBody>
      </p:sp>
      <p:sp>
        <p:nvSpPr>
          <p:cNvPr id="3" name="Content Placeholder 2">
            <a:extLst>
              <a:ext uri="{FF2B5EF4-FFF2-40B4-BE49-F238E27FC236}">
                <a16:creationId xmlns:a16="http://schemas.microsoft.com/office/drawing/2014/main" id="{98BCE675-06D6-7CA1-31B0-216798C26704}"/>
              </a:ext>
            </a:extLst>
          </p:cNvPr>
          <p:cNvSpPr>
            <a:spLocks noGrp="1"/>
          </p:cNvSpPr>
          <p:nvPr>
            <p:ph idx="1"/>
          </p:nvPr>
        </p:nvSpPr>
        <p:spPr/>
        <p:txBody>
          <a:bodyPr>
            <a:normAutofit/>
          </a:bodyPr>
          <a:lstStyle/>
          <a:p>
            <a:r>
              <a:rPr lang="en-US" sz="1800"/>
              <a:t>Save time — reclaim hours of manual work every week
Reduce errors — consistent, rule-based execution every time
Respond faster — instant notifications and approvals
Gain visibility — every step is logged and traceable
Scale easily — handle more volume without more headcount</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extLst>
      <p:ext uri="{BB962C8B-B14F-4D97-AF65-F5344CB8AC3E}">
        <p14:creationId xmlns:p14="http://schemas.microsoft.com/office/powerpoint/2010/main" val="2083644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77996-099F-A63F-A74A-2367E5BDA414}"/>
              </a:ext>
            </a:extLst>
          </p:cNvPr>
          <p:cNvSpPr>
            <a:spLocks noGrp="1"/>
          </p:cNvSpPr>
          <p:nvPr>
            <p:ph type="title"/>
          </p:nvPr>
        </p:nvSpPr>
        <p:spPr/>
        <p:txBody>
          <a:bodyPr/>
          <a:lstStyle/>
          <a:p>
            <a:r>
              <a:rPr lang="en-US"/>
              <a:t>Manual Process vs. Automated Workflow</a:t>
            </a:r>
          </a:p>
        </p:txBody>
      </p:sp>
      <p:sp>
        <p:nvSpPr>
          <p:cNvPr id="3" name="Content Placeholder 2">
            <a:extLst>
              <a:ext uri="{FF2B5EF4-FFF2-40B4-BE49-F238E27FC236}">
                <a16:creationId xmlns:a16="http://schemas.microsoft.com/office/drawing/2014/main" id="{4454D47B-ECAD-EC96-AB7D-650BD30634F7}"/>
              </a:ext>
            </a:extLst>
          </p:cNvPr>
          <p:cNvSpPr>
            <a:spLocks noGrp="1"/>
          </p:cNvSpPr>
          <p:nvPr>
            <p:ph sz="half" idx="1"/>
          </p:nvPr>
        </p:nvSpPr>
        <p:spPr/>
        <p:txBody>
          <a:bodyPr>
            <a:normAutofit/>
          </a:bodyPr>
          <a:lstStyle/>
          <a:p>
            <a:r>
              <a:rPr lang="en-US" sz="1600"/>
              <a:t>MANUAL PROCESS
Emails get missed in busy inboxes
Data re-keyed by hand between apps
Approvals stall and get forgotten
No audit trail of what happened
Slow, inconsistent, hard to scale</a:t>
            </a:r>
          </a:p>
        </p:txBody>
      </p:sp>
      <p:sp>
        <p:nvSpPr>
          <p:cNvPr id="4" name="Content Placeholder 3">
            <a:extLst>
              <a:ext uri="{FF2B5EF4-FFF2-40B4-BE49-F238E27FC236}">
                <a16:creationId xmlns:a16="http://schemas.microsoft.com/office/drawing/2014/main" id="{B5836758-6433-6420-CC9D-069C47E7EDF1}"/>
              </a:ext>
            </a:extLst>
          </p:cNvPr>
          <p:cNvSpPr>
            <a:spLocks noGrp="1"/>
          </p:cNvSpPr>
          <p:nvPr>
            <p:ph sz="half" idx="2"/>
          </p:nvPr>
        </p:nvSpPr>
        <p:spPr/>
        <p:txBody>
          <a:bodyPr>
            <a:normAutofit/>
          </a:bodyPr>
          <a:lstStyle/>
          <a:p>
            <a:r>
              <a:rPr lang="en-US" sz="1600"/>
              <a:t>AUTOMATED WORKFLOW
Triggers fire the moment an event happens
Data flows automatically between systems
Approvals routed, tracked and reminded
Every action logged automatically
Fast, consistent and scalable</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extLst>
      <p:ext uri="{BB962C8B-B14F-4D97-AF65-F5344CB8AC3E}">
        <p14:creationId xmlns:p14="http://schemas.microsoft.com/office/powerpoint/2010/main" val="2049180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6ACF2-F7B9-6EC5-86D6-A463E0ED5B93}"/>
              </a:ext>
            </a:extLst>
          </p:cNvPr>
          <p:cNvSpPr>
            <a:spLocks noGrp="1"/>
          </p:cNvSpPr>
          <p:nvPr>
            <p:ph type="title"/>
          </p:nvPr>
        </p:nvSpPr>
        <p:spPr/>
        <p:txBody>
          <a:bodyPr/>
          <a:lstStyle/>
          <a:p>
            <a:r>
              <a:rPr lang="en-US"/>
              <a:t>Standalone Agents vs. Integrated Workflows</a:t>
            </a:r>
          </a:p>
        </p:txBody>
      </p:sp>
      <p:sp>
        <p:nvSpPr>
          <p:cNvPr id="3" name="Content Placeholder 2">
            <a:extLst>
              <a:ext uri="{FF2B5EF4-FFF2-40B4-BE49-F238E27FC236}">
                <a16:creationId xmlns:a16="http://schemas.microsoft.com/office/drawing/2014/main" id="{6B1AEA7C-120B-0804-FE0F-3D8CA177094D}"/>
              </a:ext>
            </a:extLst>
          </p:cNvPr>
          <p:cNvSpPr>
            <a:spLocks noGrp="1"/>
          </p:cNvSpPr>
          <p:nvPr>
            <p:ph sz="half" idx="1"/>
          </p:nvPr>
        </p:nvSpPr>
        <p:spPr/>
        <p:txBody>
          <a:bodyPr>
            <a:normAutofit/>
          </a:bodyPr>
          <a:lstStyle/>
          <a:p>
            <a:r>
              <a:rPr lang="en-US" sz="1600"/>
              <a:t>STANDALONE AGENT
Answers questions and chats
Works inside the conversation
Output stays in the chat
Great for information and guidance</a:t>
            </a:r>
          </a:p>
        </p:txBody>
      </p:sp>
      <p:sp>
        <p:nvSpPr>
          <p:cNvPr id="4" name="Content Placeholder 3">
            <a:extLst>
              <a:ext uri="{FF2B5EF4-FFF2-40B4-BE49-F238E27FC236}">
                <a16:creationId xmlns:a16="http://schemas.microsoft.com/office/drawing/2014/main" id="{2302A468-D28E-4FEC-2561-AB5670A725FB}"/>
              </a:ext>
            </a:extLst>
          </p:cNvPr>
          <p:cNvSpPr>
            <a:spLocks noGrp="1"/>
          </p:cNvSpPr>
          <p:nvPr>
            <p:ph sz="half" idx="2"/>
          </p:nvPr>
        </p:nvSpPr>
        <p:spPr/>
        <p:txBody>
          <a:bodyPr>
            <a:normAutofit/>
          </a:bodyPr>
          <a:lstStyle/>
          <a:p>
            <a:r>
              <a:rPr lang="en-US" sz="1600"/>
              <a:t>INTEGRATED WORKFLOW
Takes action across systems
Connects apps, data and people
Produces results: records, emails, approvals
Great for getting work done</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extLst>
      <p:ext uri="{BB962C8B-B14F-4D97-AF65-F5344CB8AC3E}">
        <p14:creationId xmlns:p14="http://schemas.microsoft.com/office/powerpoint/2010/main" val="3493130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4F88D-F673-E1DB-E9EE-25DAFE4EA13D}"/>
              </a:ext>
            </a:extLst>
          </p:cNvPr>
          <p:cNvSpPr>
            <a:spLocks noGrp="1"/>
          </p:cNvSpPr>
          <p:nvPr>
            <p:ph type="title"/>
          </p:nvPr>
        </p:nvSpPr>
        <p:spPr/>
        <p:txBody>
          <a:bodyPr/>
          <a:lstStyle/>
          <a:p>
            <a:r>
              <a:rPr lang="en-US"/>
              <a:t>Introduction to Workflow Logic</a:t>
            </a:r>
          </a:p>
        </p:txBody>
      </p:sp>
      <p:sp>
        <p:nvSpPr>
          <p:cNvPr id="3" name="Content Placeholder 2">
            <a:extLst>
              <a:ext uri="{FF2B5EF4-FFF2-40B4-BE49-F238E27FC236}">
                <a16:creationId xmlns:a16="http://schemas.microsoft.com/office/drawing/2014/main" id="{C75CB5EF-92B8-923C-4790-26F6F20957E1}"/>
              </a:ext>
            </a:extLst>
          </p:cNvPr>
          <p:cNvSpPr>
            <a:spLocks noGrp="1"/>
          </p:cNvSpPr>
          <p:nvPr>
            <p:ph idx="1"/>
          </p:nvPr>
        </p:nvSpPr>
        <p:spPr/>
        <p:txBody>
          <a:bodyPr>
            <a:normAutofit/>
          </a:bodyPr>
          <a:lstStyle/>
          <a:p>
            <a:r>
              <a:rPr lang="en-US" sz="1800"/>
              <a:t>Every workflow follows the same simple pattern
Trigger  →  Action(s)  →  Output
Trigger: the event that starts the workflow
Actions: the steps the workflow performs
Output: the result the workflow produces
Master this pattern and you can build any automation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extLst>
      <p:ext uri="{BB962C8B-B14F-4D97-AF65-F5344CB8AC3E}">
        <p14:creationId xmlns:p14="http://schemas.microsoft.com/office/powerpoint/2010/main" val="1182492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0F331-4A42-F3D5-0628-943F85E104AA}"/>
              </a:ext>
            </a:extLst>
          </p:cNvPr>
          <p:cNvSpPr>
            <a:spLocks noGrp="1"/>
          </p:cNvSpPr>
          <p:nvPr>
            <p:ph type="title"/>
          </p:nvPr>
        </p:nvSpPr>
        <p:spPr/>
        <p:txBody>
          <a:bodyPr/>
          <a:lstStyle/>
          <a:p>
            <a:r>
              <a:rPr lang="en-US"/>
              <a:t>Triggers — What Starts a Workflow</a:t>
            </a:r>
          </a:p>
        </p:txBody>
      </p:sp>
      <p:sp>
        <p:nvSpPr>
          <p:cNvPr id="3" name="Content Placeholder 2">
            <a:extLst>
              <a:ext uri="{FF2B5EF4-FFF2-40B4-BE49-F238E27FC236}">
                <a16:creationId xmlns:a16="http://schemas.microsoft.com/office/drawing/2014/main" id="{819B3DA3-92C5-0BD0-5FEE-74A320A37333}"/>
              </a:ext>
            </a:extLst>
          </p:cNvPr>
          <p:cNvSpPr>
            <a:spLocks noGrp="1"/>
          </p:cNvSpPr>
          <p:nvPr>
            <p:ph idx="1"/>
          </p:nvPr>
        </p:nvSpPr>
        <p:spPr/>
        <p:txBody>
          <a:bodyPr>
            <a:normAutofit/>
          </a:bodyPr>
          <a:lstStyle/>
          <a:p>
            <a:r>
              <a:rPr lang="en-US" sz="1800"/>
              <a:t>A trigger is the event that kicks the workflow off
Examples: an email arrives, a file is uploaded, a form is submitted, a schedule hits
Every flow has exactly one trigger — its starting gun
The trigger carries data into the flow: sender, subject, file name, form answers
Choose the trigger that matches the business event you want to react to</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extLst>
      <p:ext uri="{BB962C8B-B14F-4D97-AF65-F5344CB8AC3E}">
        <p14:creationId xmlns:p14="http://schemas.microsoft.com/office/powerpoint/2010/main" val="1953617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EDB2D-89B0-1B2C-ACE9-2277349D11F3}"/>
              </a:ext>
            </a:extLst>
          </p:cNvPr>
          <p:cNvSpPr>
            <a:spLocks noGrp="1"/>
          </p:cNvSpPr>
          <p:nvPr>
            <p:ph type="title"/>
          </p:nvPr>
        </p:nvSpPr>
        <p:spPr/>
        <p:txBody>
          <a:bodyPr/>
          <a:lstStyle/>
          <a:p>
            <a:r>
              <a:rPr lang="en-US"/>
              <a:t>Actions — What the Workflow Does</a:t>
            </a:r>
          </a:p>
        </p:txBody>
      </p:sp>
      <p:sp>
        <p:nvSpPr>
          <p:cNvPr id="3" name="Content Placeholder 2">
            <a:extLst>
              <a:ext uri="{FF2B5EF4-FFF2-40B4-BE49-F238E27FC236}">
                <a16:creationId xmlns:a16="http://schemas.microsoft.com/office/drawing/2014/main" id="{BD57A4F1-44A4-D473-24BF-A849AE79A8D6}"/>
              </a:ext>
            </a:extLst>
          </p:cNvPr>
          <p:cNvSpPr>
            <a:spLocks noGrp="1"/>
          </p:cNvSpPr>
          <p:nvPr>
            <p:ph idx="1"/>
          </p:nvPr>
        </p:nvSpPr>
        <p:spPr/>
        <p:txBody>
          <a:bodyPr>
            <a:normAutofit/>
          </a:bodyPr>
          <a:lstStyle/>
          <a:p>
            <a:r>
              <a:rPr lang="en-US" sz="1800"/>
              <a:t>Actions are the steps performed after the trigger fires
Examples: send an email, add a row to Excel, post a notification, request an approval
They run in sequence — each step can reuse data from earlier steps
Combine many actions to model a complete business process
Add conditions to decide which actions run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extLst>
      <p:ext uri="{BB962C8B-B14F-4D97-AF65-F5344CB8AC3E}">
        <p14:creationId xmlns:p14="http://schemas.microsoft.com/office/powerpoint/2010/main" val="1395163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3A54-8BD4-AE75-24F5-9FBD6374132A}"/>
              </a:ext>
            </a:extLst>
          </p:cNvPr>
          <p:cNvSpPr>
            <a:spLocks noGrp="1"/>
          </p:cNvSpPr>
          <p:nvPr>
            <p:ph type="title"/>
          </p:nvPr>
        </p:nvSpPr>
        <p:spPr/>
        <p:txBody>
          <a:bodyPr/>
          <a:lstStyle/>
          <a:p>
            <a:r>
              <a:rPr lang="en-US"/>
              <a:t>Outputs — The Result</a:t>
            </a:r>
          </a:p>
        </p:txBody>
      </p:sp>
      <p:sp>
        <p:nvSpPr>
          <p:cNvPr id="3" name="Content Placeholder 2">
            <a:extLst>
              <a:ext uri="{FF2B5EF4-FFF2-40B4-BE49-F238E27FC236}">
                <a16:creationId xmlns:a16="http://schemas.microsoft.com/office/drawing/2014/main" id="{43F00432-FAAE-9E5E-4F82-97D23D8A3C93}"/>
              </a:ext>
            </a:extLst>
          </p:cNvPr>
          <p:cNvSpPr>
            <a:spLocks noGrp="1"/>
          </p:cNvSpPr>
          <p:nvPr>
            <p:ph idx="1"/>
          </p:nvPr>
        </p:nvSpPr>
        <p:spPr/>
        <p:txBody>
          <a:bodyPr>
            <a:normAutofit/>
          </a:bodyPr>
          <a:lstStyle/>
          <a:p>
            <a:r>
              <a:rPr lang="en-US" sz="1800"/>
              <a:t>The output is the outcome the workflow produces
A logged record, a sent email, an approval decision, a notification
Outputs can become the input to the next workflow
Judge success by the output: did the right thing happen, reliably?</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extLst>
      <p:ext uri="{BB962C8B-B14F-4D97-AF65-F5344CB8AC3E}">
        <p14:creationId xmlns:p14="http://schemas.microsoft.com/office/powerpoint/2010/main" val="963911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C3E9F-EC95-59F9-94BE-7A540B7966C4}"/>
              </a:ext>
            </a:extLst>
          </p:cNvPr>
          <p:cNvSpPr>
            <a:spLocks noGrp="1"/>
          </p:cNvSpPr>
          <p:nvPr>
            <p:ph type="title"/>
          </p:nvPr>
        </p:nvSpPr>
        <p:spPr/>
        <p:txBody>
          <a:bodyPr/>
          <a:lstStyle/>
          <a:p>
            <a:r>
              <a:rPr lang="en-US"/>
              <a:t>Workflow Steps — Putting It Together</a:t>
            </a:r>
          </a:p>
        </p:txBody>
      </p:sp>
      <p:sp>
        <p:nvSpPr>
          <p:cNvPr id="3" name="Content Placeholder 2">
            <a:extLst>
              <a:ext uri="{FF2B5EF4-FFF2-40B4-BE49-F238E27FC236}">
                <a16:creationId xmlns:a16="http://schemas.microsoft.com/office/drawing/2014/main" id="{049EEBD4-D4C5-A489-F8A8-0764E783E1B4}"/>
              </a:ext>
            </a:extLst>
          </p:cNvPr>
          <p:cNvSpPr>
            <a:spLocks noGrp="1"/>
          </p:cNvSpPr>
          <p:nvPr>
            <p:ph idx="1"/>
          </p:nvPr>
        </p:nvSpPr>
        <p:spPr/>
        <p:txBody>
          <a:bodyPr>
            <a:normAutofit/>
          </a:bodyPr>
          <a:lstStyle/>
          <a:p>
            <a:r>
              <a:rPr lang="en-US" sz="1800"/>
              <a:t>Steps run top-to-bottom after the trigger
Add conditions (if / then) to branch the logic
Pass data between steps using dynamic content
Example: New email → read the details → log to Excel → notify the team
Build complexity gradually — start simple, then extend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extLst>
      <p:ext uri="{BB962C8B-B14F-4D97-AF65-F5344CB8AC3E}">
        <p14:creationId xmlns:p14="http://schemas.microsoft.com/office/powerpoint/2010/main" val="3659566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A0CFB-104D-C8CF-C46D-D31E12710B22}"/>
              </a:ext>
            </a:extLst>
          </p:cNvPr>
          <p:cNvSpPr>
            <a:spLocks noGrp="1"/>
          </p:cNvSpPr>
          <p:nvPr>
            <p:ph type="title"/>
          </p:nvPr>
        </p:nvSpPr>
        <p:spPr/>
        <p:txBody>
          <a:bodyPr/>
          <a:lstStyle/>
          <a:p>
            <a:r>
              <a:rPr lang="en-US"/>
              <a:t>Anatomy of a Workflow</a:t>
            </a:r>
          </a:p>
        </p:txBody>
      </p:sp>
      <p:sp>
        <p:nvSpPr>
          <p:cNvPr id="3" name="Rounded Rectangle 2">
            <a:extLst>
              <a:ext uri="{FF2B5EF4-FFF2-40B4-BE49-F238E27FC236}">
                <a16:creationId xmlns:a16="http://schemas.microsoft.com/office/drawing/2014/main" id="{4B092ECF-C0C7-1B42-8481-5D2BED0FDB03}"/>
              </a:ext>
            </a:extLst>
          </p:cNvPr>
          <p:cNvSpPr/>
          <p:nvPr/>
        </p:nvSpPr>
        <p:spPr>
          <a:xfrm>
            <a:off x="393700" y="2452688"/>
            <a:ext cx="2413000" cy="1905000"/>
          </a:xfrm>
          <a:prstGeom prst="roundRect">
            <a:avLst/>
          </a:prstGeom>
          <a:solidFill>
            <a:srgbClr val="2563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FFFFFF"/>
                </a:solidFill>
              </a:rPr>
              <a:t>TRIGGER
An event starts the flow
e.g. email received</a:t>
            </a:r>
          </a:p>
        </p:txBody>
      </p:sp>
      <p:sp>
        <p:nvSpPr>
          <p:cNvPr id="4" name="Right Arrow 3">
            <a:extLst>
              <a:ext uri="{FF2B5EF4-FFF2-40B4-BE49-F238E27FC236}">
                <a16:creationId xmlns:a16="http://schemas.microsoft.com/office/drawing/2014/main" id="{EA8473DE-6B35-F343-9218-9C17CE75B707}"/>
              </a:ext>
            </a:extLst>
          </p:cNvPr>
          <p:cNvSpPr/>
          <p:nvPr/>
        </p:nvSpPr>
        <p:spPr>
          <a:xfrm>
            <a:off x="2882900" y="3240088"/>
            <a:ext cx="431800" cy="3302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ounded Rectangle 4">
            <a:extLst>
              <a:ext uri="{FF2B5EF4-FFF2-40B4-BE49-F238E27FC236}">
                <a16:creationId xmlns:a16="http://schemas.microsoft.com/office/drawing/2014/main" id="{B460B88B-199E-1A48-A318-542AA1C3EC6D}"/>
              </a:ext>
            </a:extLst>
          </p:cNvPr>
          <p:cNvSpPr/>
          <p:nvPr/>
        </p:nvSpPr>
        <p:spPr>
          <a:xfrm>
            <a:off x="3390900" y="2452688"/>
            <a:ext cx="2413000" cy="1905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FFFFFF"/>
                </a:solidFill>
              </a:rPr>
              <a:t>ACTION
Read &amp; process the data
e.g. extract details</a:t>
            </a:r>
          </a:p>
        </p:txBody>
      </p:sp>
      <p:sp>
        <p:nvSpPr>
          <p:cNvPr id="6" name="Right Arrow 5">
            <a:extLst>
              <a:ext uri="{FF2B5EF4-FFF2-40B4-BE49-F238E27FC236}">
                <a16:creationId xmlns:a16="http://schemas.microsoft.com/office/drawing/2014/main" id="{F908B3DF-5D35-364C-8CED-F909D084D7F9}"/>
              </a:ext>
            </a:extLst>
          </p:cNvPr>
          <p:cNvSpPr/>
          <p:nvPr/>
        </p:nvSpPr>
        <p:spPr>
          <a:xfrm>
            <a:off x="5880100" y="3240088"/>
            <a:ext cx="431800" cy="3302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ounded Rectangle 6">
            <a:extLst>
              <a:ext uri="{FF2B5EF4-FFF2-40B4-BE49-F238E27FC236}">
                <a16:creationId xmlns:a16="http://schemas.microsoft.com/office/drawing/2014/main" id="{66076C38-02F5-604B-897F-65600F8C97FE}"/>
              </a:ext>
            </a:extLst>
          </p:cNvPr>
          <p:cNvSpPr/>
          <p:nvPr/>
        </p:nvSpPr>
        <p:spPr>
          <a:xfrm>
            <a:off x="6388100" y="2452688"/>
            <a:ext cx="2413000" cy="1905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FFFFFF"/>
                </a:solidFill>
              </a:rPr>
              <a:t>ACTION
Do the work
e.g. log to Excel</a:t>
            </a:r>
          </a:p>
        </p:txBody>
      </p:sp>
      <p:sp>
        <p:nvSpPr>
          <p:cNvPr id="8" name="Right Arrow 7">
            <a:extLst>
              <a:ext uri="{FF2B5EF4-FFF2-40B4-BE49-F238E27FC236}">
                <a16:creationId xmlns:a16="http://schemas.microsoft.com/office/drawing/2014/main" id="{7B7A2EAC-EB2C-A945-9BA3-1F7668C50739}"/>
              </a:ext>
            </a:extLst>
          </p:cNvPr>
          <p:cNvSpPr/>
          <p:nvPr/>
        </p:nvSpPr>
        <p:spPr>
          <a:xfrm>
            <a:off x="8877300" y="3240088"/>
            <a:ext cx="431800" cy="3302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FD3ECA41-144E-4E46-A992-1B89DFCCB155}"/>
              </a:ext>
            </a:extLst>
          </p:cNvPr>
          <p:cNvSpPr/>
          <p:nvPr/>
        </p:nvSpPr>
        <p:spPr>
          <a:xfrm>
            <a:off x="9385300" y="2452688"/>
            <a:ext cx="2413000" cy="1905000"/>
          </a:xfrm>
          <a:prstGeom prst="roundRect">
            <a:avLst/>
          </a:prstGeom>
          <a:solidFill>
            <a:srgbClr val="0E74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FFFFFF"/>
                </a:solidFill>
              </a:rPr>
              <a:t>OUTPUT
Deliver the result
e.g. notify the team</a:t>
            </a:r>
          </a:p>
        </p:txBody>
      </p:sp>
      <p:sp>
        <p:nvSpPr>
          <p:cNvPr id="10" name="TextBox 9">
            <a:extLst>
              <a:ext uri="{FF2B5EF4-FFF2-40B4-BE49-F238E27FC236}">
                <a16:creationId xmlns:a16="http://schemas.microsoft.com/office/drawing/2014/main" id="{C88F9FAD-DC25-C64B-B444-1F5A35680758}"/>
              </a:ext>
            </a:extLst>
          </p:cNvPr>
          <p:cNvSpPr txBox="1"/>
          <p:nvPr/>
        </p:nvSpPr>
        <p:spPr>
          <a:xfrm>
            <a:off x="393700" y="4789488"/>
            <a:ext cx="11404600" cy="508000"/>
          </a:xfrm>
          <a:prstGeom prst="rect">
            <a:avLst/>
          </a:prstGeom>
          <a:noFill/>
        </p:spPr>
        <p:txBody>
          <a:bodyPr vertOverflow="overflow" vert="horz" wrap="square" rtlCol="0" anchor="t">
            <a:spAutoFit/>
          </a:bodyPr>
          <a:lstStyle/>
          <a:p>
            <a:pPr algn="l"/>
            <a:r>
              <a:rPr lang="en-US" sz="1600" i="1">
                <a:solidFill>
                  <a:srgbClr val="2B2B40"/>
                </a:solidFill>
              </a:rPr>
              <a:t>Master this pattern — Trigger → Action(s) → Output — and you can build any automation.</a:t>
            </a:r>
          </a:p>
        </p:txBody>
      </p:sp>
      <p:sp>
        <p:nvSpPr>
          <p:cNvPr id="11" name="TextBox 10"/>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12" name="TextBox 11"/>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extLst>
      <p:ext uri="{BB962C8B-B14F-4D97-AF65-F5344CB8AC3E}">
        <p14:creationId xmlns:p14="http://schemas.microsoft.com/office/powerpoint/2010/main" val="3892726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0AADC-2A14-2CA2-8FB5-1F1AAD46EA38}"/>
              </a:ext>
            </a:extLst>
          </p:cNvPr>
          <p:cNvSpPr>
            <a:spLocks noGrp="1"/>
          </p:cNvSpPr>
          <p:nvPr>
            <p:ph type="title"/>
          </p:nvPr>
        </p:nvSpPr>
        <p:spPr/>
        <p:txBody>
          <a:bodyPr/>
          <a:lstStyle/>
          <a:p>
            <a:r>
              <a:rPr lang="en-US"/>
              <a:t>Module 1 Recap</a:t>
            </a:r>
          </a:p>
        </p:txBody>
      </p:sp>
      <p:sp>
        <p:nvSpPr>
          <p:cNvPr id="3" name="Content Placeholder 2">
            <a:extLst>
              <a:ext uri="{FF2B5EF4-FFF2-40B4-BE49-F238E27FC236}">
                <a16:creationId xmlns:a16="http://schemas.microsoft.com/office/drawing/2014/main" id="{FA81A6F9-61C8-BA9D-CECD-CD8308DAA5FC}"/>
              </a:ext>
            </a:extLst>
          </p:cNvPr>
          <p:cNvSpPr>
            <a:spLocks noGrp="1"/>
          </p:cNvSpPr>
          <p:nvPr>
            <p:ph idx="1"/>
          </p:nvPr>
        </p:nvSpPr>
        <p:spPr/>
        <p:txBody>
          <a:bodyPr>
            <a:normAutofit/>
          </a:bodyPr>
          <a:lstStyle/>
          <a:p>
            <a:r>
              <a:rPr lang="en-US" sz="1800"/>
              <a:t>Automation runs repeatable work for you — saving time and cutting errors
Standalone agents inform; integrated workflows take action
Every workflow follows: Trigger → Actions → Output
Triggers start it, actions do the work, outputs deliver the result
Next: build real flows in Microsoft Power Automate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extLst>
      <p:ext uri="{BB962C8B-B14F-4D97-AF65-F5344CB8AC3E}">
        <p14:creationId xmlns:p14="http://schemas.microsoft.com/office/powerpoint/2010/main" val="161137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65C49-60E9-4A7E-9BBE-B4A86CA5E178}"/>
              </a:ext>
            </a:extLst>
          </p:cNvPr>
          <p:cNvSpPr>
            <a:spLocks noGrp="1"/>
          </p:cNvSpPr>
          <p:nvPr>
            <p:ph type="title"/>
          </p:nvPr>
        </p:nvSpPr>
        <p:spPr/>
        <p:txBody>
          <a:bodyPr/>
          <a:lstStyle/>
          <a:p>
            <a:r>
              <a:rPr lang="en-US"/>
              <a:t>Module 2 · Introduction to Power Automate</a:t>
            </a:r>
          </a:p>
        </p:txBody>
      </p:sp>
      <p:sp>
        <p:nvSpPr>
          <p:cNvPr id="3" name="Text Placeholder 2">
            <a:extLst>
              <a:ext uri="{FF2B5EF4-FFF2-40B4-BE49-F238E27FC236}">
                <a16:creationId xmlns:a16="http://schemas.microsoft.com/office/drawing/2014/main" id="{35C67494-DB45-D7B6-BB5D-ACB9253AB3E1}"/>
              </a:ext>
            </a:extLst>
          </p:cNvPr>
          <p:cNvSpPr>
            <a:spLocks noGrp="1"/>
          </p:cNvSpPr>
          <p:nvPr>
            <p:ph type="body" idx="1"/>
          </p:nvPr>
        </p:nvSpPr>
        <p:spPr/>
        <p:txBody>
          <a:bodyPr>
            <a:normAutofit/>
          </a:bodyPr>
          <a:lstStyle/>
          <a:p>
            <a:r>
              <a:rPr lang="en-US" sz="1800" b="1">
                <a:solidFill>
                  <a:srgbClr val="7C3AED"/>
                </a:solidFill>
              </a:rPr>
              <a:t>Triggers, actions, and your first five working flows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extLst>
      <p:ext uri="{BB962C8B-B14F-4D97-AF65-F5344CB8AC3E}">
        <p14:creationId xmlns:p14="http://schemas.microsoft.com/office/powerpoint/2010/main" val="3403971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C6F1B-A19A-7BFA-7347-5DCFD6C7E10A}"/>
              </a:ext>
            </a:extLst>
          </p:cNvPr>
          <p:cNvSpPr>
            <a:spLocks noGrp="1"/>
          </p:cNvSpPr>
          <p:nvPr>
            <p:ph type="title"/>
          </p:nvPr>
        </p:nvSpPr>
        <p:spPr/>
        <p:txBody>
          <a:bodyPr/>
          <a:lstStyle/>
          <a:p>
            <a:r>
              <a:rPr lang="en-US"/>
              <a:t>Overview of Power Automate</a:t>
            </a:r>
          </a:p>
        </p:txBody>
      </p:sp>
      <p:sp>
        <p:nvSpPr>
          <p:cNvPr id="3" name="Content Placeholder 2">
            <a:extLst>
              <a:ext uri="{FF2B5EF4-FFF2-40B4-BE49-F238E27FC236}">
                <a16:creationId xmlns:a16="http://schemas.microsoft.com/office/drawing/2014/main" id="{FD29EA35-B271-A181-58DA-B4B41380BAF9}"/>
              </a:ext>
            </a:extLst>
          </p:cNvPr>
          <p:cNvSpPr>
            <a:spLocks noGrp="1"/>
          </p:cNvSpPr>
          <p:nvPr>
            <p:ph idx="1"/>
          </p:nvPr>
        </p:nvSpPr>
        <p:spPr/>
        <p:txBody>
          <a:bodyPr>
            <a:normAutofit/>
          </a:bodyPr>
          <a:lstStyle/>
          <a:p>
            <a:r>
              <a:rPr lang="en-US" sz="1800"/>
              <a:t>Microsoft's low-code tool for automating tasks and processes
Connects 1,000+ apps and services — Outlook, Excel, SharePoint, Teams, Forms and more
Build flows visually: pick a trigger, add actions, done
Runs in the cloud — no servers, no code to maintain
Part of Microsoft 365 and the Power Platform</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extLst>
      <p:ext uri="{BB962C8B-B14F-4D97-AF65-F5344CB8AC3E}">
        <p14:creationId xmlns:p14="http://schemas.microsoft.com/office/powerpoint/2010/main" val="4119977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13AF4-ABBF-44C9-36C0-E7FAF3EE46F6}"/>
              </a:ext>
            </a:extLst>
          </p:cNvPr>
          <p:cNvSpPr>
            <a:spLocks noGrp="1"/>
          </p:cNvSpPr>
          <p:nvPr>
            <p:ph type="title"/>
          </p:nvPr>
        </p:nvSpPr>
        <p:spPr/>
        <p:txBody>
          <a:bodyPr/>
          <a:lstStyle/>
          <a:p>
            <a:r>
              <a:rPr lang="en-US"/>
              <a:t>Types of Flow</a:t>
            </a:r>
          </a:p>
        </p:txBody>
      </p:sp>
      <p:sp>
        <p:nvSpPr>
          <p:cNvPr id="3" name="Content Placeholder 2">
            <a:extLst>
              <a:ext uri="{FF2B5EF4-FFF2-40B4-BE49-F238E27FC236}">
                <a16:creationId xmlns:a16="http://schemas.microsoft.com/office/drawing/2014/main" id="{6CC9141F-854E-F2D7-0BB1-14EB46B5741C}"/>
              </a:ext>
            </a:extLst>
          </p:cNvPr>
          <p:cNvSpPr>
            <a:spLocks noGrp="1"/>
          </p:cNvSpPr>
          <p:nvPr>
            <p:ph idx="1"/>
          </p:nvPr>
        </p:nvSpPr>
        <p:spPr/>
        <p:txBody>
          <a:bodyPr>
            <a:normAutofit/>
          </a:bodyPr>
          <a:lstStyle/>
          <a:p>
            <a:r>
              <a:rPr lang="en-US" sz="1800"/>
              <a:t>Automated — starts when an event happens (email arrives, file added)
Instant — you start it on demand with a button
Scheduled — runs on a timer (daily, hourly, weekly)
This course focuses on automated flows triggered by business events
All are built in the same visual flow designer</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extLst>
      <p:ext uri="{BB962C8B-B14F-4D97-AF65-F5344CB8AC3E}">
        <p14:creationId xmlns:p14="http://schemas.microsoft.com/office/powerpoint/2010/main" val="3976227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24B13-8E5D-ADE6-A6B6-7865D9400CFB}"/>
              </a:ext>
            </a:extLst>
          </p:cNvPr>
          <p:cNvSpPr>
            <a:spLocks noGrp="1"/>
          </p:cNvSpPr>
          <p:nvPr>
            <p:ph type="title"/>
          </p:nvPr>
        </p:nvSpPr>
        <p:spPr/>
        <p:txBody>
          <a:bodyPr/>
          <a:lstStyle/>
          <a:p>
            <a:r>
              <a:rPr lang="en-US"/>
              <a:t>The Maker Experience</a:t>
            </a:r>
          </a:p>
        </p:txBody>
      </p:sp>
      <p:sp>
        <p:nvSpPr>
          <p:cNvPr id="3" name="Content Placeholder 2">
            <a:extLst>
              <a:ext uri="{FF2B5EF4-FFF2-40B4-BE49-F238E27FC236}">
                <a16:creationId xmlns:a16="http://schemas.microsoft.com/office/drawing/2014/main" id="{49FBECF1-7D30-BC1A-A071-A1BDBBB57A72}"/>
              </a:ext>
            </a:extLst>
          </p:cNvPr>
          <p:cNvSpPr>
            <a:spLocks noGrp="1"/>
          </p:cNvSpPr>
          <p:nvPr>
            <p:ph idx="1"/>
          </p:nvPr>
        </p:nvSpPr>
        <p:spPr/>
        <p:txBody>
          <a:bodyPr>
            <a:normAutofit/>
          </a:bodyPr>
          <a:lstStyle/>
          <a:p>
            <a:r>
              <a:rPr lang="en-US" sz="1800"/>
              <a:t>Build flows at make.powerautomate.com
Designer canvas: trigger at the top, actions added below
Search a connector, choose an action, fill in the fields
Insert dynamic content to pass data between steps
Test, then turn the flow on — it runs automatically from then on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extLst>
      <p:ext uri="{BB962C8B-B14F-4D97-AF65-F5344CB8AC3E}">
        <p14:creationId xmlns:p14="http://schemas.microsoft.com/office/powerpoint/2010/main" val="1332822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882FB-4F9D-CD24-BF71-41C32AB0087C}"/>
              </a:ext>
            </a:extLst>
          </p:cNvPr>
          <p:cNvSpPr>
            <a:spLocks noGrp="1"/>
          </p:cNvSpPr>
          <p:nvPr>
            <p:ph type="title"/>
          </p:nvPr>
        </p:nvSpPr>
        <p:spPr/>
        <p:txBody>
          <a:bodyPr/>
          <a:lstStyle/>
          <a:p>
            <a:r>
              <a:rPr lang="en-US"/>
              <a:t>Common Triggers</a:t>
            </a:r>
          </a:p>
        </p:txBody>
      </p:sp>
      <p:sp>
        <p:nvSpPr>
          <p:cNvPr id="3" name="Content Placeholder 2">
            <a:extLst>
              <a:ext uri="{FF2B5EF4-FFF2-40B4-BE49-F238E27FC236}">
                <a16:creationId xmlns:a16="http://schemas.microsoft.com/office/drawing/2014/main" id="{91B1CDCB-7BCB-871E-3B9F-3D4EC2E42B3B}"/>
              </a:ext>
            </a:extLst>
          </p:cNvPr>
          <p:cNvSpPr>
            <a:spLocks noGrp="1"/>
          </p:cNvSpPr>
          <p:nvPr>
            <p:ph idx="1"/>
          </p:nvPr>
        </p:nvSpPr>
        <p:spPr/>
        <p:txBody>
          <a:bodyPr>
            <a:normAutofit/>
          </a:bodyPr>
          <a:lstStyle/>
          <a:p>
            <a:r>
              <a:rPr lang="en-US" sz="1800"/>
              <a:t>A trigger is the event that starts your flow
Email received — react to incoming mail in Outlook
File upload — a new file lands in SharePoint or OneDrive
Form submission — someone responds to a Microsoft Form
Each trigger hands its data to the rest of the flow</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extLst>
      <p:ext uri="{BB962C8B-B14F-4D97-AF65-F5344CB8AC3E}">
        <p14:creationId xmlns:p14="http://schemas.microsoft.com/office/powerpoint/2010/main" val="2395582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BE857-4548-8DC3-C414-305FEEFE4BF7}"/>
              </a:ext>
            </a:extLst>
          </p:cNvPr>
          <p:cNvSpPr>
            <a:spLocks noGrp="1"/>
          </p:cNvSpPr>
          <p:nvPr>
            <p:ph type="title"/>
          </p:nvPr>
        </p:nvSpPr>
        <p:spPr/>
        <p:txBody>
          <a:bodyPr/>
          <a:lstStyle/>
          <a:p>
            <a:r>
              <a:rPr lang="en-US"/>
              <a:t>Trigger: Email Received</a:t>
            </a:r>
          </a:p>
        </p:txBody>
      </p:sp>
      <p:sp>
        <p:nvSpPr>
          <p:cNvPr id="3" name="Content Placeholder 2">
            <a:extLst>
              <a:ext uri="{FF2B5EF4-FFF2-40B4-BE49-F238E27FC236}">
                <a16:creationId xmlns:a16="http://schemas.microsoft.com/office/drawing/2014/main" id="{B8865A9C-F97A-F0C3-7581-0BF1813E02BF}"/>
              </a:ext>
            </a:extLst>
          </p:cNvPr>
          <p:cNvSpPr>
            <a:spLocks noGrp="1"/>
          </p:cNvSpPr>
          <p:nvPr>
            <p:ph idx="1"/>
          </p:nvPr>
        </p:nvSpPr>
        <p:spPr/>
        <p:txBody>
          <a:bodyPr>
            <a:normAutofit/>
          </a:bodyPr>
          <a:lstStyle/>
          <a:p>
            <a:r>
              <a:rPr lang="en-US" sz="1800"/>
              <a:t>Starts a flow when a new email arrives in Outlook
Filter by sender, subject, folder or importance
Grabs the email's data: from, subject, body, attachments
Use it for: enquiries, requests, alerts and notifications
Lab example: a sales enquiry email kicks off logging and a reply</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extLst>
      <p:ext uri="{BB962C8B-B14F-4D97-AF65-F5344CB8AC3E}">
        <p14:creationId xmlns:p14="http://schemas.microsoft.com/office/powerpoint/2010/main" val="23045675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E78C7-88E1-C652-FA30-FE14841BA4C0}"/>
              </a:ext>
            </a:extLst>
          </p:cNvPr>
          <p:cNvSpPr>
            <a:spLocks noGrp="1"/>
          </p:cNvSpPr>
          <p:nvPr>
            <p:ph type="title"/>
          </p:nvPr>
        </p:nvSpPr>
        <p:spPr/>
        <p:txBody>
          <a:bodyPr/>
          <a:lstStyle/>
          <a:p>
            <a:r>
              <a:rPr lang="en-US"/>
              <a:t>Trigger: File Upload</a:t>
            </a:r>
          </a:p>
        </p:txBody>
      </p:sp>
      <p:sp>
        <p:nvSpPr>
          <p:cNvPr id="3" name="Content Placeholder 2">
            <a:extLst>
              <a:ext uri="{FF2B5EF4-FFF2-40B4-BE49-F238E27FC236}">
                <a16:creationId xmlns:a16="http://schemas.microsoft.com/office/drawing/2014/main" id="{471CD090-E699-430C-A27D-59E512BC2E23}"/>
              </a:ext>
            </a:extLst>
          </p:cNvPr>
          <p:cNvSpPr>
            <a:spLocks noGrp="1"/>
          </p:cNvSpPr>
          <p:nvPr>
            <p:ph idx="1"/>
          </p:nvPr>
        </p:nvSpPr>
        <p:spPr/>
        <p:txBody>
          <a:bodyPr>
            <a:normAutofit/>
          </a:bodyPr>
          <a:lstStyle/>
          <a:p>
            <a:r>
              <a:rPr lang="en-US" sz="1800"/>
              <a:t>Starts a flow when a file is added to SharePoint or OneDrive
Watches a specific folder or document library
Captures the file name, content and metadata
Use it for: invoices, contracts, reports and submissions
Lab example: an uploaded invoice starts an approval workflow</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extLst>
      <p:ext uri="{BB962C8B-B14F-4D97-AF65-F5344CB8AC3E}">
        <p14:creationId xmlns:p14="http://schemas.microsoft.com/office/powerpoint/2010/main" val="21126171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9103D-6F53-F7D6-BBDF-2F2B6DC6548E}"/>
              </a:ext>
            </a:extLst>
          </p:cNvPr>
          <p:cNvSpPr>
            <a:spLocks noGrp="1"/>
          </p:cNvSpPr>
          <p:nvPr>
            <p:ph type="title"/>
          </p:nvPr>
        </p:nvSpPr>
        <p:spPr/>
        <p:txBody>
          <a:bodyPr/>
          <a:lstStyle/>
          <a:p>
            <a:r>
              <a:rPr lang="en-US"/>
              <a:t>Trigger: Form Submission</a:t>
            </a:r>
          </a:p>
        </p:txBody>
      </p:sp>
      <p:sp>
        <p:nvSpPr>
          <p:cNvPr id="3" name="Content Placeholder 2">
            <a:extLst>
              <a:ext uri="{FF2B5EF4-FFF2-40B4-BE49-F238E27FC236}">
                <a16:creationId xmlns:a16="http://schemas.microsoft.com/office/drawing/2014/main" id="{65F01EC8-F18C-89BA-4B8A-B2F8B393CA20}"/>
              </a:ext>
            </a:extLst>
          </p:cNvPr>
          <p:cNvSpPr>
            <a:spLocks noGrp="1"/>
          </p:cNvSpPr>
          <p:nvPr>
            <p:ph idx="1"/>
          </p:nvPr>
        </p:nvSpPr>
        <p:spPr/>
        <p:txBody>
          <a:bodyPr>
            <a:normAutofit/>
          </a:bodyPr>
          <a:lstStyle/>
          <a:p>
            <a:r>
              <a:rPr lang="en-US" sz="1800"/>
              <a:t>Starts a flow when someone submits a Microsoft Form
Each answer becomes data you can use downstream
No inbox or folder to watch — the form is the front door
Use it for: requests, registrations, feedback and orders
Lab example: a purchase request form routes to a manager for approval</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extLst>
      <p:ext uri="{BB962C8B-B14F-4D97-AF65-F5344CB8AC3E}">
        <p14:creationId xmlns:p14="http://schemas.microsoft.com/office/powerpoint/2010/main" val="21480003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74552-B483-2A9B-FEE7-48C42995A68E}"/>
              </a:ext>
            </a:extLst>
          </p:cNvPr>
          <p:cNvSpPr>
            <a:spLocks noGrp="1"/>
          </p:cNvSpPr>
          <p:nvPr>
            <p:ph type="title"/>
          </p:nvPr>
        </p:nvSpPr>
        <p:spPr/>
        <p:txBody>
          <a:bodyPr/>
          <a:lstStyle/>
          <a:p>
            <a:r>
              <a:rPr lang="en-US"/>
              <a:t>Creating Workflow Actions</a:t>
            </a:r>
          </a:p>
        </p:txBody>
      </p:sp>
      <p:sp>
        <p:nvSpPr>
          <p:cNvPr id="3" name="Content Placeholder 2">
            <a:extLst>
              <a:ext uri="{FF2B5EF4-FFF2-40B4-BE49-F238E27FC236}">
                <a16:creationId xmlns:a16="http://schemas.microsoft.com/office/drawing/2014/main" id="{95490472-9356-2685-DF9F-7FC86A93E4B9}"/>
              </a:ext>
            </a:extLst>
          </p:cNvPr>
          <p:cNvSpPr>
            <a:spLocks noGrp="1"/>
          </p:cNvSpPr>
          <p:nvPr>
            <p:ph idx="1"/>
          </p:nvPr>
        </p:nvSpPr>
        <p:spPr/>
        <p:txBody>
          <a:bodyPr>
            <a:normAutofit/>
          </a:bodyPr>
          <a:lstStyle/>
          <a:p>
            <a:r>
              <a:rPr lang="en-US" sz="1800"/>
              <a:t>After the trigger, add the steps that do the work
Search for a connector, then pick the action you need
Fill in the fields — type text or insert dynamic content
Stack actions in order; reorder by dragging
Three actions you'll use constantly: send email, add Excel row, request approval</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extLst>
      <p:ext uri="{BB962C8B-B14F-4D97-AF65-F5344CB8AC3E}">
        <p14:creationId xmlns:p14="http://schemas.microsoft.com/office/powerpoint/2010/main" val="10904523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385E6-0B65-068D-5E4A-9F1011476414}"/>
              </a:ext>
            </a:extLst>
          </p:cNvPr>
          <p:cNvSpPr>
            <a:spLocks noGrp="1"/>
          </p:cNvSpPr>
          <p:nvPr>
            <p:ph type="title"/>
          </p:nvPr>
        </p:nvSpPr>
        <p:spPr/>
        <p:txBody>
          <a:bodyPr/>
          <a:lstStyle/>
          <a:p>
            <a:r>
              <a:rPr lang="en-US"/>
              <a:t>Action: Send Emails</a:t>
            </a:r>
          </a:p>
        </p:txBody>
      </p:sp>
      <p:sp>
        <p:nvSpPr>
          <p:cNvPr id="3" name="Content Placeholder 2">
            <a:extLst>
              <a:ext uri="{FF2B5EF4-FFF2-40B4-BE49-F238E27FC236}">
                <a16:creationId xmlns:a16="http://schemas.microsoft.com/office/drawing/2014/main" id="{64C07D69-E1B7-5B48-30BA-E3CCC9E41413}"/>
              </a:ext>
            </a:extLst>
          </p:cNvPr>
          <p:cNvSpPr>
            <a:spLocks noGrp="1"/>
          </p:cNvSpPr>
          <p:nvPr>
            <p:ph idx="1"/>
          </p:nvPr>
        </p:nvSpPr>
        <p:spPr/>
        <p:txBody>
          <a:bodyPr>
            <a:normAutofit/>
          </a:bodyPr>
          <a:lstStyle/>
          <a:p>
            <a:r>
              <a:rPr lang="en-US" sz="1800"/>
              <a:t>Sends an automated email from Outlook
Set the recipient, subject and body — any can be dynamic
Personalise with data from the trigger (sender name, request details)
Use for confirmations, notifications and auto-replies
Keeps everyone informed without anyone lifting a finger</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extLst>
      <p:ext uri="{BB962C8B-B14F-4D97-AF65-F5344CB8AC3E}">
        <p14:creationId xmlns:p14="http://schemas.microsoft.com/office/powerpoint/2010/main" val="12616571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F21E5-EEDB-DE9A-806D-1A3FC8AF6D34}"/>
              </a:ext>
            </a:extLst>
          </p:cNvPr>
          <p:cNvSpPr>
            <a:spLocks noGrp="1"/>
          </p:cNvSpPr>
          <p:nvPr>
            <p:ph type="title"/>
          </p:nvPr>
        </p:nvSpPr>
        <p:spPr/>
        <p:txBody>
          <a:bodyPr/>
          <a:lstStyle/>
          <a:p>
            <a:r>
              <a:rPr lang="en-US"/>
              <a:t>Action: Create Excel Entries</a:t>
            </a:r>
          </a:p>
        </p:txBody>
      </p:sp>
      <p:sp>
        <p:nvSpPr>
          <p:cNvPr id="3" name="Content Placeholder 2">
            <a:extLst>
              <a:ext uri="{FF2B5EF4-FFF2-40B4-BE49-F238E27FC236}">
                <a16:creationId xmlns:a16="http://schemas.microsoft.com/office/drawing/2014/main" id="{A65D4574-1803-2C84-44CB-6C2CF7815454}"/>
              </a:ext>
            </a:extLst>
          </p:cNvPr>
          <p:cNvSpPr>
            <a:spLocks noGrp="1"/>
          </p:cNvSpPr>
          <p:nvPr>
            <p:ph idx="1"/>
          </p:nvPr>
        </p:nvSpPr>
        <p:spPr/>
        <p:txBody>
          <a:bodyPr>
            <a:normAutofit/>
          </a:bodyPr>
          <a:lstStyle/>
          <a:p>
            <a:r>
              <a:rPr lang="en-US" sz="1800"/>
              <a:t>Adds a new row to a table in an Excel workbook
Map each column to data from the flow
Builds a running log automatically — enquiries, requests, transactions
Stored in OneDrive or SharePoint, ready to filter and report on
Turns scattered events into a clean, structured record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extLst>
      <p:ext uri="{BB962C8B-B14F-4D97-AF65-F5344CB8AC3E}">
        <p14:creationId xmlns:p14="http://schemas.microsoft.com/office/powerpoint/2010/main" val="5895502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FA7B9-0EA7-76AD-04DA-09AA7C662F3D}"/>
              </a:ext>
            </a:extLst>
          </p:cNvPr>
          <p:cNvSpPr>
            <a:spLocks noGrp="1"/>
          </p:cNvSpPr>
          <p:nvPr>
            <p:ph type="title"/>
          </p:nvPr>
        </p:nvSpPr>
        <p:spPr/>
        <p:txBody>
          <a:bodyPr/>
          <a:lstStyle/>
          <a:p>
            <a:r>
              <a:rPr lang="en-US"/>
              <a:t>Action: Notifications &amp; Approvals</a:t>
            </a:r>
          </a:p>
        </p:txBody>
      </p:sp>
      <p:sp>
        <p:nvSpPr>
          <p:cNvPr id="3" name="Content Placeholder 2">
            <a:extLst>
              <a:ext uri="{FF2B5EF4-FFF2-40B4-BE49-F238E27FC236}">
                <a16:creationId xmlns:a16="http://schemas.microsoft.com/office/drawing/2014/main" id="{EAE9F905-8E8D-D676-96DF-2B37FA113F9B}"/>
              </a:ext>
            </a:extLst>
          </p:cNvPr>
          <p:cNvSpPr>
            <a:spLocks noGrp="1"/>
          </p:cNvSpPr>
          <p:nvPr>
            <p:ph idx="1"/>
          </p:nvPr>
        </p:nvSpPr>
        <p:spPr/>
        <p:txBody>
          <a:bodyPr>
            <a:normAutofit/>
          </a:bodyPr>
          <a:lstStyle/>
          <a:p>
            <a:r>
              <a:rPr lang="en-US" sz="1800"/>
              <a:t>Notifications: post to Teams or send an alert when something happens
Approvals: send a request and wait for Approve or Reject
The approver responds by email, Teams or the Power Automate app
The flow pauses, captures the decision, then continues accordingly
Perfect for sign-offs: invoices, purchases, leave and budgets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extLst>
      <p:ext uri="{BB962C8B-B14F-4D97-AF65-F5344CB8AC3E}">
        <p14:creationId xmlns:p14="http://schemas.microsoft.com/office/powerpoint/2010/main" val="8624075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7F9D8-05FB-112C-8EFC-891A14DA8E29}"/>
              </a:ext>
            </a:extLst>
          </p:cNvPr>
          <p:cNvSpPr>
            <a:spLocks noGrp="1"/>
          </p:cNvSpPr>
          <p:nvPr>
            <p:ph type="title"/>
          </p:nvPr>
        </p:nvSpPr>
        <p:spPr/>
        <p:txBody>
          <a:bodyPr/>
          <a:lstStyle/>
          <a:p>
            <a:r>
              <a:rPr lang="en-US"/>
              <a:t>Connectors — Linking It All Together</a:t>
            </a:r>
          </a:p>
        </p:txBody>
      </p:sp>
      <p:sp>
        <p:nvSpPr>
          <p:cNvPr id="3" name="Content Placeholder 2">
            <a:extLst>
              <a:ext uri="{FF2B5EF4-FFF2-40B4-BE49-F238E27FC236}">
                <a16:creationId xmlns:a16="http://schemas.microsoft.com/office/drawing/2014/main" id="{47FAAAD5-8CBE-1D98-5E3A-FB46CC68AE38}"/>
              </a:ext>
            </a:extLst>
          </p:cNvPr>
          <p:cNvSpPr>
            <a:spLocks noGrp="1"/>
          </p:cNvSpPr>
          <p:nvPr>
            <p:ph idx="1"/>
          </p:nvPr>
        </p:nvSpPr>
        <p:spPr/>
        <p:txBody>
          <a:bodyPr>
            <a:normAutofit/>
          </a:bodyPr>
          <a:lstStyle/>
          <a:p>
            <a:r>
              <a:rPr lang="en-US" sz="1800"/>
              <a:t>A connector is the bridge to an app or service
Outlook, Excel, SharePoint, Teams, Forms, Approvals and 1,000+ more
Each connector offers its own triggers and actions
Sign in once; the flow uses your secure connection
Mix connectors freely to span your whole toolset</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extLst>
      <p:ext uri="{BB962C8B-B14F-4D97-AF65-F5344CB8AC3E}">
        <p14:creationId xmlns:p14="http://schemas.microsoft.com/office/powerpoint/2010/main" val="13488177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482DA-07E7-21D1-8338-200DC16410A4}"/>
              </a:ext>
            </a:extLst>
          </p:cNvPr>
          <p:cNvSpPr>
            <a:spLocks noGrp="1"/>
          </p:cNvSpPr>
          <p:nvPr>
            <p:ph type="title"/>
          </p:nvPr>
        </p:nvSpPr>
        <p:spPr/>
        <p:txBody>
          <a:bodyPr/>
          <a:lstStyle/>
          <a:p>
            <a:r>
              <a:rPr lang="en-US"/>
              <a:t>Hands-On Labs · Power Automate</a:t>
            </a:r>
          </a:p>
        </p:txBody>
      </p:sp>
      <p:sp>
        <p:nvSpPr>
          <p:cNvPr id="3" name="Text Placeholder 2">
            <a:extLst>
              <a:ext uri="{FF2B5EF4-FFF2-40B4-BE49-F238E27FC236}">
                <a16:creationId xmlns:a16="http://schemas.microsoft.com/office/drawing/2014/main" id="{78C67DDD-3B12-C6A6-A6D6-C5EC9E5FC4A4}"/>
              </a:ext>
            </a:extLst>
          </p:cNvPr>
          <p:cNvSpPr>
            <a:spLocks noGrp="1"/>
          </p:cNvSpPr>
          <p:nvPr>
            <p:ph type="body" idx="1"/>
          </p:nvPr>
        </p:nvSpPr>
        <p:spPr/>
        <p:txBody>
          <a:bodyPr>
            <a:normAutofit/>
          </a:bodyPr>
          <a:lstStyle/>
          <a:p>
            <a:r>
              <a:rPr lang="en-US" sz="1800" b="1">
                <a:solidFill>
                  <a:srgbClr val="7C3AED"/>
                </a:solidFill>
              </a:rPr>
              <a:t>Build five working flows — email, Excel logging, approval, scheduled and form</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extLst>
      <p:ext uri="{BB962C8B-B14F-4D97-AF65-F5344CB8AC3E}">
        <p14:creationId xmlns:p14="http://schemas.microsoft.com/office/powerpoint/2010/main" val="28050155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6BEB5-409F-5D1F-5E71-EBA1E278DEBD}"/>
              </a:ext>
            </a:extLst>
          </p:cNvPr>
          <p:cNvSpPr>
            <a:spLocks noGrp="1"/>
          </p:cNvSpPr>
          <p:nvPr>
            <p:ph type="title"/>
          </p:nvPr>
        </p:nvSpPr>
        <p:spPr/>
        <p:txBody>
          <a:bodyPr/>
          <a:lstStyle/>
          <a:p>
            <a:r>
              <a:rPr lang="en-US"/>
              <a:t>Lab 1 — Automated Email Workflow</a:t>
            </a:r>
          </a:p>
        </p:txBody>
      </p:sp>
      <p:sp>
        <p:nvSpPr>
          <p:cNvPr id="3" name="Content Placeholder 2">
            <a:extLst>
              <a:ext uri="{FF2B5EF4-FFF2-40B4-BE49-F238E27FC236}">
                <a16:creationId xmlns:a16="http://schemas.microsoft.com/office/drawing/2014/main" id="{F7296010-13BD-E905-03CE-40DB79E0E007}"/>
              </a:ext>
            </a:extLst>
          </p:cNvPr>
          <p:cNvSpPr>
            <a:spLocks noGrp="1"/>
          </p:cNvSpPr>
          <p:nvPr>
            <p:ph sz="half" idx="1"/>
          </p:nvPr>
        </p:nvSpPr>
        <p:spPr/>
        <p:txBody>
          <a:bodyPr>
            <a:normAutofit/>
          </a:bodyPr>
          <a:lstStyle/>
          <a:p>
            <a:r>
              <a:rPr lang="en-US" sz="1600"/>
              <a:t>GOAL
Send a personalised email with one click
YOU'LL USE
Manual (instant) trigger + input
Dynamic content token
Send an email action</a:t>
            </a:r>
          </a:p>
        </p:txBody>
      </p:sp>
      <p:sp>
        <p:nvSpPr>
          <p:cNvPr id="4" name="Content Placeholder 3">
            <a:extLst>
              <a:ext uri="{FF2B5EF4-FFF2-40B4-BE49-F238E27FC236}">
                <a16:creationId xmlns:a16="http://schemas.microsoft.com/office/drawing/2014/main" id="{D78C7F65-0841-6B92-14D3-DFEC0F3329BB}"/>
              </a:ext>
            </a:extLst>
          </p:cNvPr>
          <p:cNvSpPr>
            <a:spLocks noGrp="1"/>
          </p:cNvSpPr>
          <p:nvPr>
            <p:ph sz="half" idx="2"/>
          </p:nvPr>
        </p:nvSpPr>
        <p:spPr/>
        <p:txBody>
          <a:bodyPr>
            <a:normAutofit/>
          </a:bodyPr>
          <a:lstStyle/>
          <a:p>
            <a:r>
              <a:rPr lang="en-US" sz="1600"/>
              <a:t>STEPS
1.  Trigger: Manually trigger a flow
2.  Add a CustomerName input to the trigger
3.  Action: Send an email (V2)
4.  Personalise with the CustomerName token
5.  Test → Manually → Run flow</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extLst>
      <p:ext uri="{BB962C8B-B14F-4D97-AF65-F5344CB8AC3E}">
        <p14:creationId xmlns:p14="http://schemas.microsoft.com/office/powerpoint/2010/main" val="35402146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F1DAB-0399-0360-BFD3-F6CC9BAA2F47}"/>
              </a:ext>
            </a:extLst>
          </p:cNvPr>
          <p:cNvSpPr>
            <a:spLocks noGrp="1"/>
          </p:cNvSpPr>
          <p:nvPr>
            <p:ph type="title"/>
          </p:nvPr>
        </p:nvSpPr>
        <p:spPr/>
        <p:txBody>
          <a:bodyPr/>
          <a:lstStyle/>
          <a:p>
            <a:r>
              <a:rPr lang="en-US"/>
              <a:t>Lab 2 — Excel Data Logging Workflow</a:t>
            </a:r>
          </a:p>
        </p:txBody>
      </p:sp>
      <p:sp>
        <p:nvSpPr>
          <p:cNvPr id="3" name="Content Placeholder 2">
            <a:extLst>
              <a:ext uri="{FF2B5EF4-FFF2-40B4-BE49-F238E27FC236}">
                <a16:creationId xmlns:a16="http://schemas.microsoft.com/office/drawing/2014/main" id="{E3FB79A9-7D23-5518-7482-ACBB3763D77B}"/>
              </a:ext>
            </a:extLst>
          </p:cNvPr>
          <p:cNvSpPr>
            <a:spLocks noGrp="1"/>
          </p:cNvSpPr>
          <p:nvPr>
            <p:ph sz="half" idx="1"/>
          </p:nvPr>
        </p:nvSpPr>
        <p:spPr/>
        <p:txBody>
          <a:bodyPr>
            <a:normAutofit/>
          </a:bodyPr>
          <a:lstStyle/>
          <a:p>
            <a:r>
              <a:rPr lang="en-US" sz="1600"/>
              <a:t>GOAL
Log every submission to an Excel table
YOU'LL USE
Manual trigger with 3 inputs
Excel ‘Add a row’ action
An Excel table in OneDrive</a:t>
            </a:r>
          </a:p>
        </p:txBody>
      </p:sp>
      <p:sp>
        <p:nvSpPr>
          <p:cNvPr id="4" name="Content Placeholder 3">
            <a:extLst>
              <a:ext uri="{FF2B5EF4-FFF2-40B4-BE49-F238E27FC236}">
                <a16:creationId xmlns:a16="http://schemas.microsoft.com/office/drawing/2014/main" id="{7EE21604-4D42-D765-550C-19EC25355F0E}"/>
              </a:ext>
            </a:extLst>
          </p:cNvPr>
          <p:cNvSpPr>
            <a:spLocks noGrp="1"/>
          </p:cNvSpPr>
          <p:nvPr>
            <p:ph sz="half" idx="2"/>
          </p:nvPr>
        </p:nvSpPr>
        <p:spPr/>
        <p:txBody>
          <a:bodyPr>
            <a:normAutofit/>
          </a:bodyPr>
          <a:lstStyle/>
          <a:p>
            <a:r>
              <a:rPr lang="en-US" sz="1600"/>
              <a:t>STEPS
1.  Prepare an Excel table with columns
2.  Trigger inputs: Name, Email, Message
3.  Action: add a row to the table
4.  Map the inputs + fx utcNow() date stamp
5.  Test; optional: swap in a Forms trigger</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extLst>
      <p:ext uri="{BB962C8B-B14F-4D97-AF65-F5344CB8AC3E}">
        <p14:creationId xmlns:p14="http://schemas.microsoft.com/office/powerpoint/2010/main" val="30421729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4941-4D0E-5C2B-5C04-A18FE6E4CC24}"/>
              </a:ext>
            </a:extLst>
          </p:cNvPr>
          <p:cNvSpPr>
            <a:spLocks noGrp="1"/>
          </p:cNvSpPr>
          <p:nvPr>
            <p:ph type="title"/>
          </p:nvPr>
        </p:nvSpPr>
        <p:spPr/>
        <p:txBody>
          <a:bodyPr/>
          <a:lstStyle/>
          <a:p>
            <a:r>
              <a:rPr lang="en-US"/>
              <a:t>Lab 3 — Simple Approval Workflow</a:t>
            </a:r>
          </a:p>
        </p:txBody>
      </p:sp>
      <p:sp>
        <p:nvSpPr>
          <p:cNvPr id="3" name="Content Placeholder 2">
            <a:extLst>
              <a:ext uri="{FF2B5EF4-FFF2-40B4-BE49-F238E27FC236}">
                <a16:creationId xmlns:a16="http://schemas.microsoft.com/office/drawing/2014/main" id="{D967F280-F155-A084-A7DC-5A9A21D152B2}"/>
              </a:ext>
            </a:extLst>
          </p:cNvPr>
          <p:cNvSpPr>
            <a:spLocks noGrp="1"/>
          </p:cNvSpPr>
          <p:nvPr>
            <p:ph sz="half" idx="1"/>
          </p:nvPr>
        </p:nvSpPr>
        <p:spPr/>
        <p:txBody>
          <a:bodyPr>
            <a:normAutofit/>
          </a:bodyPr>
          <a:lstStyle/>
          <a:p>
            <a:r>
              <a:rPr lang="en-US" sz="1600"/>
              <a:t>GOAL
Route a request for Approve / Reject
YOU'LL USE
Manual trigger with 3 inputs
Start and wait for an approval
Send an email action</a:t>
            </a:r>
          </a:p>
        </p:txBody>
      </p:sp>
      <p:sp>
        <p:nvSpPr>
          <p:cNvPr id="4" name="Content Placeholder 3">
            <a:extLst>
              <a:ext uri="{FF2B5EF4-FFF2-40B4-BE49-F238E27FC236}">
                <a16:creationId xmlns:a16="http://schemas.microsoft.com/office/drawing/2014/main" id="{073DA2BB-4E22-9731-A736-3DE77AD8FC1E}"/>
              </a:ext>
            </a:extLst>
          </p:cNvPr>
          <p:cNvSpPr>
            <a:spLocks noGrp="1"/>
          </p:cNvSpPr>
          <p:nvPr>
            <p:ph sz="half" idx="2"/>
          </p:nvPr>
        </p:nvSpPr>
        <p:spPr/>
        <p:txBody>
          <a:bodyPr>
            <a:normAutofit/>
          </a:bodyPr>
          <a:lstStyle/>
          <a:p>
            <a:r>
              <a:rPr lang="en-US" sz="1600"/>
              <a:t>STEPS
1.  Trigger inputs: requester name, email, details
2.  Action: start and wait for approval
3.  Approver chooses Approve or Reject
4.  Condition: branch on the decision
5.  Email the outcome to the requester</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extLst>
      <p:ext uri="{BB962C8B-B14F-4D97-AF65-F5344CB8AC3E}">
        <p14:creationId xmlns:p14="http://schemas.microsoft.com/office/powerpoint/2010/main" val="586675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4941-4D0E-5C2B-5C04-A18FE6E4CC24}"/>
              </a:ext>
            </a:extLst>
          </p:cNvPr>
          <p:cNvSpPr>
            <a:spLocks noGrp="1"/>
          </p:cNvSpPr>
          <p:nvPr>
            <p:ph type="title"/>
          </p:nvPr>
        </p:nvSpPr>
        <p:spPr/>
        <p:txBody>
          <a:bodyPr/>
          <a:lstStyle/>
          <a:p>
            <a:r>
              <a:rPr lang="en-US"/>
              <a:t>Lab 4 — Scheduled Trigger Workflow</a:t>
            </a:r>
          </a:p>
        </p:txBody>
      </p:sp>
      <p:sp>
        <p:nvSpPr>
          <p:cNvPr id="3" name="Content Placeholder 2">
            <a:extLst>
              <a:ext uri="{FF2B5EF4-FFF2-40B4-BE49-F238E27FC236}">
                <a16:creationId xmlns:a16="http://schemas.microsoft.com/office/drawing/2014/main" id="{D967F280-F155-A084-A7DC-5A9A21D152B2}"/>
              </a:ext>
            </a:extLst>
          </p:cNvPr>
          <p:cNvSpPr>
            <a:spLocks noGrp="1"/>
          </p:cNvSpPr>
          <p:nvPr>
            <p:ph sz="half" idx="1"/>
          </p:nvPr>
        </p:nvSpPr>
        <p:spPr/>
        <p:txBody>
          <a:bodyPr>
            <a:normAutofit/>
          </a:bodyPr>
          <a:lstStyle/>
          <a:p>
            <a:r>
              <a:rPr lang="en-US" sz="1600"/>
              <a:t>GOAL
Send a daily reminder / digest automatically
YOU'LL USE
Recurrence (schedule) trigger
Send an email action
Optional: List rows from Excel</a:t>
            </a:r>
          </a:p>
        </p:txBody>
      </p:sp>
      <p:sp>
        <p:nvSpPr>
          <p:cNvPr id="4" name="Content Placeholder 3">
            <a:extLst>
              <a:ext uri="{FF2B5EF4-FFF2-40B4-BE49-F238E27FC236}">
                <a16:creationId xmlns:a16="http://schemas.microsoft.com/office/drawing/2014/main" id="{073DA2BB-4E22-9731-A736-3DE77AD8FC1E}"/>
              </a:ext>
            </a:extLst>
          </p:cNvPr>
          <p:cNvSpPr>
            <a:spLocks noGrp="1"/>
          </p:cNvSpPr>
          <p:nvPr>
            <p:ph sz="half" idx="2"/>
          </p:nvPr>
        </p:nvSpPr>
        <p:spPr/>
        <p:txBody>
          <a:bodyPr>
            <a:normAutofit/>
          </a:bodyPr>
          <a:lstStyle/>
          <a:p>
            <a:r>
              <a:rPr lang="en-US" sz="1600"/>
              <a:t>STEPS
1.  Trigger: Recurrence — weekdays 9 AM
2.  Set the correct time zone
3.  Action: send a reminder email
4.  Optional: add a live count from Excel
5.  Test now, then let it run on schedule</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extLst>
      <p:ext uri="{BB962C8B-B14F-4D97-AF65-F5344CB8AC3E}">
        <p14:creationId xmlns:p14="http://schemas.microsoft.com/office/powerpoint/2010/main" val="5866754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4941-4D0E-5C2B-5C04-A18FE6E4CC24}"/>
              </a:ext>
            </a:extLst>
          </p:cNvPr>
          <p:cNvSpPr>
            <a:spLocks noGrp="1"/>
          </p:cNvSpPr>
          <p:nvPr>
            <p:ph type="title"/>
          </p:nvPr>
        </p:nvSpPr>
        <p:spPr/>
        <p:txBody>
          <a:bodyPr/>
          <a:lstStyle/>
          <a:p>
            <a:r>
              <a:rPr lang="en-US"/>
              <a:t>Lab 5 — Form Submission Workflow</a:t>
            </a:r>
          </a:p>
        </p:txBody>
      </p:sp>
      <p:sp>
        <p:nvSpPr>
          <p:cNvPr id="3" name="Content Placeholder 2">
            <a:extLst>
              <a:ext uri="{FF2B5EF4-FFF2-40B4-BE49-F238E27FC236}">
                <a16:creationId xmlns:a16="http://schemas.microsoft.com/office/drawing/2014/main" id="{D967F280-F155-A084-A7DC-5A9A21D152B2}"/>
              </a:ext>
            </a:extLst>
          </p:cNvPr>
          <p:cNvSpPr>
            <a:spLocks noGrp="1"/>
          </p:cNvSpPr>
          <p:nvPr>
            <p:ph sz="half" idx="1"/>
          </p:nvPr>
        </p:nvSpPr>
        <p:spPr/>
        <p:txBody>
          <a:bodyPr>
            <a:normAutofit/>
          </a:bodyPr>
          <a:lstStyle/>
          <a:p>
            <a:r>
              <a:rPr lang="en-US" sz="1600"/>
              <a:t>GOAL
Capture form submissions to email and Excel
YOU'LL USE
Microsoft Forms trigger
Get response details
Send email + Add a row to Excel</a:t>
            </a:r>
          </a:p>
        </p:txBody>
      </p:sp>
      <p:sp>
        <p:nvSpPr>
          <p:cNvPr id="4" name="Content Placeholder 3">
            <a:extLst>
              <a:ext uri="{FF2B5EF4-FFF2-40B4-BE49-F238E27FC236}">
                <a16:creationId xmlns:a16="http://schemas.microsoft.com/office/drawing/2014/main" id="{073DA2BB-4E22-9731-A736-3DE77AD8FC1E}"/>
              </a:ext>
            </a:extLst>
          </p:cNvPr>
          <p:cNvSpPr>
            <a:spLocks noGrp="1"/>
          </p:cNvSpPr>
          <p:nvPr>
            <p:ph sz="half" idx="2"/>
          </p:nvPr>
        </p:nvSpPr>
        <p:spPr/>
        <p:txBody>
          <a:bodyPr>
            <a:normAutofit/>
          </a:bodyPr>
          <a:lstStyle/>
          <a:p>
            <a:r>
              <a:rPr lang="en-US" sz="1600"/>
              <a:t>STEPS
1.  Build a Microsoft Form (shareable URL)
2.  Trigger: when a response is submitted
3.  Get response details
4.  Email the team the new submission
5.  Log the submission to an Excel table</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extLst>
      <p:ext uri="{BB962C8B-B14F-4D97-AF65-F5344CB8AC3E}">
        <p14:creationId xmlns:p14="http://schemas.microsoft.com/office/powerpoint/2010/main" val="586675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1BDCB-B82E-8929-7B1E-4F1A1BE41B04}"/>
              </a:ext>
            </a:extLst>
          </p:cNvPr>
          <p:cNvSpPr>
            <a:spLocks noGrp="1"/>
          </p:cNvSpPr>
          <p:nvPr>
            <p:ph type="title"/>
          </p:nvPr>
        </p:nvSpPr>
        <p:spPr/>
        <p:txBody>
          <a:bodyPr/>
          <a:lstStyle/>
          <a:p>
            <a:r>
              <a:rPr lang="en-US"/>
              <a:t>Day 1 Recap</a:t>
            </a:r>
          </a:p>
        </p:txBody>
      </p:sp>
      <p:sp>
        <p:nvSpPr>
          <p:cNvPr id="3" name="Content Placeholder 2">
            <a:extLst>
              <a:ext uri="{FF2B5EF4-FFF2-40B4-BE49-F238E27FC236}">
                <a16:creationId xmlns:a16="http://schemas.microsoft.com/office/drawing/2014/main" id="{DE420688-BC85-68E9-EFEB-D3CE8557D411}"/>
              </a:ext>
            </a:extLst>
          </p:cNvPr>
          <p:cNvSpPr>
            <a:spLocks noGrp="1"/>
          </p:cNvSpPr>
          <p:nvPr>
            <p:ph idx="1"/>
          </p:nvPr>
        </p:nvSpPr>
        <p:spPr/>
        <p:txBody>
          <a:bodyPr>
            <a:normAutofit/>
          </a:bodyPr>
          <a:lstStyle/>
          <a:p>
            <a:r>
              <a:rPr lang="en-US" sz="1800"/>
              <a:t>You learned what workflow automation is and why it matters
Every flow = Trigger → Actions → Output
Power Automate connects your apps with low-code flows
You built five working flows: email, Excel logging, approval, scheduled and form
Tomorrow: build AI business agents in Copilot Studio</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extLst>
      <p:ext uri="{BB962C8B-B14F-4D97-AF65-F5344CB8AC3E}">
        <p14:creationId xmlns:p14="http://schemas.microsoft.com/office/powerpoint/2010/main" val="15264767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CFDC1-8B82-A2EB-9EB2-396F7244D9E9}"/>
              </a:ext>
            </a:extLst>
          </p:cNvPr>
          <p:cNvSpPr>
            <a:spLocks noGrp="1"/>
          </p:cNvSpPr>
          <p:nvPr>
            <p:ph type="title"/>
          </p:nvPr>
        </p:nvSpPr>
        <p:spPr/>
        <p:txBody>
          <a:bodyPr/>
          <a:lstStyle/>
          <a:p>
            <a:r>
              <a:rPr lang="en-US"/>
              <a:t>Day 2 — Building Business Agents with Copilot Studio</a:t>
            </a:r>
          </a:p>
        </p:txBody>
      </p:sp>
      <p:sp>
        <p:nvSpPr>
          <p:cNvPr id="3" name="Text Placeholder 2">
            <a:extLst>
              <a:ext uri="{FF2B5EF4-FFF2-40B4-BE49-F238E27FC236}">
                <a16:creationId xmlns:a16="http://schemas.microsoft.com/office/drawing/2014/main" id="{45CD9A7C-6FAC-8D23-F8A9-0FBBFA344045}"/>
              </a:ext>
            </a:extLst>
          </p:cNvPr>
          <p:cNvSpPr>
            <a:spLocks noGrp="1"/>
          </p:cNvSpPr>
          <p:nvPr>
            <p:ph type="body" idx="1"/>
          </p:nvPr>
        </p:nvSpPr>
        <p:spPr/>
        <p:txBody>
          <a:bodyPr>
            <a:normAutofit/>
          </a:bodyPr>
          <a:lstStyle/>
          <a:p>
            <a:r>
              <a:rPr lang="en-US" sz="1800" b="1">
                <a:solidFill>
                  <a:srgbClr val="7C3AED"/>
                </a:solidFill>
              </a:rPr>
              <a:t>Module 3  ·  Create AI agents and connect them to your flows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extLst>
      <p:ext uri="{BB962C8B-B14F-4D97-AF65-F5344CB8AC3E}">
        <p14:creationId xmlns:p14="http://schemas.microsoft.com/office/powerpoint/2010/main" val="20260207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6704F-8AD0-B4B9-F225-46BD56532E68}"/>
              </a:ext>
            </a:extLst>
          </p:cNvPr>
          <p:cNvSpPr>
            <a:spLocks noGrp="1"/>
          </p:cNvSpPr>
          <p:nvPr>
            <p:ph type="title"/>
          </p:nvPr>
        </p:nvSpPr>
        <p:spPr/>
        <p:txBody>
          <a:bodyPr/>
          <a:lstStyle/>
          <a:p>
            <a:r>
              <a:rPr lang="en-US"/>
              <a:t>Day 2 Roadmap</a:t>
            </a:r>
          </a:p>
        </p:txBody>
      </p:sp>
      <p:sp>
        <p:nvSpPr>
          <p:cNvPr id="3" name="Content Placeholder 2">
            <a:extLst>
              <a:ext uri="{FF2B5EF4-FFF2-40B4-BE49-F238E27FC236}">
                <a16:creationId xmlns:a16="http://schemas.microsoft.com/office/drawing/2014/main" id="{9FCABE08-416B-F4B3-7431-E92AC5FC9F6D}"/>
              </a:ext>
            </a:extLst>
          </p:cNvPr>
          <p:cNvSpPr>
            <a:spLocks noGrp="1"/>
          </p:cNvSpPr>
          <p:nvPr>
            <p:ph idx="1"/>
          </p:nvPr>
        </p:nvSpPr>
        <p:spPr/>
        <p:txBody>
          <a:bodyPr>
            <a:normAutofit/>
          </a:bodyPr>
          <a:lstStyle/>
          <a:p>
            <a:r>
              <a:rPr lang="en-US" sz="1800"/>
              <a:t>Recap: yesterday you automated tasks with Power Automate
Today: add intelligence with AI agents in Copilot Studio
Learn to design agents that produce clean, structured output
Connect those agents to the flows you already know
Build six hands-on labs, then sit the WSQ assessment (4:00–6:00pm)</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extLst>
      <p:ext uri="{BB962C8B-B14F-4D97-AF65-F5344CB8AC3E}">
        <p14:creationId xmlns:p14="http://schemas.microsoft.com/office/powerpoint/2010/main" val="38157952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1FFFC-3F9F-EF25-73C6-D53E4AD542B4}"/>
              </a:ext>
            </a:extLst>
          </p:cNvPr>
          <p:cNvSpPr>
            <a:spLocks noGrp="1"/>
          </p:cNvSpPr>
          <p:nvPr>
            <p:ph type="title"/>
          </p:nvPr>
        </p:nvSpPr>
        <p:spPr/>
        <p:txBody>
          <a:bodyPr/>
          <a:lstStyle/>
          <a:p>
            <a:r>
              <a:rPr lang="en-US"/>
              <a:t>Module 3 · Building Business Agents with Copilot Studio</a:t>
            </a:r>
          </a:p>
        </p:txBody>
      </p:sp>
      <p:sp>
        <p:nvSpPr>
          <p:cNvPr id="3" name="Text Placeholder 2">
            <a:extLst>
              <a:ext uri="{FF2B5EF4-FFF2-40B4-BE49-F238E27FC236}">
                <a16:creationId xmlns:a16="http://schemas.microsoft.com/office/drawing/2014/main" id="{8FEE78CB-30D6-CCDF-F84A-0B996FBF7A10}"/>
              </a:ext>
            </a:extLst>
          </p:cNvPr>
          <p:cNvSpPr>
            <a:spLocks noGrp="1"/>
          </p:cNvSpPr>
          <p:nvPr>
            <p:ph type="body" idx="1"/>
          </p:nvPr>
        </p:nvSpPr>
        <p:spPr/>
        <p:txBody>
          <a:bodyPr>
            <a:normAutofit/>
          </a:bodyPr>
          <a:lstStyle/>
          <a:p>
            <a:r>
              <a:rPr lang="en-US" sz="1800" b="1">
                <a:solidFill>
                  <a:srgbClr val="7C3AED"/>
                </a:solidFill>
              </a:rPr>
              <a:t>From a helpful chatbot to an agent that triggers real work</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extLst>
      <p:ext uri="{BB962C8B-B14F-4D97-AF65-F5344CB8AC3E}">
        <p14:creationId xmlns:p14="http://schemas.microsoft.com/office/powerpoint/2010/main" val="40821782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992FD-56F4-4632-E07C-B2E5B3689D6E}"/>
              </a:ext>
            </a:extLst>
          </p:cNvPr>
          <p:cNvSpPr>
            <a:spLocks noGrp="1"/>
          </p:cNvSpPr>
          <p:nvPr>
            <p:ph type="title"/>
          </p:nvPr>
        </p:nvSpPr>
        <p:spPr/>
        <p:txBody>
          <a:bodyPr/>
          <a:lstStyle/>
          <a:p>
            <a:r>
              <a:rPr lang="en-US"/>
              <a:t>What Is Copilot Studio?</a:t>
            </a:r>
          </a:p>
        </p:txBody>
      </p:sp>
      <p:sp>
        <p:nvSpPr>
          <p:cNvPr id="3" name="Content Placeholder 2">
            <a:extLst>
              <a:ext uri="{FF2B5EF4-FFF2-40B4-BE49-F238E27FC236}">
                <a16:creationId xmlns:a16="http://schemas.microsoft.com/office/drawing/2014/main" id="{1CFFF989-1664-64BD-C695-2CAC2586BDDC}"/>
              </a:ext>
            </a:extLst>
          </p:cNvPr>
          <p:cNvSpPr>
            <a:spLocks noGrp="1"/>
          </p:cNvSpPr>
          <p:nvPr>
            <p:ph idx="1"/>
          </p:nvPr>
        </p:nvSpPr>
        <p:spPr/>
        <p:txBody>
          <a:bodyPr>
            <a:normAutofit/>
          </a:bodyPr>
          <a:lstStyle/>
          <a:p>
            <a:r>
              <a:rPr lang="en-US" sz="1800"/>
              <a:t>Microsoft's low-code tool for building custom AI agents
Create conversational agents that understand natural language
Ground them in your own knowledge — documents, sites, data
Agents can call Power Automate flows to take action
Publish to Teams, websites and other channels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extLst>
      <p:ext uri="{BB962C8B-B14F-4D97-AF65-F5344CB8AC3E}">
        <p14:creationId xmlns:p14="http://schemas.microsoft.com/office/powerpoint/2010/main" val="20762356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52BFD-21C0-388E-F8AC-F4B03470DDC4}"/>
              </a:ext>
            </a:extLst>
          </p:cNvPr>
          <p:cNvSpPr>
            <a:spLocks noGrp="1"/>
          </p:cNvSpPr>
          <p:nvPr>
            <p:ph type="title"/>
          </p:nvPr>
        </p:nvSpPr>
        <p:spPr/>
        <p:txBody>
          <a:bodyPr/>
          <a:lstStyle/>
          <a:p>
            <a:r>
              <a:rPr lang="en-US"/>
              <a:t>The Copilot Studio Maker</a:t>
            </a:r>
          </a:p>
        </p:txBody>
      </p:sp>
      <p:sp>
        <p:nvSpPr>
          <p:cNvPr id="3" name="Content Placeholder 2">
            <a:extLst>
              <a:ext uri="{FF2B5EF4-FFF2-40B4-BE49-F238E27FC236}">
                <a16:creationId xmlns:a16="http://schemas.microsoft.com/office/drawing/2014/main" id="{89C7A1A4-1F57-2A5D-4EB6-6F3E00E8E5BB}"/>
              </a:ext>
            </a:extLst>
          </p:cNvPr>
          <p:cNvSpPr>
            <a:spLocks noGrp="1"/>
          </p:cNvSpPr>
          <p:nvPr>
            <p:ph idx="1"/>
          </p:nvPr>
        </p:nvSpPr>
        <p:spPr/>
        <p:txBody>
          <a:bodyPr>
            <a:normAutofit/>
          </a:bodyPr>
          <a:lstStyle/>
          <a:p>
            <a:r>
              <a:rPr lang="en-US" sz="1800"/>
              <a:t>Build agents at copilotstudio.microsoft.com
Create a blank agent, then edit its details and instructions
Add knowledge sources, topics and tools
Test live in the built-in chat panel as you build
Publish when you're happy — update any time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extLst>
      <p:ext uri="{BB962C8B-B14F-4D97-AF65-F5344CB8AC3E}">
        <p14:creationId xmlns:p14="http://schemas.microsoft.com/office/powerpoint/2010/main" val="7041770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3FB51-CEE1-B26C-4A7A-5AA8076775A6}"/>
              </a:ext>
            </a:extLst>
          </p:cNvPr>
          <p:cNvSpPr>
            <a:spLocks noGrp="1"/>
          </p:cNvSpPr>
          <p:nvPr>
            <p:ph type="title"/>
          </p:nvPr>
        </p:nvSpPr>
        <p:spPr/>
        <p:txBody>
          <a:bodyPr/>
          <a:lstStyle/>
          <a:p>
            <a:r>
              <a:rPr lang="en-US"/>
              <a:t>How an Agent Works</a:t>
            </a:r>
          </a:p>
        </p:txBody>
      </p:sp>
      <p:sp>
        <p:nvSpPr>
          <p:cNvPr id="3" name="Content Placeholder 2">
            <a:extLst>
              <a:ext uri="{FF2B5EF4-FFF2-40B4-BE49-F238E27FC236}">
                <a16:creationId xmlns:a16="http://schemas.microsoft.com/office/drawing/2014/main" id="{5211CD51-034A-0050-CEF4-C70825EAC938}"/>
              </a:ext>
            </a:extLst>
          </p:cNvPr>
          <p:cNvSpPr>
            <a:spLocks noGrp="1"/>
          </p:cNvSpPr>
          <p:nvPr>
            <p:ph idx="1"/>
          </p:nvPr>
        </p:nvSpPr>
        <p:spPr/>
        <p:txBody>
          <a:bodyPr>
            <a:normAutofit/>
          </a:bodyPr>
          <a:lstStyle/>
          <a:p>
            <a:r>
              <a:rPr lang="en-US" sz="1800"/>
              <a:t>Instructions tell the agent its role and how to behave
Knowledge gives it the information to answer from
Topics handle specific conversations — the agent chooses one from its description
Tools let it do things — including running your flows
It interprets the user, responds, and can hand off to automation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extLst>
      <p:ext uri="{BB962C8B-B14F-4D97-AF65-F5344CB8AC3E}">
        <p14:creationId xmlns:p14="http://schemas.microsoft.com/office/powerpoint/2010/main" val="40718705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FB79F-EE74-DA8D-C6DC-3356C375A141}"/>
              </a:ext>
            </a:extLst>
          </p:cNvPr>
          <p:cNvSpPr>
            <a:spLocks noGrp="1"/>
          </p:cNvSpPr>
          <p:nvPr>
            <p:ph type="title"/>
          </p:nvPr>
        </p:nvSpPr>
        <p:spPr/>
        <p:txBody>
          <a:bodyPr/>
          <a:lstStyle/>
          <a:p>
            <a:r>
              <a:rPr lang="en-US"/>
              <a:t>What Makes a Good Business Agent</a:t>
            </a:r>
          </a:p>
        </p:txBody>
      </p:sp>
      <p:sp>
        <p:nvSpPr>
          <p:cNvPr id="3" name="Content Placeholder 2">
            <a:extLst>
              <a:ext uri="{FF2B5EF4-FFF2-40B4-BE49-F238E27FC236}">
                <a16:creationId xmlns:a16="http://schemas.microsoft.com/office/drawing/2014/main" id="{3E5DC6E2-59CF-0CB9-5E4D-D12A83E0071A}"/>
              </a:ext>
            </a:extLst>
          </p:cNvPr>
          <p:cNvSpPr>
            <a:spLocks noGrp="1"/>
          </p:cNvSpPr>
          <p:nvPr>
            <p:ph idx="1"/>
          </p:nvPr>
        </p:nvSpPr>
        <p:spPr/>
        <p:txBody>
          <a:bodyPr>
            <a:normAutofit/>
          </a:bodyPr>
          <a:lstStyle/>
          <a:p>
            <a:r>
              <a:rPr lang="en-US" sz="1800"/>
              <a:t>A clear, narrow job — it does one thing well
A defined audience and tone of voice
Reliable, structured output the next step can use
Grounded in trustworthy knowledge — no guessing
Knows when to act: hand off to a flow at the right moment</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extLst>
      <p:ext uri="{BB962C8B-B14F-4D97-AF65-F5344CB8AC3E}">
        <p14:creationId xmlns:p14="http://schemas.microsoft.com/office/powerpoint/2010/main" val="7599357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1CFB4-BFEB-85F9-D843-6DCB08E77699}"/>
              </a:ext>
            </a:extLst>
          </p:cNvPr>
          <p:cNvSpPr>
            <a:spLocks noGrp="1"/>
          </p:cNvSpPr>
          <p:nvPr>
            <p:ph type="title"/>
          </p:nvPr>
        </p:nvSpPr>
        <p:spPr/>
        <p:txBody>
          <a:bodyPr/>
          <a:lstStyle/>
          <a:p>
            <a:r>
              <a:rPr lang="en-US"/>
              <a:t>Creating Practical Business Agents</a:t>
            </a:r>
          </a:p>
        </p:txBody>
      </p:sp>
      <p:sp>
        <p:nvSpPr>
          <p:cNvPr id="3" name="Content Placeholder 2">
            <a:extLst>
              <a:ext uri="{FF2B5EF4-FFF2-40B4-BE49-F238E27FC236}">
                <a16:creationId xmlns:a16="http://schemas.microsoft.com/office/drawing/2014/main" id="{CA3C0C69-1FCB-07E7-DFFA-DDB3929526C8}"/>
              </a:ext>
            </a:extLst>
          </p:cNvPr>
          <p:cNvSpPr>
            <a:spLocks noGrp="1"/>
          </p:cNvSpPr>
          <p:nvPr>
            <p:ph idx="1"/>
          </p:nvPr>
        </p:nvSpPr>
        <p:spPr/>
        <p:txBody>
          <a:bodyPr>
            <a:normAutofit/>
          </a:bodyPr>
          <a:lstStyle/>
          <a:p>
            <a:r>
              <a:rPr lang="en-US" sz="1800"/>
              <a:t>Start from a real task: ‘handle sales enquiries’, ‘log procurement requests’
Write clear instructions: role, scope, what to collect, what to avoid
Add knowledge: product info, policies, price lists, FAQs
Decide the output: what should the agent hand back?
Test with realistic questions before connecting any automation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extLst>
      <p:ext uri="{BB962C8B-B14F-4D97-AF65-F5344CB8AC3E}">
        <p14:creationId xmlns:p14="http://schemas.microsoft.com/office/powerpoint/2010/main" val="17514619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94133-EB8D-D48C-E00C-FBB587521BAB}"/>
              </a:ext>
            </a:extLst>
          </p:cNvPr>
          <p:cNvSpPr>
            <a:spLocks noGrp="1"/>
          </p:cNvSpPr>
          <p:nvPr>
            <p:ph type="title"/>
          </p:nvPr>
        </p:nvSpPr>
        <p:spPr/>
        <p:txBody>
          <a:bodyPr/>
          <a:lstStyle/>
          <a:p>
            <a:r>
              <a:rPr lang="en-US"/>
              <a:t>Prompt Design Fundamentals</a:t>
            </a:r>
          </a:p>
        </p:txBody>
      </p:sp>
      <p:sp>
        <p:nvSpPr>
          <p:cNvPr id="3" name="Content Placeholder 2">
            <a:extLst>
              <a:ext uri="{FF2B5EF4-FFF2-40B4-BE49-F238E27FC236}">
                <a16:creationId xmlns:a16="http://schemas.microsoft.com/office/drawing/2014/main" id="{B91B447A-5DB7-731C-D493-1748FC1CFB8A}"/>
              </a:ext>
            </a:extLst>
          </p:cNvPr>
          <p:cNvSpPr>
            <a:spLocks noGrp="1"/>
          </p:cNvSpPr>
          <p:nvPr>
            <p:ph idx="1"/>
          </p:nvPr>
        </p:nvSpPr>
        <p:spPr/>
        <p:txBody>
          <a:bodyPr>
            <a:normAutofit/>
          </a:bodyPr>
          <a:lstStyle/>
          <a:p>
            <a:r>
              <a:rPr lang="en-US" sz="1800"/>
              <a:t>The prompt is the instruction that shapes the agent's response
Be specific: state the role, the task and the format you want
Give examples of good answers — the agent learns the pattern
Set boundaries: what to do when information is missing
Iterate: test, refine the wording, test again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extLst>
      <p:ext uri="{BB962C8B-B14F-4D97-AF65-F5344CB8AC3E}">
        <p14:creationId xmlns:p14="http://schemas.microsoft.com/office/powerpoint/2010/main" val="23614961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51738-FC22-06D4-AA9C-1284BA381035}"/>
              </a:ext>
            </a:extLst>
          </p:cNvPr>
          <p:cNvSpPr>
            <a:spLocks noGrp="1"/>
          </p:cNvSpPr>
          <p:nvPr>
            <p:ph type="title"/>
          </p:nvPr>
        </p:nvSpPr>
        <p:spPr/>
        <p:txBody>
          <a:bodyPr/>
          <a:lstStyle/>
          <a:p>
            <a:r>
              <a:rPr lang="en-US"/>
              <a:t>Prompt Design for Structured Outputs</a:t>
            </a:r>
          </a:p>
        </p:txBody>
      </p:sp>
      <p:sp>
        <p:nvSpPr>
          <p:cNvPr id="3" name="Content Placeholder 2">
            <a:extLst>
              <a:ext uri="{FF2B5EF4-FFF2-40B4-BE49-F238E27FC236}">
                <a16:creationId xmlns:a16="http://schemas.microsoft.com/office/drawing/2014/main" id="{EFA17231-1535-FA3E-1E29-8F01D614AAAC}"/>
              </a:ext>
            </a:extLst>
          </p:cNvPr>
          <p:cNvSpPr>
            <a:spLocks noGrp="1"/>
          </p:cNvSpPr>
          <p:nvPr>
            <p:ph idx="1"/>
          </p:nvPr>
        </p:nvSpPr>
        <p:spPr/>
        <p:txBody>
          <a:bodyPr>
            <a:normAutofit/>
          </a:bodyPr>
          <a:lstStyle/>
          <a:p>
            <a:r>
              <a:rPr lang="en-US" sz="1800"/>
              <a:t>A workflow needs predictable fields, not free-flowing prose
Ask the agent to return the same fields every time
Name each field clearly: Customer, Product, Quantity, Priority
Specify the format — a labelled list, a table, or JSON
Structured output = data your Power Automate flow can read directly</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extLst>
      <p:ext uri="{BB962C8B-B14F-4D97-AF65-F5344CB8AC3E}">
        <p14:creationId xmlns:p14="http://schemas.microsoft.com/office/powerpoint/2010/main" val="10299759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B60E9-163C-C95A-7BFB-155EB57D2AAA}"/>
              </a:ext>
            </a:extLst>
          </p:cNvPr>
          <p:cNvSpPr>
            <a:spLocks noGrp="1"/>
          </p:cNvSpPr>
          <p:nvPr>
            <p:ph type="title"/>
          </p:nvPr>
        </p:nvSpPr>
        <p:spPr/>
        <p:txBody>
          <a:bodyPr/>
          <a:lstStyle/>
          <a:p>
            <a:r>
              <a:rPr lang="en-US"/>
              <a:t>Structured Output Formats</a:t>
            </a:r>
          </a:p>
        </p:txBody>
      </p:sp>
      <p:sp>
        <p:nvSpPr>
          <p:cNvPr id="3" name="Content Placeholder 2">
            <a:extLst>
              <a:ext uri="{FF2B5EF4-FFF2-40B4-BE49-F238E27FC236}">
                <a16:creationId xmlns:a16="http://schemas.microsoft.com/office/drawing/2014/main" id="{6C9A2798-F21E-5AE9-F7E6-1A3A56553342}"/>
              </a:ext>
            </a:extLst>
          </p:cNvPr>
          <p:cNvSpPr>
            <a:spLocks noGrp="1"/>
          </p:cNvSpPr>
          <p:nvPr>
            <p:ph sz="half" idx="1"/>
          </p:nvPr>
        </p:nvSpPr>
        <p:spPr/>
        <p:txBody>
          <a:bodyPr>
            <a:normAutofit/>
          </a:bodyPr>
          <a:lstStyle/>
          <a:p>
            <a:r>
              <a:rPr lang="en-US" sz="1600"/>
              <a:t>LABELLED FIELDS
Customer: Acme Ltd
Product: Widget Pro
Quantity: 50
Priority: High
Easy to read, easy to map</a:t>
            </a:r>
          </a:p>
        </p:txBody>
      </p:sp>
      <p:sp>
        <p:nvSpPr>
          <p:cNvPr id="4" name="Content Placeholder 3">
            <a:extLst>
              <a:ext uri="{FF2B5EF4-FFF2-40B4-BE49-F238E27FC236}">
                <a16:creationId xmlns:a16="http://schemas.microsoft.com/office/drawing/2014/main" id="{2B3450F7-D16C-C4A8-CD66-BD6E44BF1072}"/>
              </a:ext>
            </a:extLst>
          </p:cNvPr>
          <p:cNvSpPr>
            <a:spLocks noGrp="1"/>
          </p:cNvSpPr>
          <p:nvPr>
            <p:ph sz="half" idx="2"/>
          </p:nvPr>
        </p:nvSpPr>
        <p:spPr/>
        <p:txBody>
          <a:bodyPr>
            <a:normAutofit/>
          </a:bodyPr>
          <a:lstStyle/>
          <a:p>
            <a:r>
              <a:rPr lang="en-US" sz="1600"/>
              <a:t>JSON
{
  “customer”: “Acme Ltd”,
  “product”: “Widget Pro”,
  “quantity”: 50,
  “priority”: “High”
}</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extLst>
      <p:ext uri="{BB962C8B-B14F-4D97-AF65-F5344CB8AC3E}">
        <p14:creationId xmlns:p14="http://schemas.microsoft.com/office/powerpoint/2010/main" val="30082586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1699-291E-C771-80D0-8DC549FA0F41}"/>
              </a:ext>
            </a:extLst>
          </p:cNvPr>
          <p:cNvSpPr>
            <a:spLocks noGrp="1"/>
          </p:cNvSpPr>
          <p:nvPr>
            <p:ph type="title"/>
          </p:nvPr>
        </p:nvSpPr>
        <p:spPr/>
        <p:txBody>
          <a:bodyPr/>
          <a:lstStyle/>
          <a:p>
            <a:r>
              <a:rPr lang="en-US"/>
              <a:t>Example: A Structured Prompt</a:t>
            </a:r>
          </a:p>
        </p:txBody>
      </p:sp>
      <p:sp>
        <p:nvSpPr>
          <p:cNvPr id="3" name="Content Placeholder 2">
            <a:extLst>
              <a:ext uri="{FF2B5EF4-FFF2-40B4-BE49-F238E27FC236}">
                <a16:creationId xmlns:a16="http://schemas.microsoft.com/office/drawing/2014/main" id="{0FEA4F5C-5ECD-D950-2703-080A2C919249}"/>
              </a:ext>
            </a:extLst>
          </p:cNvPr>
          <p:cNvSpPr>
            <a:spLocks noGrp="1"/>
          </p:cNvSpPr>
          <p:nvPr>
            <p:ph sz="half" idx="1"/>
          </p:nvPr>
        </p:nvSpPr>
        <p:spPr/>
        <p:txBody>
          <a:bodyPr>
            <a:normAutofit/>
          </a:bodyPr>
          <a:lstStyle/>
          <a:p>
            <a:r>
              <a:rPr lang="en-US" sz="1600"/>
              <a:t>THE PROMPT
“You are a sales enquiry assistant.
From the customer's message, extract:
Customer name, Product, Quantity,
and Priority (High / Medium / Low).
Return the result as labelled fields.
If a detail is missing, write ‘Not stated’.”</a:t>
            </a:r>
          </a:p>
        </p:txBody>
      </p:sp>
      <p:sp>
        <p:nvSpPr>
          <p:cNvPr id="4" name="Content Placeholder 3">
            <a:extLst>
              <a:ext uri="{FF2B5EF4-FFF2-40B4-BE49-F238E27FC236}">
                <a16:creationId xmlns:a16="http://schemas.microsoft.com/office/drawing/2014/main" id="{98BD0EC0-10E0-BFBA-4D05-E2D9D90E4D69}"/>
              </a:ext>
            </a:extLst>
          </p:cNvPr>
          <p:cNvSpPr>
            <a:spLocks noGrp="1"/>
          </p:cNvSpPr>
          <p:nvPr>
            <p:ph sz="half" idx="2"/>
          </p:nvPr>
        </p:nvSpPr>
        <p:spPr/>
        <p:txBody>
          <a:bodyPr>
            <a:normAutofit/>
          </a:bodyPr>
          <a:lstStyle/>
          <a:p>
            <a:r>
              <a:rPr lang="en-US" sz="1600"/>
              <a:t>THE OUTPUT
Customer: Acme Ltd
Product: Widget Pro
Quantity: 50
Priority: High
→ Ready to log to Excel and notify sales</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extLst>
      <p:ext uri="{BB962C8B-B14F-4D97-AF65-F5344CB8AC3E}">
        <p14:creationId xmlns:p14="http://schemas.microsoft.com/office/powerpoint/2010/main" val="39475096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6296A-C570-BB6C-B527-5B1C31ED36F8}"/>
              </a:ext>
            </a:extLst>
          </p:cNvPr>
          <p:cNvSpPr>
            <a:spLocks noGrp="1"/>
          </p:cNvSpPr>
          <p:nvPr>
            <p:ph type="title"/>
          </p:nvPr>
        </p:nvSpPr>
        <p:spPr/>
        <p:txBody>
          <a:bodyPr/>
          <a:lstStyle/>
          <a:p>
            <a:r>
              <a:rPr lang="en-US"/>
              <a:t>Connecting Agents to Power Automate Flows</a:t>
            </a:r>
          </a:p>
        </p:txBody>
      </p:sp>
      <p:sp>
        <p:nvSpPr>
          <p:cNvPr id="3" name="Content Placeholder 2">
            <a:extLst>
              <a:ext uri="{FF2B5EF4-FFF2-40B4-BE49-F238E27FC236}">
                <a16:creationId xmlns:a16="http://schemas.microsoft.com/office/drawing/2014/main" id="{DE914721-D499-2ED4-4B0E-F13C4C5F36CC}"/>
              </a:ext>
            </a:extLst>
          </p:cNvPr>
          <p:cNvSpPr>
            <a:spLocks noGrp="1"/>
          </p:cNvSpPr>
          <p:nvPr>
            <p:ph idx="1"/>
          </p:nvPr>
        </p:nvSpPr>
        <p:spPr/>
        <p:txBody>
          <a:bodyPr>
            <a:normAutofit/>
          </a:bodyPr>
          <a:lstStyle/>
          <a:p>
            <a:r>
              <a:rPr lang="en-US" sz="1800"/>
              <a:t>An agent can call a flow as one of its actions
Build the flow with an ‘instant’ trigger that accepts inputs
Add the flow to your agent in Copilot Studio
The agent passes data in; the flow runs and returns a result
This is how a conversation turns into real action</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extLst>
      <p:ext uri="{BB962C8B-B14F-4D97-AF65-F5344CB8AC3E}">
        <p14:creationId xmlns:p14="http://schemas.microsoft.com/office/powerpoint/2010/main" val="25366111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F60A6-FC38-871E-C0FC-43F5C0D2855E}"/>
              </a:ext>
            </a:extLst>
          </p:cNvPr>
          <p:cNvSpPr>
            <a:spLocks noGrp="1"/>
          </p:cNvSpPr>
          <p:nvPr>
            <p:ph type="title"/>
          </p:nvPr>
        </p:nvSpPr>
        <p:spPr/>
        <p:txBody>
          <a:bodyPr/>
          <a:lstStyle/>
          <a:p>
            <a:r>
              <a:rPr lang="en-US"/>
              <a:t>Passing Outputs into Workflows</a:t>
            </a:r>
          </a:p>
        </p:txBody>
      </p:sp>
      <p:sp>
        <p:nvSpPr>
          <p:cNvPr id="3" name="Content Placeholder 2">
            <a:extLst>
              <a:ext uri="{FF2B5EF4-FFF2-40B4-BE49-F238E27FC236}">
                <a16:creationId xmlns:a16="http://schemas.microsoft.com/office/drawing/2014/main" id="{073BF8C8-55B9-3240-CD0E-AB0847E360C8}"/>
              </a:ext>
            </a:extLst>
          </p:cNvPr>
          <p:cNvSpPr>
            <a:spLocks noGrp="1"/>
          </p:cNvSpPr>
          <p:nvPr>
            <p:ph idx="1"/>
          </p:nvPr>
        </p:nvSpPr>
        <p:spPr/>
        <p:txBody>
          <a:bodyPr>
            <a:normAutofit/>
          </a:bodyPr>
          <a:lstStyle/>
          <a:p>
            <a:r>
              <a:rPr lang="en-US" sz="1800"/>
              <a:t>The agent's structured output becomes the flow's input
Each field maps to a flow parameter: Customer, Product, Quantity
The flow uses those values in its actions — log, email, approve
Clean structured output makes mapping effortless
Garbage in, garbage out — good prompts pay off here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extLst>
      <p:ext uri="{BB962C8B-B14F-4D97-AF65-F5344CB8AC3E}">
        <p14:creationId xmlns:p14="http://schemas.microsoft.com/office/powerpoint/2010/main" val="1397997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C2E25-47E9-7C3D-5BF6-270B2C4F7A8A}"/>
              </a:ext>
            </a:extLst>
          </p:cNvPr>
          <p:cNvSpPr>
            <a:spLocks noGrp="1"/>
          </p:cNvSpPr>
          <p:nvPr>
            <p:ph type="title"/>
          </p:nvPr>
        </p:nvSpPr>
        <p:spPr/>
        <p:txBody>
          <a:bodyPr/>
          <a:lstStyle/>
          <a:p>
            <a:r>
              <a:rPr lang="en-US"/>
              <a:t>Input and Output Mapping</a:t>
            </a:r>
          </a:p>
        </p:txBody>
      </p:sp>
      <p:sp>
        <p:nvSpPr>
          <p:cNvPr id="3" name="Content Placeholder 2">
            <a:extLst>
              <a:ext uri="{FF2B5EF4-FFF2-40B4-BE49-F238E27FC236}">
                <a16:creationId xmlns:a16="http://schemas.microsoft.com/office/drawing/2014/main" id="{D20A7C00-B18D-B4F1-3094-74D1152F6FA2}"/>
              </a:ext>
            </a:extLst>
          </p:cNvPr>
          <p:cNvSpPr>
            <a:spLocks noGrp="1"/>
          </p:cNvSpPr>
          <p:nvPr>
            <p:ph idx="1"/>
          </p:nvPr>
        </p:nvSpPr>
        <p:spPr/>
        <p:txBody>
          <a:bodyPr>
            <a:normAutofit/>
          </a:bodyPr>
          <a:lstStyle/>
          <a:p>
            <a:r>
              <a:rPr lang="en-US" sz="1800"/>
              <a:t>Define the flow's inputs to match the agent's fields
Map each agent field to the matching flow parameter
The flow can return a value back to the agent (e.g. a reference number)
The agent confirms to the user: ‘Logged — your reference is 1042’
Data flows both ways: agent → flow → agent</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extLst>
      <p:ext uri="{BB962C8B-B14F-4D97-AF65-F5344CB8AC3E}">
        <p14:creationId xmlns:p14="http://schemas.microsoft.com/office/powerpoint/2010/main" val="27075783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A429E-CAFB-6250-E072-71143608D6DE}"/>
              </a:ext>
            </a:extLst>
          </p:cNvPr>
          <p:cNvSpPr>
            <a:spLocks noGrp="1"/>
          </p:cNvSpPr>
          <p:nvPr>
            <p:ph type="title"/>
          </p:nvPr>
        </p:nvSpPr>
        <p:spPr/>
        <p:txBody>
          <a:bodyPr/>
          <a:lstStyle/>
          <a:p>
            <a:r>
              <a:rPr lang="en-US"/>
              <a:t>Best Practices for Agent + Flow</a:t>
            </a:r>
          </a:p>
        </p:txBody>
      </p:sp>
      <p:sp>
        <p:nvSpPr>
          <p:cNvPr id="3" name="Content Placeholder 2">
            <a:extLst>
              <a:ext uri="{FF2B5EF4-FFF2-40B4-BE49-F238E27FC236}">
                <a16:creationId xmlns:a16="http://schemas.microsoft.com/office/drawing/2014/main" id="{50FD0C1E-81F0-DB26-D617-CF9A75248E02}"/>
              </a:ext>
            </a:extLst>
          </p:cNvPr>
          <p:cNvSpPr>
            <a:spLocks noGrp="1"/>
          </p:cNvSpPr>
          <p:nvPr>
            <p:ph idx="1"/>
          </p:nvPr>
        </p:nvSpPr>
        <p:spPr/>
        <p:txBody>
          <a:bodyPr>
            <a:normAutofit/>
          </a:bodyPr>
          <a:lstStyle/>
          <a:p>
            <a:r>
              <a:rPr lang="en-US" sz="1800"/>
              <a:t>Keep each flow focused on one clear job
Validate inputs — handle missing or odd data gracefully
Use clear field names shared between agent and flow
Test the flow on its own before wiring it to the agent
Tell the user what happened — confirm success or explain failure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extLst>
      <p:ext uri="{BB962C8B-B14F-4D97-AF65-F5344CB8AC3E}">
        <p14:creationId xmlns:p14="http://schemas.microsoft.com/office/powerpoint/2010/main" val="27127987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FD7BC-9289-269C-BE0E-C5473C50F50E}"/>
              </a:ext>
            </a:extLst>
          </p:cNvPr>
          <p:cNvSpPr>
            <a:spLocks noGrp="1"/>
          </p:cNvSpPr>
          <p:nvPr>
            <p:ph type="title"/>
          </p:nvPr>
        </p:nvSpPr>
        <p:spPr/>
        <p:txBody>
          <a:bodyPr/>
          <a:lstStyle/>
          <a:p>
            <a:r>
              <a:rPr lang="en-US"/>
              <a:t>How Agents and Power Automate Work Together</a:t>
            </a:r>
          </a:p>
        </p:txBody>
      </p:sp>
      <p:sp>
        <p:nvSpPr>
          <p:cNvPr id="3" name="Rounded Rectangle 2">
            <a:extLst>
              <a:ext uri="{FF2B5EF4-FFF2-40B4-BE49-F238E27FC236}">
                <a16:creationId xmlns:a16="http://schemas.microsoft.com/office/drawing/2014/main" id="{11C22000-7430-BB43-A51C-F87BBC2CAF9F}"/>
              </a:ext>
            </a:extLst>
          </p:cNvPr>
          <p:cNvSpPr/>
          <p:nvPr/>
        </p:nvSpPr>
        <p:spPr>
          <a:xfrm>
            <a:off x="317500" y="2528888"/>
            <a:ext cx="2489200" cy="1524000"/>
          </a:xfrm>
          <a:prstGeom prst="roundRect">
            <a:avLst/>
          </a:prstGeom>
          <a:solidFill>
            <a:srgbClr val="0E74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b="1">
                <a:solidFill>
                  <a:srgbClr val="FFFFFF"/>
                </a:solidFill>
              </a:rPr>
              <a:t>USER</a:t>
            </a:r>
          </a:p>
        </p:txBody>
      </p:sp>
      <p:sp>
        <p:nvSpPr>
          <p:cNvPr id="4" name="TextBox 3">
            <a:extLst>
              <a:ext uri="{FF2B5EF4-FFF2-40B4-BE49-F238E27FC236}">
                <a16:creationId xmlns:a16="http://schemas.microsoft.com/office/drawing/2014/main" id="{8BA292EB-B8CA-1A41-8F65-A6A97D0F94A1}"/>
              </a:ext>
            </a:extLst>
          </p:cNvPr>
          <p:cNvSpPr txBox="1"/>
          <p:nvPr/>
        </p:nvSpPr>
        <p:spPr>
          <a:xfrm>
            <a:off x="317500" y="4154488"/>
            <a:ext cx="2489200" cy="685800"/>
          </a:xfrm>
          <a:prstGeom prst="rect">
            <a:avLst/>
          </a:prstGeom>
          <a:noFill/>
        </p:spPr>
        <p:txBody>
          <a:bodyPr vertOverflow="overflow" vert="horz" wrap="square" rtlCol="0" anchor="t">
            <a:spAutoFit/>
          </a:bodyPr>
          <a:lstStyle/>
          <a:p>
            <a:pPr algn="l"/>
            <a:r>
              <a:rPr lang="en-US" sz="1400">
                <a:solidFill>
                  <a:srgbClr val="2B2B40"/>
                </a:solidFill>
              </a:rPr>
              <a:t>asks in plain language</a:t>
            </a:r>
          </a:p>
        </p:txBody>
      </p:sp>
      <p:sp>
        <p:nvSpPr>
          <p:cNvPr id="5" name="Right Arrow 4">
            <a:extLst>
              <a:ext uri="{FF2B5EF4-FFF2-40B4-BE49-F238E27FC236}">
                <a16:creationId xmlns:a16="http://schemas.microsoft.com/office/drawing/2014/main" id="{11DF5822-85C5-2B4E-A6DA-4AFEF3603271}"/>
              </a:ext>
            </a:extLst>
          </p:cNvPr>
          <p:cNvSpPr/>
          <p:nvPr/>
        </p:nvSpPr>
        <p:spPr>
          <a:xfrm>
            <a:off x="2857500" y="3138488"/>
            <a:ext cx="4318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ounded Rectangle 5">
            <a:extLst>
              <a:ext uri="{FF2B5EF4-FFF2-40B4-BE49-F238E27FC236}">
                <a16:creationId xmlns:a16="http://schemas.microsoft.com/office/drawing/2014/main" id="{9A26B2EB-D867-E44B-B76E-A67375D8236E}"/>
              </a:ext>
            </a:extLst>
          </p:cNvPr>
          <p:cNvSpPr/>
          <p:nvPr/>
        </p:nvSpPr>
        <p:spPr>
          <a:xfrm>
            <a:off x="3340100" y="2528888"/>
            <a:ext cx="2489200" cy="1524000"/>
          </a:xfrm>
          <a:prstGeom prst="roundRect">
            <a:avLst/>
          </a:prstGeom>
          <a:solidFill>
            <a:srgbClr val="2563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b="1">
                <a:solidFill>
                  <a:srgbClr val="FFFFFF"/>
                </a:solidFill>
              </a:rPr>
              <a:t>AI AGENT</a:t>
            </a:r>
          </a:p>
        </p:txBody>
      </p:sp>
      <p:sp>
        <p:nvSpPr>
          <p:cNvPr id="7" name="TextBox 6">
            <a:extLst>
              <a:ext uri="{FF2B5EF4-FFF2-40B4-BE49-F238E27FC236}">
                <a16:creationId xmlns:a16="http://schemas.microsoft.com/office/drawing/2014/main" id="{0179C995-6F19-3C4F-818D-1AF782E85923}"/>
              </a:ext>
            </a:extLst>
          </p:cNvPr>
          <p:cNvSpPr txBox="1"/>
          <p:nvPr/>
        </p:nvSpPr>
        <p:spPr>
          <a:xfrm>
            <a:off x="3340100" y="4154488"/>
            <a:ext cx="2489200" cy="685800"/>
          </a:xfrm>
          <a:prstGeom prst="rect">
            <a:avLst/>
          </a:prstGeom>
          <a:noFill/>
        </p:spPr>
        <p:txBody>
          <a:bodyPr vertOverflow="overflow" vert="horz" wrap="square" rtlCol="0" anchor="t">
            <a:spAutoFit/>
          </a:bodyPr>
          <a:lstStyle/>
          <a:p>
            <a:pPr algn="l"/>
            <a:r>
              <a:rPr lang="en-US" sz="1400">
                <a:solidFill>
                  <a:srgbClr val="2B2B40"/>
                </a:solidFill>
              </a:rPr>
              <a:t>interprets &amp; extracts structured fields</a:t>
            </a:r>
          </a:p>
        </p:txBody>
      </p:sp>
      <p:sp>
        <p:nvSpPr>
          <p:cNvPr id="8" name="Right Arrow 7">
            <a:extLst>
              <a:ext uri="{FF2B5EF4-FFF2-40B4-BE49-F238E27FC236}">
                <a16:creationId xmlns:a16="http://schemas.microsoft.com/office/drawing/2014/main" id="{3204D9EA-9182-9543-B577-9EF5993D3AC7}"/>
              </a:ext>
            </a:extLst>
          </p:cNvPr>
          <p:cNvSpPr/>
          <p:nvPr/>
        </p:nvSpPr>
        <p:spPr>
          <a:xfrm>
            <a:off x="5880100" y="3138488"/>
            <a:ext cx="4318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0241978C-F9D5-1D40-B750-639DA26E3D65}"/>
              </a:ext>
            </a:extLst>
          </p:cNvPr>
          <p:cNvSpPr/>
          <p:nvPr/>
        </p:nvSpPr>
        <p:spPr>
          <a:xfrm>
            <a:off x="6362700" y="2528888"/>
            <a:ext cx="2489200" cy="1524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b="1">
                <a:solidFill>
                  <a:srgbClr val="FFFFFF"/>
                </a:solidFill>
              </a:rPr>
              <a:t>POWER AUTOMATE</a:t>
            </a:r>
          </a:p>
        </p:txBody>
      </p:sp>
      <p:sp>
        <p:nvSpPr>
          <p:cNvPr id="10" name="TextBox 9">
            <a:extLst>
              <a:ext uri="{FF2B5EF4-FFF2-40B4-BE49-F238E27FC236}">
                <a16:creationId xmlns:a16="http://schemas.microsoft.com/office/drawing/2014/main" id="{CFA1A1EA-A54B-D446-9106-8809094DC57C}"/>
              </a:ext>
            </a:extLst>
          </p:cNvPr>
          <p:cNvSpPr txBox="1"/>
          <p:nvPr/>
        </p:nvSpPr>
        <p:spPr>
          <a:xfrm>
            <a:off x="6362700" y="4154488"/>
            <a:ext cx="2489200" cy="685800"/>
          </a:xfrm>
          <a:prstGeom prst="rect">
            <a:avLst/>
          </a:prstGeom>
          <a:noFill/>
        </p:spPr>
        <p:txBody>
          <a:bodyPr vertOverflow="overflow" vert="horz" wrap="square" rtlCol="0" anchor="t">
            <a:spAutoFit/>
          </a:bodyPr>
          <a:lstStyle/>
          <a:p>
            <a:pPr algn="l"/>
            <a:r>
              <a:rPr lang="en-US" sz="1400">
                <a:solidFill>
                  <a:srgbClr val="2B2B40"/>
                </a:solidFill>
              </a:rPr>
              <a:t>runs the flow: log, email, approve</a:t>
            </a:r>
          </a:p>
        </p:txBody>
      </p:sp>
      <p:sp>
        <p:nvSpPr>
          <p:cNvPr id="11" name="Right Arrow 10">
            <a:extLst>
              <a:ext uri="{FF2B5EF4-FFF2-40B4-BE49-F238E27FC236}">
                <a16:creationId xmlns:a16="http://schemas.microsoft.com/office/drawing/2014/main" id="{3D3E9837-C6CC-5E44-BFA4-B06026581830}"/>
              </a:ext>
            </a:extLst>
          </p:cNvPr>
          <p:cNvSpPr/>
          <p:nvPr/>
        </p:nvSpPr>
        <p:spPr>
          <a:xfrm>
            <a:off x="8902700" y="3138488"/>
            <a:ext cx="4318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CC7CA25D-AD13-ED48-BA97-F4D166A72B4D}"/>
              </a:ext>
            </a:extLst>
          </p:cNvPr>
          <p:cNvSpPr/>
          <p:nvPr/>
        </p:nvSpPr>
        <p:spPr>
          <a:xfrm>
            <a:off x="9385300" y="2528888"/>
            <a:ext cx="2489200" cy="1524000"/>
          </a:xfrm>
          <a:prstGeom prst="roundRect">
            <a:avLst/>
          </a:prstGeom>
          <a:solidFill>
            <a:srgbClr val="0478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b="1">
                <a:solidFill>
                  <a:srgbClr val="FFFFFF"/>
                </a:solidFill>
              </a:rPr>
              <a:t>RESULT</a:t>
            </a:r>
          </a:p>
        </p:txBody>
      </p:sp>
      <p:sp>
        <p:nvSpPr>
          <p:cNvPr id="13" name="TextBox 12">
            <a:extLst>
              <a:ext uri="{FF2B5EF4-FFF2-40B4-BE49-F238E27FC236}">
                <a16:creationId xmlns:a16="http://schemas.microsoft.com/office/drawing/2014/main" id="{F79897D2-6F75-1740-A4FE-05B015515A77}"/>
              </a:ext>
            </a:extLst>
          </p:cNvPr>
          <p:cNvSpPr txBox="1"/>
          <p:nvPr/>
        </p:nvSpPr>
        <p:spPr>
          <a:xfrm>
            <a:off x="9385300" y="4154488"/>
            <a:ext cx="2489200" cy="685800"/>
          </a:xfrm>
          <a:prstGeom prst="rect">
            <a:avLst/>
          </a:prstGeom>
          <a:noFill/>
        </p:spPr>
        <p:txBody>
          <a:bodyPr vertOverflow="overflow" vert="horz" wrap="square" rtlCol="0" anchor="t">
            <a:spAutoFit/>
          </a:bodyPr>
          <a:lstStyle/>
          <a:p>
            <a:pPr algn="l"/>
            <a:r>
              <a:rPr lang="en-US" sz="1400">
                <a:solidFill>
                  <a:srgbClr val="2B2B40"/>
                </a:solidFill>
              </a:rPr>
              <a:t>action done + confirmation back</a:t>
            </a:r>
          </a:p>
        </p:txBody>
      </p:sp>
      <p:sp>
        <p:nvSpPr>
          <p:cNvPr id="14" name="TextBox 13">
            <a:extLst>
              <a:ext uri="{FF2B5EF4-FFF2-40B4-BE49-F238E27FC236}">
                <a16:creationId xmlns:a16="http://schemas.microsoft.com/office/drawing/2014/main" id="{4CFB2CBA-7CE1-3B46-8B2D-AA5F1EE61C1E}"/>
              </a:ext>
            </a:extLst>
          </p:cNvPr>
          <p:cNvSpPr txBox="1"/>
          <p:nvPr/>
        </p:nvSpPr>
        <p:spPr>
          <a:xfrm>
            <a:off x="317500" y="5043488"/>
            <a:ext cx="11557000" cy="508000"/>
          </a:xfrm>
          <a:prstGeom prst="rect">
            <a:avLst/>
          </a:prstGeom>
          <a:noFill/>
        </p:spPr>
        <p:txBody>
          <a:bodyPr vertOverflow="overflow" vert="horz" wrap="square" rtlCol="0" anchor="t">
            <a:spAutoFit/>
          </a:bodyPr>
          <a:lstStyle/>
          <a:p>
            <a:pPr algn="l"/>
            <a:r>
              <a:rPr lang="en-US" sz="1600" i="1">
                <a:solidFill>
                  <a:srgbClr val="2B2B40"/>
                </a:solidFill>
              </a:rPr>
              <a:t>The agent handles the conversation and the thinking; Power Automate does the work across your systems.</a:t>
            </a:r>
          </a:p>
        </p:txBody>
      </p:sp>
      <p:sp>
        <p:nvSpPr>
          <p:cNvPr id="15" name="TextBox 1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16" name="TextBox 1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extLst>
      <p:ext uri="{BB962C8B-B14F-4D97-AF65-F5344CB8AC3E}">
        <p14:creationId xmlns:p14="http://schemas.microsoft.com/office/powerpoint/2010/main" val="22438431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C47B-0463-4404-4CAE-F97494FB3AC4}"/>
              </a:ext>
            </a:extLst>
          </p:cNvPr>
          <p:cNvSpPr>
            <a:spLocks noGrp="1"/>
          </p:cNvSpPr>
          <p:nvPr>
            <p:ph type="title"/>
          </p:nvPr>
        </p:nvSpPr>
        <p:spPr/>
        <p:txBody>
          <a:bodyPr/>
          <a:lstStyle/>
          <a:p>
            <a:r>
              <a:rPr lang="en-US"/>
              <a:t>Hands-On Labs · Copilot Studio</a:t>
            </a:r>
          </a:p>
        </p:txBody>
      </p:sp>
      <p:sp>
        <p:nvSpPr>
          <p:cNvPr id="3" name="Text Placeholder 2">
            <a:extLst>
              <a:ext uri="{FF2B5EF4-FFF2-40B4-BE49-F238E27FC236}">
                <a16:creationId xmlns:a16="http://schemas.microsoft.com/office/drawing/2014/main" id="{1CA1F413-66CD-EEE8-148E-0A39E1D3C826}"/>
              </a:ext>
            </a:extLst>
          </p:cNvPr>
          <p:cNvSpPr>
            <a:spLocks noGrp="1"/>
          </p:cNvSpPr>
          <p:nvPr>
            <p:ph type="body" idx="1"/>
          </p:nvPr>
        </p:nvSpPr>
        <p:spPr/>
        <p:txBody>
          <a:bodyPr>
            <a:normAutofit/>
          </a:bodyPr>
          <a:lstStyle/>
          <a:p>
            <a:r>
              <a:rPr lang="en-US" sz="1800" b="1">
                <a:solidFill>
                  <a:srgbClr val="7C3AED"/>
                </a:solidFill>
              </a:rPr>
              <a:t>Six labs: create an agent, add knowledge &amp; tools, then three business agents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extLst>
      <p:ext uri="{BB962C8B-B14F-4D97-AF65-F5344CB8AC3E}">
        <p14:creationId xmlns:p14="http://schemas.microsoft.com/office/powerpoint/2010/main" val="27341898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CC-AAE9-06B8-D1A6-1E5F90632537}"/>
              </a:ext>
            </a:extLst>
          </p:cNvPr>
          <p:cNvSpPr>
            <a:spLocks noGrp="1"/>
          </p:cNvSpPr>
          <p:nvPr>
            <p:ph type="title"/>
          </p:nvPr>
        </p:nvSpPr>
        <p:spPr/>
        <p:txBody>
          <a:bodyPr/>
          <a:lstStyle/>
          <a:p>
            <a:r>
              <a:rPr lang="en-US"/>
              <a:t>Lab 6 — Create Your First Agent</a:t>
            </a:r>
          </a:p>
        </p:txBody>
      </p:sp>
      <p:sp>
        <p:nvSpPr>
          <p:cNvPr id="3" name="Content Placeholder 2">
            <a:extLst>
              <a:ext uri="{FF2B5EF4-FFF2-40B4-BE49-F238E27FC236}">
                <a16:creationId xmlns:a16="http://schemas.microsoft.com/office/drawing/2014/main" id="{14102613-EFF2-DF81-651A-F3779CF9FC37}"/>
              </a:ext>
            </a:extLst>
          </p:cNvPr>
          <p:cNvSpPr>
            <a:spLocks noGrp="1"/>
          </p:cNvSpPr>
          <p:nvPr>
            <p:ph sz="half" idx="1"/>
          </p:nvPr>
        </p:nvSpPr>
        <p:spPr/>
        <p:txBody>
          <a:bodyPr>
            <a:normAutofit/>
          </a:bodyPr>
          <a:lstStyle/>
          <a:p>
            <a:r>
              <a:rPr lang="en-US" sz="1600"/>
              <a:t>GOAL
Build, configure and test your
first Copilot Studio agent
YOU'LL USE
Copilot Studio agent
Instructions + built-in Test pane</a:t>
            </a:r>
          </a:p>
        </p:txBody>
      </p:sp>
      <p:sp>
        <p:nvSpPr>
          <p:cNvPr id="4" name="Content Placeholder 3">
            <a:extLst>
              <a:ext uri="{FF2B5EF4-FFF2-40B4-BE49-F238E27FC236}">
                <a16:creationId xmlns:a16="http://schemas.microsoft.com/office/drawing/2014/main" id="{CF24EF09-D57E-0B33-E277-90D95CAA3229}"/>
              </a:ext>
            </a:extLst>
          </p:cNvPr>
          <p:cNvSpPr>
            <a:spLocks noGrp="1"/>
          </p:cNvSpPr>
          <p:nvPr>
            <p:ph sz="half" idx="2"/>
          </p:nvPr>
        </p:nvSpPr>
        <p:spPr/>
        <p:txBody>
          <a:bodyPr>
            <a:normAutofit/>
          </a:bodyPr>
          <a:lstStyle/>
          <a:p>
            <a:r>
              <a:rPr lang="en-US" sz="1600"/>
              <a:t>STEPS
1.  Create a blank agent (Agents → Create blank agent)
2.  Write clear instructions (role + tone)
3.  Add a knowledge source
4.  Test it live in the chat panel
5.  Refine instructions, then publish (needs a full licence)</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extLst>
      <p:ext uri="{BB962C8B-B14F-4D97-AF65-F5344CB8AC3E}">
        <p14:creationId xmlns:p14="http://schemas.microsoft.com/office/powerpoint/2010/main" val="17508540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CC-AAE9-06B8-D1A6-1E5F90632537}"/>
              </a:ext>
            </a:extLst>
          </p:cNvPr>
          <p:cNvSpPr>
            <a:spLocks noGrp="1"/>
          </p:cNvSpPr>
          <p:nvPr>
            <p:ph type="title"/>
          </p:nvPr>
        </p:nvSpPr>
        <p:spPr/>
        <p:txBody>
          <a:bodyPr/>
          <a:lstStyle/>
          <a:p>
            <a:r>
              <a:rPr lang="en-US"/>
              <a:t>Lab 7 — Add Knowledge to Your Agent (RAG)</a:t>
            </a:r>
          </a:p>
        </p:txBody>
      </p:sp>
      <p:sp>
        <p:nvSpPr>
          <p:cNvPr id="3" name="Content Placeholder 2">
            <a:extLst>
              <a:ext uri="{FF2B5EF4-FFF2-40B4-BE49-F238E27FC236}">
                <a16:creationId xmlns:a16="http://schemas.microsoft.com/office/drawing/2014/main" id="{14102613-EFF2-DF81-651A-F3779CF9FC37}"/>
              </a:ext>
            </a:extLst>
          </p:cNvPr>
          <p:cNvSpPr>
            <a:spLocks noGrp="1"/>
          </p:cNvSpPr>
          <p:nvPr>
            <p:ph sz="half" idx="1"/>
          </p:nvPr>
        </p:nvSpPr>
        <p:spPr/>
        <p:txBody>
          <a:bodyPr>
            <a:normAutofit/>
          </a:bodyPr>
          <a:lstStyle/>
          <a:p>
            <a:r>
              <a:rPr lang="en-US" sz="1600"/>
              <a:t>GOAL
Ground the agent in your own
documents (RAG) with citations
YOU'LL USE
Knowledge sources (files / website)
Copilot Studio agent</a:t>
            </a:r>
          </a:p>
        </p:txBody>
      </p:sp>
      <p:sp>
        <p:nvSpPr>
          <p:cNvPr id="4" name="Content Placeholder 3">
            <a:extLst>
              <a:ext uri="{FF2B5EF4-FFF2-40B4-BE49-F238E27FC236}">
                <a16:creationId xmlns:a16="http://schemas.microsoft.com/office/drawing/2014/main" id="{CF24EF09-D57E-0B33-E277-90D95CAA3229}"/>
              </a:ext>
            </a:extLst>
          </p:cNvPr>
          <p:cNvSpPr>
            <a:spLocks noGrp="1"/>
          </p:cNvSpPr>
          <p:nvPr>
            <p:ph sz="half" idx="2"/>
          </p:nvPr>
        </p:nvSpPr>
        <p:spPr/>
        <p:txBody>
          <a:bodyPr>
            <a:normAutofit/>
          </a:bodyPr>
          <a:lstStyle/>
          <a:p>
            <a:r>
              <a:rPr lang="en-US" sz="1600"/>
              <a:t>STEPS
1.  Prepare a document or website
2.  Add it as a knowledge source
3.  Wait until the source is Ready
4.  Ask questions answered from your content
5.  Check the citations; tune the sources</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extLst>
      <p:ext uri="{BB962C8B-B14F-4D97-AF65-F5344CB8AC3E}">
        <p14:creationId xmlns:p14="http://schemas.microsoft.com/office/powerpoint/2010/main" val="17508540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CC-AAE9-06B8-D1A6-1E5F90632537}"/>
              </a:ext>
            </a:extLst>
          </p:cNvPr>
          <p:cNvSpPr>
            <a:spLocks noGrp="1"/>
          </p:cNvSpPr>
          <p:nvPr>
            <p:ph type="title"/>
          </p:nvPr>
        </p:nvSpPr>
        <p:spPr/>
        <p:txBody>
          <a:bodyPr/>
          <a:lstStyle/>
          <a:p>
            <a:r>
              <a:rPr lang="en-US"/>
              <a:t>Lab 8 — Add Tools and Actions</a:t>
            </a:r>
          </a:p>
        </p:txBody>
      </p:sp>
      <p:sp>
        <p:nvSpPr>
          <p:cNvPr id="3" name="Content Placeholder 2">
            <a:extLst>
              <a:ext uri="{FF2B5EF4-FFF2-40B4-BE49-F238E27FC236}">
                <a16:creationId xmlns:a16="http://schemas.microsoft.com/office/drawing/2014/main" id="{14102613-EFF2-DF81-651A-F3779CF9FC37}"/>
              </a:ext>
            </a:extLst>
          </p:cNvPr>
          <p:cNvSpPr>
            <a:spLocks noGrp="1"/>
          </p:cNvSpPr>
          <p:nvPr>
            <p:ph sz="half" idx="1"/>
          </p:nvPr>
        </p:nvSpPr>
        <p:spPr/>
        <p:txBody>
          <a:bodyPr>
            <a:normAutofit/>
          </a:bodyPr>
          <a:lstStyle/>
          <a:p>
            <a:r>
              <a:rPr lang="en-US" sz="1600"/>
              <a:t>GOAL
Give the agent tools so it can
act, not just answer
YOU'LL USE
Connector / prebuilt action
A Power Automate flow as a tool</a:t>
            </a:r>
          </a:p>
        </p:txBody>
      </p:sp>
      <p:sp>
        <p:nvSpPr>
          <p:cNvPr id="4" name="Content Placeholder 3">
            <a:extLst>
              <a:ext uri="{FF2B5EF4-FFF2-40B4-BE49-F238E27FC236}">
                <a16:creationId xmlns:a16="http://schemas.microsoft.com/office/drawing/2014/main" id="{CF24EF09-D57E-0B33-E277-90D95CAA3229}"/>
              </a:ext>
            </a:extLst>
          </p:cNvPr>
          <p:cNvSpPr>
            <a:spLocks noGrp="1"/>
          </p:cNvSpPr>
          <p:nvPr>
            <p:ph sz="half" idx="2"/>
          </p:nvPr>
        </p:nvSpPr>
        <p:spPr/>
        <p:txBody>
          <a:bodyPr>
            <a:normAutofit/>
          </a:bodyPr>
          <a:lstStyle/>
          <a:p>
            <a:r>
              <a:rPr lang="en-US" sz="1600"/>
              <a:t>STEPS
1.  Open the Tools tab, add a tool
2.  Add a connector action (e.g. send email)
3.  Describe when the agent should use it
4.  Or add a flow as a tool with inputs
5.  Test the agent performing the action</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extLst>
      <p:ext uri="{BB962C8B-B14F-4D97-AF65-F5344CB8AC3E}">
        <p14:creationId xmlns:p14="http://schemas.microsoft.com/office/powerpoint/2010/main" val="17508540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CC-AAE9-06B8-D1A6-1E5F90632537}"/>
              </a:ext>
            </a:extLst>
          </p:cNvPr>
          <p:cNvSpPr>
            <a:spLocks noGrp="1"/>
          </p:cNvSpPr>
          <p:nvPr>
            <p:ph type="title"/>
          </p:nvPr>
        </p:nvSpPr>
        <p:spPr/>
        <p:txBody>
          <a:bodyPr/>
          <a:lstStyle/>
          <a:p>
            <a:r>
              <a:rPr lang="en-US"/>
              <a:t>Lab 9 — Sales Enquiry Assistant</a:t>
            </a:r>
          </a:p>
        </p:txBody>
      </p:sp>
      <p:sp>
        <p:nvSpPr>
          <p:cNvPr id="3" name="Content Placeholder 2">
            <a:extLst>
              <a:ext uri="{FF2B5EF4-FFF2-40B4-BE49-F238E27FC236}">
                <a16:creationId xmlns:a16="http://schemas.microsoft.com/office/drawing/2014/main" id="{14102613-EFF2-DF81-651A-F3779CF9FC37}"/>
              </a:ext>
            </a:extLst>
          </p:cNvPr>
          <p:cNvSpPr>
            <a:spLocks noGrp="1"/>
          </p:cNvSpPr>
          <p:nvPr>
            <p:ph sz="half" idx="1"/>
          </p:nvPr>
        </p:nvSpPr>
        <p:spPr/>
        <p:txBody>
          <a:bodyPr>
            <a:normAutofit/>
          </a:bodyPr>
          <a:lstStyle/>
          <a:p>
            <a:r>
              <a:rPr lang="en-US" sz="1600"/>
              <a:t>GOAL
An agent that captures sales enquiries
as structured fields
YOU'LL USE
Copilot Studio agent
A topic with Ask-a-question nodes</a:t>
            </a:r>
          </a:p>
        </p:txBody>
      </p:sp>
      <p:sp>
        <p:nvSpPr>
          <p:cNvPr id="4" name="Content Placeholder 3">
            <a:extLst>
              <a:ext uri="{FF2B5EF4-FFF2-40B4-BE49-F238E27FC236}">
                <a16:creationId xmlns:a16="http://schemas.microsoft.com/office/drawing/2014/main" id="{CF24EF09-D57E-0B33-E277-90D95CAA3229}"/>
              </a:ext>
            </a:extLst>
          </p:cNvPr>
          <p:cNvSpPr>
            <a:spLocks noGrp="1"/>
          </p:cNvSpPr>
          <p:nvPr>
            <p:ph sz="half" idx="2"/>
          </p:nvPr>
        </p:nvSpPr>
        <p:spPr/>
        <p:txBody>
          <a:bodyPr>
            <a:normAutofit/>
          </a:bodyPr>
          <a:lstStyle/>
          <a:p>
            <a:r>
              <a:rPr lang="en-US" sz="1600"/>
              <a:t>STEPS
1.  Create the Sales Enquiry Assistant agent
2.  Add a "New Sales Enquiry" topic — the agent chooses it from its description
3.  Ask-a-question nodes save Name, Company, Product, Quantity
4.  Show a structured summary of all four variables
5.  Test — Quantity uses Identify = Number, so text re-asks</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extLst>
      <p:ext uri="{BB962C8B-B14F-4D97-AF65-F5344CB8AC3E}">
        <p14:creationId xmlns:p14="http://schemas.microsoft.com/office/powerpoint/2010/main" val="17508540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6D420-67FD-D03D-5F8F-5EA8E9E3A26D}"/>
              </a:ext>
            </a:extLst>
          </p:cNvPr>
          <p:cNvSpPr>
            <a:spLocks noGrp="1"/>
          </p:cNvSpPr>
          <p:nvPr>
            <p:ph type="title"/>
          </p:nvPr>
        </p:nvSpPr>
        <p:spPr/>
        <p:txBody>
          <a:bodyPr/>
          <a:lstStyle/>
          <a:p>
            <a:r>
              <a:rPr lang="en-US"/>
              <a:t>Lab 10 — Procurement Request Workflow</a:t>
            </a:r>
          </a:p>
        </p:txBody>
      </p:sp>
      <p:sp>
        <p:nvSpPr>
          <p:cNvPr id="3" name="Content Placeholder 2">
            <a:extLst>
              <a:ext uri="{FF2B5EF4-FFF2-40B4-BE49-F238E27FC236}">
                <a16:creationId xmlns:a16="http://schemas.microsoft.com/office/drawing/2014/main" id="{825E4BD2-D173-5808-0363-F77B7D682F97}"/>
              </a:ext>
            </a:extLst>
          </p:cNvPr>
          <p:cNvSpPr>
            <a:spLocks noGrp="1"/>
          </p:cNvSpPr>
          <p:nvPr>
            <p:ph sz="half" idx="1"/>
          </p:nvPr>
        </p:nvSpPr>
        <p:spPr/>
        <p:txBody>
          <a:bodyPr>
            <a:normAutofit/>
          </a:bodyPr>
          <a:lstStyle/>
          <a:p>
            <a:r>
              <a:rPr lang="en-US" sz="1600"/>
              <a:t>GOAL
An agent that takes procurement requests
and starts an approval flow
YOU'LL USE
Copilot Studio agent
A Power Automate flow (approval)</a:t>
            </a:r>
          </a:p>
        </p:txBody>
      </p:sp>
      <p:sp>
        <p:nvSpPr>
          <p:cNvPr id="4" name="Content Placeholder 3">
            <a:extLst>
              <a:ext uri="{FF2B5EF4-FFF2-40B4-BE49-F238E27FC236}">
                <a16:creationId xmlns:a16="http://schemas.microsoft.com/office/drawing/2014/main" id="{2BAEDEC7-32E6-5E4A-EA59-F2C89EC604AF}"/>
              </a:ext>
            </a:extLst>
          </p:cNvPr>
          <p:cNvSpPr>
            <a:spLocks noGrp="1"/>
          </p:cNvSpPr>
          <p:nvPr>
            <p:ph sz="half" idx="2"/>
          </p:nvPr>
        </p:nvSpPr>
        <p:spPr/>
        <p:txBody>
          <a:bodyPr>
            <a:normAutofit/>
          </a:bodyPr>
          <a:lstStyle/>
          <a:p>
            <a:r>
              <a:rPr lang="en-US" sz="1600"/>
              <a:t>STEPS
1.  Build an agent to collect request details
2.  Create a flow with an approval step
3.  Add the flow as a tool in the topic
4.  Pass the request fields into the flow
5.  Test end-to-end: request → approval</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extLst>
      <p:ext uri="{BB962C8B-B14F-4D97-AF65-F5344CB8AC3E}">
        <p14:creationId xmlns:p14="http://schemas.microsoft.com/office/powerpoint/2010/main" val="11136791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21669-B5EA-1FB5-752E-D48BE161B1BA}"/>
              </a:ext>
            </a:extLst>
          </p:cNvPr>
          <p:cNvSpPr>
            <a:spLocks noGrp="1"/>
          </p:cNvSpPr>
          <p:nvPr>
            <p:ph type="title"/>
          </p:nvPr>
        </p:nvSpPr>
        <p:spPr/>
        <p:txBody>
          <a:bodyPr/>
          <a:lstStyle/>
          <a:p>
            <a:r>
              <a:rPr lang="en-US"/>
              <a:t>Lab 11 — Automated Response Generation</a:t>
            </a:r>
          </a:p>
        </p:txBody>
      </p:sp>
      <p:sp>
        <p:nvSpPr>
          <p:cNvPr id="3" name="Content Placeholder 2">
            <a:extLst>
              <a:ext uri="{FF2B5EF4-FFF2-40B4-BE49-F238E27FC236}">
                <a16:creationId xmlns:a16="http://schemas.microsoft.com/office/drawing/2014/main" id="{B8E3914F-01D2-1AE3-D426-DDB8BF39C820}"/>
              </a:ext>
            </a:extLst>
          </p:cNvPr>
          <p:cNvSpPr>
            <a:spLocks noGrp="1"/>
          </p:cNvSpPr>
          <p:nvPr>
            <p:ph sz="half" idx="1"/>
          </p:nvPr>
        </p:nvSpPr>
        <p:spPr/>
        <p:txBody>
          <a:bodyPr>
            <a:normAutofit/>
          </a:bodyPr>
          <a:lstStyle/>
          <a:p>
            <a:r>
              <a:rPr lang="en-US" sz="1600"/>
              <a:t>GOAL
An agent that drafts a tailored reply
from the captured details
YOU'LL USE
Agent flow + AI Builder Run a prompt
Send an email (V2) action</a:t>
            </a:r>
          </a:p>
        </p:txBody>
      </p:sp>
      <p:sp>
        <p:nvSpPr>
          <p:cNvPr id="4" name="Content Placeholder 3">
            <a:extLst>
              <a:ext uri="{FF2B5EF4-FFF2-40B4-BE49-F238E27FC236}">
                <a16:creationId xmlns:a16="http://schemas.microsoft.com/office/drawing/2014/main" id="{29E62AEB-C862-B252-D0A2-8B709D2C9537}"/>
              </a:ext>
            </a:extLst>
          </p:cNvPr>
          <p:cNvSpPr>
            <a:spLocks noGrp="1"/>
          </p:cNvSpPr>
          <p:nvPr>
            <p:ph sz="half" idx="2"/>
          </p:nvPr>
        </p:nvSpPr>
        <p:spPr/>
        <p:txBody>
          <a:bodyPr>
            <a:normAutofit/>
          </a:bodyPr>
          <a:lstStyle/>
          <a:p>
            <a:r>
              <a:rPr lang="en-US" sz="1600"/>
              <a:t>STEPS
1.  Reuse the enquiry details from Lab 9
2.  Agent flow runs an AI Builder ‘Run a prompt’
3.  Keep the tone professional and on-brand
4.  Email the draft, then Respond to the agent
5.  Review, refine the prompt, repeat</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extLst>
      <p:ext uri="{BB962C8B-B14F-4D97-AF65-F5344CB8AC3E}">
        <p14:creationId xmlns:p14="http://schemas.microsoft.com/office/powerpoint/2010/main" val="33684372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20534-FF42-5EE2-C52D-D6A875AC7764}"/>
              </a:ext>
            </a:extLst>
          </p:cNvPr>
          <p:cNvSpPr>
            <a:spLocks noGrp="1"/>
          </p:cNvSpPr>
          <p:nvPr>
            <p:ph type="title"/>
          </p:nvPr>
        </p:nvSpPr>
        <p:spPr/>
        <p:txBody>
          <a:bodyPr/>
          <a:lstStyle/>
          <a:p>
            <a:r>
              <a:rPr lang="en-US"/>
              <a:t>Testing &amp; Debugging Agents</a:t>
            </a:r>
          </a:p>
        </p:txBody>
      </p:sp>
      <p:sp>
        <p:nvSpPr>
          <p:cNvPr id="3" name="Content Placeholder 2">
            <a:extLst>
              <a:ext uri="{FF2B5EF4-FFF2-40B4-BE49-F238E27FC236}">
                <a16:creationId xmlns:a16="http://schemas.microsoft.com/office/drawing/2014/main" id="{A4B4DC5E-4545-01F1-D1EA-4BEFEB1FDD67}"/>
              </a:ext>
            </a:extLst>
          </p:cNvPr>
          <p:cNvSpPr>
            <a:spLocks noGrp="1"/>
          </p:cNvSpPr>
          <p:nvPr>
            <p:ph idx="1"/>
          </p:nvPr>
        </p:nvSpPr>
        <p:spPr/>
        <p:txBody>
          <a:bodyPr>
            <a:normAutofit/>
          </a:bodyPr>
          <a:lstStyle/>
          <a:p>
            <a:r>
              <a:rPr lang="en-US" sz="1800"/>
              <a:t>Test in the chat panel with realistic, messy inputs
Check the output format is consistent every time
Trace flow runs to see exactly what data passed through
Refine the prompt when answers drift or fields go missing
Handle the edge cases: missing info, unexpected questions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extLst>
      <p:ext uri="{BB962C8B-B14F-4D97-AF65-F5344CB8AC3E}">
        <p14:creationId xmlns:p14="http://schemas.microsoft.com/office/powerpoint/2010/main" val="14157661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45806-BBA9-BACB-9A42-A0C6831C1AB7}"/>
              </a:ext>
            </a:extLst>
          </p:cNvPr>
          <p:cNvSpPr>
            <a:spLocks noGrp="1"/>
          </p:cNvSpPr>
          <p:nvPr>
            <p:ph type="title"/>
          </p:nvPr>
        </p:nvSpPr>
        <p:spPr/>
        <p:txBody>
          <a:bodyPr/>
          <a:lstStyle/>
          <a:p>
            <a:r>
              <a:rPr lang="en-US"/>
              <a:t>Day 2 Recap</a:t>
            </a:r>
          </a:p>
        </p:txBody>
      </p:sp>
      <p:sp>
        <p:nvSpPr>
          <p:cNvPr id="3" name="Content Placeholder 2">
            <a:extLst>
              <a:ext uri="{FF2B5EF4-FFF2-40B4-BE49-F238E27FC236}">
                <a16:creationId xmlns:a16="http://schemas.microsoft.com/office/drawing/2014/main" id="{374A3DCA-15CA-E41E-DB93-4933698BD9C8}"/>
              </a:ext>
            </a:extLst>
          </p:cNvPr>
          <p:cNvSpPr>
            <a:spLocks noGrp="1"/>
          </p:cNvSpPr>
          <p:nvPr>
            <p:ph idx="1"/>
          </p:nvPr>
        </p:nvSpPr>
        <p:spPr/>
        <p:txBody>
          <a:bodyPr>
            <a:normAutofit/>
          </a:bodyPr>
          <a:lstStyle/>
          <a:p>
            <a:r>
              <a:rPr lang="en-US" sz="1800"/>
              <a:t>Copilot Studio builds low-code AI business agents
Good prompts produce structured, predictable output
Agents connect to Power Automate to take real action
You created an agent, added knowledge and tools, then built a sales assistant, a procurement agent and a response generator
Next: course wrap-up, then the WSQ assessment (4:00–6:00pm)</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extLst>
      <p:ext uri="{BB962C8B-B14F-4D97-AF65-F5344CB8AC3E}">
        <p14:creationId xmlns:p14="http://schemas.microsoft.com/office/powerpoint/2010/main" val="40757400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DF2F9-984B-A755-BAA7-933929938195}"/>
              </a:ext>
            </a:extLst>
          </p:cNvPr>
          <p:cNvSpPr>
            <a:spLocks noGrp="1"/>
          </p:cNvSpPr>
          <p:nvPr>
            <p:ph type="title"/>
          </p:nvPr>
        </p:nvSpPr>
        <p:spPr/>
        <p:txBody>
          <a:bodyPr/>
          <a:lstStyle/>
          <a:p>
            <a:r>
              <a:rPr lang="en-US"/>
              <a:t>What You Can Automate Next</a:t>
            </a:r>
          </a:p>
        </p:txBody>
      </p:sp>
      <p:sp>
        <p:nvSpPr>
          <p:cNvPr id="3" name="Content Placeholder 2">
            <a:extLst>
              <a:ext uri="{FF2B5EF4-FFF2-40B4-BE49-F238E27FC236}">
                <a16:creationId xmlns:a16="http://schemas.microsoft.com/office/drawing/2014/main" id="{5CCF4860-8303-9DF0-5924-44910D4B4C5F}"/>
              </a:ext>
            </a:extLst>
          </p:cNvPr>
          <p:cNvSpPr>
            <a:spLocks noGrp="1"/>
          </p:cNvSpPr>
          <p:nvPr>
            <p:ph idx="1"/>
          </p:nvPr>
        </p:nvSpPr>
        <p:spPr/>
        <p:txBody>
          <a:bodyPr>
            <a:normAutofit/>
          </a:bodyPr>
          <a:lstStyle/>
          <a:p>
            <a:r>
              <a:rPr lang="en-US" sz="1800"/>
              <a:t>Onboarding: new-hire checklists and welcome emails
Reporting: scheduled data pulls and summaries
Helpdesk: triage and route incoming requests
Document handling: filing, approvals and reminders
Anywhere people copy data or chase approvals by hand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extLst>
      <p:ext uri="{BB962C8B-B14F-4D97-AF65-F5344CB8AC3E}">
        <p14:creationId xmlns:p14="http://schemas.microsoft.com/office/powerpoint/2010/main" val="405735589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9BD2-2DB5-77C8-285D-9067CB1F67DF}"/>
              </a:ext>
            </a:extLst>
          </p:cNvPr>
          <p:cNvSpPr>
            <a:spLocks noGrp="1"/>
          </p:cNvSpPr>
          <p:nvPr>
            <p:ph type="title"/>
          </p:nvPr>
        </p:nvSpPr>
        <p:spPr/>
        <p:txBody>
          <a:bodyPr/>
          <a:lstStyle/>
          <a:p>
            <a:r>
              <a:rPr lang="en-US"/>
              <a:t>Common Pitfalls to Avoid</a:t>
            </a:r>
          </a:p>
        </p:txBody>
      </p:sp>
      <p:sp>
        <p:nvSpPr>
          <p:cNvPr id="3" name="Content Placeholder 2">
            <a:extLst>
              <a:ext uri="{FF2B5EF4-FFF2-40B4-BE49-F238E27FC236}">
                <a16:creationId xmlns:a16="http://schemas.microsoft.com/office/drawing/2014/main" id="{C26A95F9-E88D-D0F4-A860-1BA06E232A45}"/>
              </a:ext>
            </a:extLst>
          </p:cNvPr>
          <p:cNvSpPr>
            <a:spLocks noGrp="1"/>
          </p:cNvSpPr>
          <p:nvPr>
            <p:ph idx="1"/>
          </p:nvPr>
        </p:nvSpPr>
        <p:spPr/>
        <p:txBody>
          <a:bodyPr>
            <a:normAutofit/>
          </a:bodyPr>
          <a:lstStyle/>
          <a:p>
            <a:r>
              <a:rPr lang="en-US" sz="1800"/>
              <a:t>Automating a broken process — fix the process first
Trying to build everything in one giant flow
Skipping tests, then surprises in production
No error handling — failures go unnoticed
Vague agent prompts that return inconsistent data</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extLst>
      <p:ext uri="{BB962C8B-B14F-4D97-AF65-F5344CB8AC3E}">
        <p14:creationId xmlns:p14="http://schemas.microsoft.com/office/powerpoint/2010/main" val="17879579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9970F-766C-166A-5620-4126F34ABFF3}"/>
              </a:ext>
            </a:extLst>
          </p:cNvPr>
          <p:cNvSpPr>
            <a:spLocks noGrp="1"/>
          </p:cNvSpPr>
          <p:nvPr>
            <p:ph type="title"/>
          </p:nvPr>
        </p:nvSpPr>
        <p:spPr/>
        <p:txBody>
          <a:bodyPr/>
          <a:lstStyle/>
          <a:p>
            <a:r>
              <a:rPr lang="en-US"/>
              <a:t>Common Errors &amp; Quick Fixes</a:t>
            </a:r>
          </a:p>
        </p:txBody>
      </p:sp>
      <p:sp>
        <p:nvSpPr>
          <p:cNvPr id="3" name="Content Placeholder 2">
            <a:extLst>
              <a:ext uri="{FF2B5EF4-FFF2-40B4-BE49-F238E27FC236}">
                <a16:creationId xmlns:a16="http://schemas.microsoft.com/office/drawing/2014/main" id="{98BCE675-06D6-7CA1-31B0-216798C26704}"/>
              </a:ext>
            </a:extLst>
          </p:cNvPr>
          <p:cNvSpPr>
            <a:spLocks noGrp="1"/>
          </p:cNvSpPr>
          <p:nvPr>
            <p:ph idx="1"/>
          </p:nvPr>
        </p:nvSpPr>
        <p:spPr/>
        <p:txBody>
          <a:bodyPr>
            <a:normAutofit/>
          </a:bodyPr>
          <a:lstStyle/>
          <a:p>
            <a:r>
              <a:rPr lang="en-US" sz="1800"/>
              <a:t>“Unauthorized” sending email — reconnect Outlook with a mailbox-enabled account
Approval ‘valid users’ error — pick the approver from the dropdown (a real user in your tenant)
Date shows literal utcNow() — enter it via the fx / Expression editor so it becomes a token
Excel cell shows ######## — the column is just too narrow; auto-fit it
Unwanted ‘For each’, or agent can’t see its flow — use single-value fields; same environment in both tools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extLst>
      <p:ext uri="{BB962C8B-B14F-4D97-AF65-F5344CB8AC3E}">
        <p14:creationId xmlns:p14="http://schemas.microsoft.com/office/powerpoint/2010/main" val="20836445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2B063-FE71-8DB0-46FB-13E6AB1CEA40}"/>
              </a:ext>
            </a:extLst>
          </p:cNvPr>
          <p:cNvSpPr>
            <a:spLocks noGrp="1"/>
          </p:cNvSpPr>
          <p:nvPr>
            <p:ph type="title"/>
          </p:nvPr>
        </p:nvSpPr>
        <p:spPr/>
        <p:txBody>
          <a:bodyPr/>
          <a:lstStyle/>
          <a:p>
            <a:r>
              <a:rPr lang="en-US"/>
              <a:t>Governance &amp; Security Basics</a:t>
            </a:r>
          </a:p>
        </p:txBody>
      </p:sp>
      <p:sp>
        <p:nvSpPr>
          <p:cNvPr id="3" name="Content Placeholder 2">
            <a:extLst>
              <a:ext uri="{FF2B5EF4-FFF2-40B4-BE49-F238E27FC236}">
                <a16:creationId xmlns:a16="http://schemas.microsoft.com/office/drawing/2014/main" id="{45B09298-679E-BC7E-0C15-59E0B78D509B}"/>
              </a:ext>
            </a:extLst>
          </p:cNvPr>
          <p:cNvSpPr>
            <a:spLocks noGrp="1"/>
          </p:cNvSpPr>
          <p:nvPr>
            <p:ph idx="1"/>
          </p:nvPr>
        </p:nvSpPr>
        <p:spPr/>
        <p:txBody>
          <a:bodyPr>
            <a:normAutofit/>
          </a:bodyPr>
          <a:lstStyle/>
          <a:p>
            <a:r>
              <a:rPr lang="en-US" sz="1800"/>
              <a:t>Use connections and permissions you're authorised to use
Keep sensitive data out of emails and logs where possible
Follow your organisation's data and approval policies
Document what each flow does and who owns it
Review and retire flows that are no longer needed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extLst>
      <p:ext uri="{BB962C8B-B14F-4D97-AF65-F5344CB8AC3E}">
        <p14:creationId xmlns:p14="http://schemas.microsoft.com/office/powerpoint/2010/main" val="22623357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9F0DE-8506-42F9-AD61-C1755B9C6456}"/>
              </a:ext>
            </a:extLst>
          </p:cNvPr>
          <p:cNvSpPr>
            <a:spLocks noGrp="1"/>
          </p:cNvSpPr>
          <p:nvPr>
            <p:ph type="title"/>
          </p:nvPr>
        </p:nvSpPr>
        <p:spPr/>
        <p:txBody>
          <a:bodyPr/>
          <a:lstStyle/>
          <a:p>
            <a:r>
              <a:rPr lang="en-US"/>
              <a:t>Rolling This Out at Work</a:t>
            </a:r>
          </a:p>
        </p:txBody>
      </p:sp>
      <p:sp>
        <p:nvSpPr>
          <p:cNvPr id="3" name="Content Placeholder 2">
            <a:extLst>
              <a:ext uri="{FF2B5EF4-FFF2-40B4-BE49-F238E27FC236}">
                <a16:creationId xmlns:a16="http://schemas.microsoft.com/office/drawing/2014/main" id="{A5D77EA5-6EF6-BB98-A2E2-5494A12ADFAD}"/>
              </a:ext>
            </a:extLst>
          </p:cNvPr>
          <p:cNvSpPr>
            <a:spLocks noGrp="1"/>
          </p:cNvSpPr>
          <p:nvPr>
            <p:ph idx="1"/>
          </p:nvPr>
        </p:nvSpPr>
        <p:spPr/>
        <p:txBody>
          <a:bodyPr>
            <a:normAutofit/>
          </a:bodyPr>
          <a:lstStyle/>
          <a:p>
            <a:r>
              <a:rPr lang="en-US" sz="1800"/>
              <a:t>Pick one painful, repetitive task to automate first
Prove the value, then share the win with your team
Build a small library of reusable flows and agents
Involve the people who do the work in the design
Iterate — improve flows as needs change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extLst>
      <p:ext uri="{BB962C8B-B14F-4D97-AF65-F5344CB8AC3E}">
        <p14:creationId xmlns:p14="http://schemas.microsoft.com/office/powerpoint/2010/main" val="19179625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4DB8B-0314-C578-F18D-F0C7D5C8B018}"/>
              </a:ext>
            </a:extLst>
          </p:cNvPr>
          <p:cNvSpPr>
            <a:spLocks noGrp="1"/>
          </p:cNvSpPr>
          <p:nvPr>
            <p:ph type="title"/>
          </p:nvPr>
        </p:nvSpPr>
        <p:spPr/>
        <p:txBody>
          <a:bodyPr/>
          <a:lstStyle/>
          <a:p>
            <a:r>
              <a:rPr lang="en-US"/>
              <a:t>Course Recap — The Big Picture</a:t>
            </a:r>
          </a:p>
        </p:txBody>
      </p:sp>
      <p:sp>
        <p:nvSpPr>
          <p:cNvPr id="3" name="Content Placeholder 2">
            <a:extLst>
              <a:ext uri="{FF2B5EF4-FFF2-40B4-BE49-F238E27FC236}">
                <a16:creationId xmlns:a16="http://schemas.microsoft.com/office/drawing/2014/main" id="{D445FF6A-643A-36F6-288C-4418016B3CB9}"/>
              </a:ext>
            </a:extLst>
          </p:cNvPr>
          <p:cNvSpPr>
            <a:spLocks noGrp="1"/>
          </p:cNvSpPr>
          <p:nvPr>
            <p:ph idx="1"/>
          </p:nvPr>
        </p:nvSpPr>
        <p:spPr/>
        <p:txBody>
          <a:bodyPr>
            <a:normAutofit/>
          </a:bodyPr>
          <a:lstStyle/>
          <a:p>
            <a:r>
              <a:rPr lang="en-US" sz="1800"/>
              <a:t>Day 1: automation logic and Power Automate flows
Day 2: business agents in Copilot Studio, wired to your flows end to end
You built working automations for real scenarios
You can now design, build and run your own workflows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extLst>
      <p:ext uri="{BB962C8B-B14F-4D97-AF65-F5344CB8AC3E}">
        <p14:creationId xmlns:p14="http://schemas.microsoft.com/office/powerpoint/2010/main" val="27666484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056BF-B5B7-F33E-DEEB-DC95C630F1F1}"/>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1C9D97EE-B4BF-F57E-5A6F-E19E27A9B88B}"/>
              </a:ext>
            </a:extLst>
          </p:cNvPr>
          <p:cNvSpPr>
            <a:spLocks noGrp="1"/>
          </p:cNvSpPr>
          <p:nvPr>
            <p:ph idx="1"/>
          </p:nvPr>
        </p:nvSpPr>
        <p:spPr/>
        <p:txBody>
          <a:bodyPr>
            <a:normAutofit/>
          </a:bodyPr>
          <a:lstStyle/>
          <a:p>
            <a:r>
              <a:rPr lang="en-US" sz="1800"/>
              <a:t>Every workflow is Trigger → Actions → Output
Power Automate does the work; Copilot Studio adds the intelligence
Structured agent outputs make flows reliable
Orchestration turns steps into complete processes
Start small, test, and improve — then scale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extLst>
      <p:ext uri="{BB962C8B-B14F-4D97-AF65-F5344CB8AC3E}">
        <p14:creationId xmlns:p14="http://schemas.microsoft.com/office/powerpoint/2010/main" val="23431137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49F80-0CCC-1E84-EF12-A7286325895B}"/>
              </a:ext>
            </a:extLst>
          </p:cNvPr>
          <p:cNvSpPr>
            <a:spLocks noGrp="1"/>
          </p:cNvSpPr>
          <p:nvPr>
            <p:ph type="title"/>
          </p:nvPr>
        </p:nvSpPr>
        <p:spPr/>
        <p:txBody>
          <a:bodyPr/>
          <a:lstStyle/>
          <a:p>
            <a:r>
              <a:rPr lang="en-US"/>
              <a:t>Resources &amp; Where to Go Next</a:t>
            </a:r>
          </a:p>
        </p:txBody>
      </p:sp>
      <p:sp>
        <p:nvSpPr>
          <p:cNvPr id="3" name="Content Placeholder 2">
            <a:extLst>
              <a:ext uri="{FF2B5EF4-FFF2-40B4-BE49-F238E27FC236}">
                <a16:creationId xmlns:a16="http://schemas.microsoft.com/office/drawing/2014/main" id="{60EAC2A6-1F1A-FD31-7E7A-A792B9661E72}"/>
              </a:ext>
            </a:extLst>
          </p:cNvPr>
          <p:cNvSpPr>
            <a:spLocks noGrp="1"/>
          </p:cNvSpPr>
          <p:nvPr>
            <p:ph idx="1"/>
          </p:nvPr>
        </p:nvSpPr>
        <p:spPr/>
        <p:txBody>
          <a:bodyPr>
            <a:normAutofit/>
          </a:bodyPr>
          <a:lstStyle/>
          <a:p>
            <a:r>
              <a:rPr lang="en-US" sz="1800"/>
              <a:t>make.powerautomate.com — build and manage your flows
copilotstudio.microsoft.com — create and publish agents
Microsoft Learn — free guided learning paths
Templates gallery — start from pre-built flows
Your community — share flows and patterns with colleagues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extLst>
      <p:ext uri="{BB962C8B-B14F-4D97-AF65-F5344CB8AC3E}">
        <p14:creationId xmlns:p14="http://schemas.microsoft.com/office/powerpoint/2010/main" val="2032098328"/>
      </p:ext>
    </p:extLst>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Courseware &amp; Assessment on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Download the slides and the Learner Guide from the LMS for the open-book assessment.</a:t>
            </a:r>
          </a:p>
          <a:p>
            <a:pPr>
              <a:spcAft>
                <a:spcPts val="1000"/>
              </a:spcAft>
            </a:pPr>
            <a:r>
              <a:rPr sz="1800">
                <a:solidFill>
                  <a:srgbClr val="161B26"/>
                </a:solidFill>
                <a:latin typeface="Arial"/>
              </a:rPr>
              <a:t>•  Portal: https://lms-tms.tertiaryinfotech.com/</a:t>
            </a:r>
          </a:p>
          <a:p>
            <a:pPr>
              <a:spcAft>
                <a:spcPts val="1000"/>
              </a:spcAft>
            </a:pPr>
            <a:r>
              <a:rPr sz="1800">
                <a:solidFill>
                  <a:srgbClr val="161B26"/>
                </a:solidFill>
                <a:latin typeface="Arial"/>
              </a:rPr>
              <a:t>•  Submit your Written Assessment and Practical Performance answers on the LMS.</a:t>
            </a:r>
          </a:p>
          <a:p>
            <a:pPr>
              <a:spcAft>
                <a:spcPts val="1000"/>
              </a:spcAft>
            </a:pPr>
            <a:r>
              <a:rPr sz="1800">
                <a:solidFill>
                  <a:srgbClr val="161B26"/>
                </a:solidFill>
                <a:latin typeface="Arial"/>
              </a:rPr>
              <a:t>•  Complete the TRAQOM survey via the QR code on the LMS.</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Written Assessment (SAQ) — 1 hour. Practical Performance (PP) — 1 hour.</a:t>
            </a:r>
          </a:p>
          <a:p>
            <a:pPr>
              <a:spcAft>
                <a:spcPts val="1000"/>
              </a:spcAft>
            </a:pPr>
            <a:r>
              <a:rPr sz="1800">
                <a:solidFill>
                  <a:srgbClr val="161B26"/>
                </a:solidFill>
                <a:latin typeface="Arial"/>
              </a:rPr>
              <a:t>•  Open book: slides, Learner Guide and approved materials only.</a:t>
            </a:r>
          </a:p>
          <a:p>
            <a:pPr>
              <a:spcAft>
                <a:spcPts val="1000"/>
              </a:spcAft>
            </a:pPr>
            <a:r>
              <a:rPr sz="1800">
                <a:solidFill>
                  <a:srgbClr val="161B26"/>
                </a:solidFill>
                <a:latin typeface="Arial"/>
              </a:rPr>
              <a:t>•  Remember to take the Assessment digital attendance (TRAQOM).</a:t>
            </a:r>
          </a:p>
          <a:p>
            <a:pPr>
              <a:spcAft>
                <a:spcPts val="1000"/>
              </a:spcAft>
            </a:pPr>
            <a:r>
              <a:rPr sz="1800">
                <a:solidFill>
                  <a:srgbClr val="161B26"/>
                </a:solidFill>
                <a:latin typeface="Arial"/>
              </a:rPr>
              <a:t>•  Submit your completed answers on the LMS at https://lms-tms.tertiaryinfotech.com/.</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7" name="TextBox 36"/>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It is mandatory to take the AM, PM and Assessment digital attendance for WSQ-funded courses.</a:t>
            </a:r>
          </a:p>
          <a:p>
            <a:pPr>
              <a:spcAft>
                <a:spcPts val="1000"/>
              </a:spcAft>
            </a:pPr>
            <a:r>
              <a:rPr sz="1800">
                <a:solidFill>
                  <a:srgbClr val="161B26"/>
                </a:solidFill>
                <a:latin typeface="Arial"/>
              </a:rPr>
              <a:t>•  The trainer/administrator displays the digital attendance QR code from the SSG portal.</a:t>
            </a:r>
          </a:p>
          <a:p>
            <a:pPr>
              <a:spcAft>
                <a:spcPts val="1000"/>
              </a:spcAft>
            </a:pPr>
            <a:r>
              <a:rPr sz="1800">
                <a:solidFill>
                  <a:srgbClr val="161B26"/>
                </a:solidFill>
                <a:latin typeface="Arial"/>
              </a:rPr>
              <a:t>•  Scan the QR code with your mobile phone camera and submit your attendance.</a:t>
            </a:r>
          </a:p>
          <a:p>
            <a:pPr>
              <a:spcAft>
                <a:spcPts val="1000"/>
              </a:spcAft>
            </a:pPr>
            <a:r>
              <a:rPr sz="1800">
                <a:solidFill>
                  <a:srgbClr val="161B26"/>
                </a:solidFill>
                <a:latin typeface="Arial"/>
              </a:rPr>
              <a:t>•  A minimum of 75% attendance is required to be eligible for assessment and funding.</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FF29D-2E00-A7A1-232C-5186174A1FA9}"/>
              </a:ext>
            </a:extLst>
          </p:cNvPr>
          <p:cNvSpPr>
            <a:spLocks noGrp="1"/>
          </p:cNvSpPr>
          <p:nvPr>
            <p:ph type="title"/>
          </p:nvPr>
        </p:nvSpPr>
        <p:spPr/>
        <p:txBody>
          <a:bodyPr/>
          <a:lstStyle/>
          <a:p>
            <a:r>
              <a:rPr lang="en-US"/>
              <a:t>Thank You</a:t>
            </a:r>
          </a:p>
        </p:txBody>
      </p:sp>
      <p:sp>
        <p:nvSpPr>
          <p:cNvPr id="3" name="Text Placeholder 2">
            <a:extLst>
              <a:ext uri="{FF2B5EF4-FFF2-40B4-BE49-F238E27FC236}">
                <a16:creationId xmlns:a16="http://schemas.microsoft.com/office/drawing/2014/main" id="{0E5E0239-BFD9-3216-03B0-6B956507258A}"/>
              </a:ext>
            </a:extLst>
          </p:cNvPr>
          <p:cNvSpPr>
            <a:spLocks noGrp="1"/>
          </p:cNvSpPr>
          <p:nvPr>
            <p:ph type="body" idx="1"/>
          </p:nvPr>
        </p:nvSpPr>
        <p:spPr/>
        <p:txBody>
          <a:bodyPr>
            <a:normAutofit/>
          </a:bodyPr>
          <a:lstStyle/>
          <a:p>
            <a:r>
              <a:rPr lang="en-US" sz="1800" b="1">
                <a:solidFill>
                  <a:srgbClr val="7C3AED"/>
                </a:solidFill>
              </a:rPr>
              <a:t>Now go automate something — questions welcome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extLst>
      <p:ext uri="{BB962C8B-B14F-4D97-AF65-F5344CB8AC3E}">
        <p14:creationId xmlns:p14="http://schemas.microsoft.com/office/powerpoint/2010/main" val="3938712014"/>
      </p:ext>
    </p:extLst>
  </p:cSld>
  <p:clrMapOvr>
    <a:masterClrMapping/>
  </p:clrMapOvr>
</p:sld>
</file>

<file path=ppt/theme/theme1.xml><?xml version="1.0" encoding="utf-8"?>
<a:theme xmlns:a="http://schemas.openxmlformats.org/drawingml/2006/main" name="Office Theme [1782148472114]">
  <a:themeElements>
    <a:clrScheme name="Office">
      <a:dk1>
        <a:srgbClr val="1B1B2F"/>
      </a:dk1>
      <a:lt1>
        <a:srgbClr val="FFFFFF"/>
      </a:lt1>
      <a:dk2>
        <a:srgbClr val="2B2B40"/>
      </a:dk2>
      <a:lt2>
        <a:srgbClr val="F3F5FB"/>
      </a:lt2>
      <a:accent1>
        <a:srgbClr val="2563EB"/>
      </a:accent1>
      <a:accent2>
        <a:srgbClr val="7C3AED"/>
      </a:accent2>
      <a:accent3>
        <a:srgbClr val="06B6D4"/>
      </a:accent3>
      <a:accent4>
        <a:srgbClr val="DB2777"/>
      </a:accent4>
      <a:accent5>
        <a:srgbClr val="10B981"/>
      </a:accent5>
      <a:accent6>
        <a:srgbClr val="F59E0B"/>
      </a:accent6>
      <a:hlink>
        <a:srgbClr val="467886"/>
      </a:hlink>
      <a:folHlink>
        <a:srgbClr val="96607D"/>
      </a:folHlink>
    </a:clrScheme>
    <a:fontScheme name="Office">
      <a:majorFont>
        <a:latin typeface="Segoe UI Semibold"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DDBB792-EE95-D44E-9920-6DFB61B67727}">
  <we:reference id="WA200010001" version="1.0.0.1" store="Omex" storeType="OMEX"/>
  <we:alternateReferences>
    <we:reference id="WA200010001" version="1.0.0.1" store="WA200010001" storeType="OMEX"/>
  </we:alternateReferences>
  <we:properties>
    <we:property name="claude.fileId" value="&quot;e129c31c-d639-492d-b1a1-2a7d8dffa55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1529</TotalTime>
  <Words>4806</Words>
  <Application>Microsoft Macintosh PowerPoint</Application>
  <PresentationFormat>Widescreen</PresentationFormat>
  <Paragraphs>225</Paragraphs>
  <Slides>87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87</vt:i4>
      </vt:variant>
    </vt:vector>
  </HeadingPairs>
  <TitlesOfParts>
    <vt:vector size="91" baseType="lpstr">
      <vt:lpstr>Arial</vt:lpstr>
      <vt:lpstr>Segoe UI</vt:lpstr>
      <vt:lpstr>Segoe UI Semibold</vt:lpstr>
      <vt:lpstr>Office Theme [1782148472114]</vt:lpstr>
      <vt:lpstr>Microsoft Copilot Studio &amp; Power Automate</vt:lpstr>
      <vt:lpstr>What You'll Learn</vt:lpstr>
      <vt:lpstr>Your 3-Day Journey</vt:lpstr>
      <vt:lpstr>How This Course Works</vt:lpstr>
      <vt:lpstr>Day 1 — Foundations &amp; Power Automate</vt:lpstr>
      <vt:lpstr>Module 1 · Introduction to Workflow Automation</vt:lpstr>
      <vt:lpstr>What Is Business Workflow Automation?</vt:lpstr>
      <vt:lpstr>Why Automate?</vt:lpstr>
      <vt:lpstr>Manual Process vs. Automated Workflow</vt:lpstr>
      <vt:lpstr>Standalone Agents vs. Integrated Workflows</vt:lpstr>
      <vt:lpstr>Introduction to Workflow Logic</vt:lpstr>
      <vt:lpstr>Triggers — What Starts a Workflow</vt:lpstr>
      <vt:lpstr>Actions — What the Workflow Does</vt:lpstr>
      <vt:lpstr>Outputs — The Result</vt:lpstr>
      <vt:lpstr>Workflow Steps — Putting It Together</vt:lpstr>
      <vt:lpstr>Anatomy of a Workflow</vt:lpstr>
      <vt:lpstr>Module 1 Recap</vt:lpstr>
      <vt:lpstr>Module 2 · Introduction to Power Automate</vt:lpstr>
      <vt:lpstr>Overview of Power Automate</vt:lpstr>
      <vt:lpstr>Types of Flow</vt:lpstr>
      <vt:lpstr>The Maker Experience</vt:lpstr>
      <vt:lpstr>Common Triggers</vt:lpstr>
      <vt:lpstr>Trigger: Email Received</vt:lpstr>
      <vt:lpstr>Trigger: File Upload</vt:lpstr>
      <vt:lpstr>Trigger: Form Submission</vt:lpstr>
      <vt:lpstr>Creating Workflow Actions</vt:lpstr>
      <vt:lpstr>Action: Send Emails</vt:lpstr>
      <vt:lpstr>Action: Create Excel Entries</vt:lpstr>
      <vt:lpstr>Action: Notifications &amp; Approvals</vt:lpstr>
      <vt:lpstr>Connectors — Linking It All Together</vt:lpstr>
      <vt:lpstr>Hands-On Labs · Power Automate</vt:lpstr>
      <vt:lpstr>Lab 1 — Automated Email Workflow</vt:lpstr>
      <vt:lpstr>Lab 2 — Excel Data Logging Workflow</vt:lpstr>
      <vt:lpstr>Lab 3 — Simple Approval Workflow</vt:lpstr>
      <vt:lpstr>Day 1 Recap</vt:lpstr>
      <vt:lpstr>Day 2 — Building Business Agents with Copilot Studio</vt:lpstr>
      <vt:lpstr>Day 2 Roadmap</vt:lpstr>
      <vt:lpstr>Module 3 · Building Business Agents with Copilot Studio</vt:lpstr>
      <vt:lpstr>What Is Copilot Studio?</vt:lpstr>
      <vt:lpstr>The Copilot Studio Maker</vt:lpstr>
      <vt:lpstr>How an Agent Works</vt:lpstr>
      <vt:lpstr>What Makes a Good Business Agent</vt:lpstr>
      <vt:lpstr>Creating Practical Business Agents</vt:lpstr>
      <vt:lpstr>Prompt Design Fundamentals</vt:lpstr>
      <vt:lpstr>Prompt Design for Structured Outputs</vt:lpstr>
      <vt:lpstr>Structured Output Formats</vt:lpstr>
      <vt:lpstr>Example: A Structured Prompt</vt:lpstr>
      <vt:lpstr>Connecting Agents to Power Automate Flows</vt:lpstr>
      <vt:lpstr>Passing Outputs into Workflows</vt:lpstr>
      <vt:lpstr>Input and Output Mapping</vt:lpstr>
      <vt:lpstr>Best Practices for Agent + Flow</vt:lpstr>
      <vt:lpstr>How Agents and Power Automate Work Together</vt:lpstr>
      <vt:lpstr>Hands-On Labs · Copilot Studio</vt:lpstr>
      <vt:lpstr>Lab 4 — Sales Enquiry Assistant</vt:lpstr>
      <vt:lpstr>Lab 5 — Procurement Request Workflow</vt:lpstr>
      <vt:lpstr>Lab 6 — Automated Response Generation</vt:lpstr>
      <vt:lpstr>Testing &amp; Debugging Agents</vt:lpstr>
      <vt:lpstr>Day 2 Recap</vt:lpstr>
      <vt:lpstr>Day 3 — End-to-End Automation &amp; Workshop</vt:lpstr>
      <vt:lpstr>Module 4 · End-to-End Workflow Automation</vt:lpstr>
      <vt:lpstr>Agents + Power Automate, End to End</vt:lpstr>
      <vt:lpstr>Workflow Orchestration</vt:lpstr>
      <vt:lpstr>Orchestration Patterns</vt:lpstr>
      <vt:lpstr>Managing Outputs &amp; Next Steps</vt:lpstr>
      <vt:lpstr>Error Handling &amp; Monitoring</vt:lpstr>
      <vt:lpstr>Business Workflow Examples</vt:lpstr>
      <vt:lpstr>Example 1 — Email Enquiry → Excel → Notification</vt:lpstr>
      <vt:lpstr>Example 2 — Invoice Upload → Approval</vt:lpstr>
      <vt:lpstr>Example 3 — Purchase Request → Approval → Notification</vt:lpstr>
      <vt:lpstr>Module 4 Recap</vt:lpstr>
      <vt:lpstr>Module 5 · Business Workflow Workshop</vt:lpstr>
      <vt:lpstr>Workshop Overview</vt:lpstr>
      <vt:lpstr>How the Workshop Works</vt:lpstr>
      <vt:lpstr>Track A — Sales</vt:lpstr>
      <vt:lpstr>Track B — Finance</vt:lpstr>
      <vt:lpstr>Track C — Procurement</vt:lpstr>
      <vt:lpstr>Track D — Order Processing</vt:lpstr>
      <vt:lpstr>Build Guidelines &amp; Success Criteria</vt:lpstr>
      <vt:lpstr>Present &amp; Get Feedback</vt:lpstr>
      <vt:lpstr>What You Can Automate Next</vt:lpstr>
      <vt:lpstr>Common Pitfalls to Avoid</vt:lpstr>
      <vt:lpstr>Governance &amp; Security Basics</vt:lpstr>
      <vt:lpstr>Rolling This Out at Work</vt:lpstr>
      <vt:lpstr>Course Recap — The Big Picture</vt:lpstr>
      <vt:lpstr>Key Takeaways</vt:lpstr>
      <vt:lpstr>Resources &amp; Where to Go Next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Tertiary Infotech Admin</dc:creator>
  <cp:lastModifiedBy>Tertiary Infotech Admin</cp:lastModifiedBy>
  <cp:revision>2</cp:revision>
  <dcterms:created xsi:type="dcterms:W3CDTF">2026-06-22T17:06:55Z</dcterms:created>
  <dcterms:modified xsi:type="dcterms:W3CDTF">2026-06-23T18:36:15Z</dcterms:modified>
</cp:coreProperties>
</file>